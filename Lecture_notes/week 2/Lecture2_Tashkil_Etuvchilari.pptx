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54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635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548640" y="548640"/>
            <a:ext cx="1463040" cy="1463040"/>
          </a:xfrm>
          <a:prstGeom prst="ellipse">
            <a:avLst/>
          </a:prstGeom>
          <a:solidFill>
            <a:srgbClr val="683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607040" y="5394960"/>
            <a:ext cx="914400" cy="914400"/>
          </a:xfrm>
          <a:prstGeom prst="ellipse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65760" y="5760720"/>
            <a:ext cx="731520" cy="731520"/>
          </a:xfrm>
          <a:prstGeom prst="ellipse">
            <a:avLst/>
          </a:prstGeom>
          <a:solidFill>
            <a:srgbClr val="683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0BCD4"/>
                </a:solidFill>
                <a:latin typeface="Segoe UI"/>
              </a:rPr>
              <a:t>DASTURLASH 1  •  DAS1110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Segoe UI"/>
              </a:rPr>
              <a:t>2-Ma'ruza: C# tilining tashkil etuvchilari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6616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8D8F0"/>
                </a:solidFill>
                <a:latin typeface="Segoe UI"/>
              </a:rPr>
              <a:t>Alfavit, identifikatorlar, kalit so'zlar, literallar. O'zgaruvchilar,
o'zgarmaslar, izohlar. Berilganlar turlari va e'loni.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532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B8B8E0"/>
                </a:solidFill>
                <a:latin typeface="Segoe UI"/>
              </a:rPr>
              <a:t>O'zbekiston Milliy universiteti Jizzax filiali  |  Amaliy matematika fakulteti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978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B8B8E0"/>
                </a:solidFill>
                <a:latin typeface="Segoe UI"/>
              </a:rPr>
              <a:t>O'qituvchi: Toshpolatov Muxiddin, PhD, dotsent  |  2025/2026-o'quv yili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TAKRORLASH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O'tgan darsni eslaymiz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Dasturlash tili — kompyuterga buyruq berish uchun qat'iy qoidali sun'iy til; .NET — Microsoft'ning bepul, ko'p platformali platformasi.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JIT — IL kodni dastur ishga tushirilayotgan PAYTIDA mashina kodiga o'giruvchi mexanizm.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Visual Studio'da konsol loyihasi yaratdik va birinchi C# dasturimizni yozdik.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C# dasturi tuzilishi: using → namespace → class → Main() → statementlar (buyruqlar).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Bugun esa C# tilining "harflari"ga — uni tashkil etuvchi eng kichik qismlarga — chuqurroq kiramiz.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Bugungi darsning rejasi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dirty="0">
                <a:solidFill>
                  <a:srgbClr val="23232B"/>
                </a:solidFill>
                <a:latin typeface="Segoe UI"/>
              </a:rPr>
              <a:t>•  I-BO'LIM: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Alfavit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,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identifikatorlar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va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kalit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so'zlar</a:t>
            </a:r>
            <a:endParaRPr sz="1800" dirty="0">
              <a:solidFill>
                <a:srgbClr val="23232B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dirty="0">
                <a:solidFill>
                  <a:srgbClr val="23232B"/>
                </a:solidFill>
                <a:latin typeface="Segoe UI"/>
              </a:rPr>
              <a:t>     –  C#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alifbosi</a:t>
            </a:r>
            <a:r>
              <a:rPr sz="1600" dirty="0">
                <a:solidFill>
                  <a:srgbClr val="23232B"/>
                </a:solidFill>
                <a:latin typeface="Segoe UI"/>
              </a:rPr>
              <a:t>,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identifikator</a:t>
            </a:r>
            <a:r>
              <a:rPr sz="16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yozish</a:t>
            </a:r>
            <a:r>
              <a:rPr sz="16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qoidalari</a:t>
            </a:r>
            <a:endParaRPr sz="1600" dirty="0">
              <a:solidFill>
                <a:srgbClr val="23232B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dirty="0">
                <a:solidFill>
                  <a:srgbClr val="23232B"/>
                </a:solidFill>
                <a:latin typeface="Segoe UI"/>
              </a:rPr>
              <a:t>     – 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Kalit</a:t>
            </a:r>
            <a:r>
              <a:rPr sz="16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so'zlar</a:t>
            </a:r>
            <a:r>
              <a:rPr sz="1600" dirty="0">
                <a:solidFill>
                  <a:srgbClr val="23232B"/>
                </a:solidFill>
                <a:latin typeface="Segoe UI"/>
              </a:rPr>
              <a:t> (keywords) — band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qilingan</a:t>
            </a:r>
            <a:r>
              <a:rPr sz="16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so'zlar</a:t>
            </a:r>
            <a:endParaRPr sz="1600" dirty="0">
              <a:solidFill>
                <a:srgbClr val="23232B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dirty="0">
                <a:solidFill>
                  <a:srgbClr val="23232B"/>
                </a:solidFill>
                <a:latin typeface="Segoe UI"/>
              </a:rPr>
              <a:t>•  II-BO'LIM: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Literallar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,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o'zgaruvchilar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,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o'zgarmaslar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,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izohlar</a:t>
            </a:r>
            <a:endParaRPr sz="1800" dirty="0">
              <a:solidFill>
                <a:srgbClr val="23232B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dirty="0">
                <a:solidFill>
                  <a:srgbClr val="23232B"/>
                </a:solidFill>
                <a:latin typeface="Segoe UI"/>
              </a:rPr>
              <a:t>     –  Literal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turlari</a:t>
            </a:r>
            <a:r>
              <a:rPr sz="1600" dirty="0">
                <a:solidFill>
                  <a:srgbClr val="23232B"/>
                </a:solidFill>
                <a:latin typeface="Segoe UI"/>
              </a:rPr>
              <a:t>,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o'zgaruvchi</a:t>
            </a:r>
            <a:r>
              <a:rPr sz="16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va</a:t>
            </a:r>
            <a:r>
              <a:rPr sz="16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o'zgarmas</a:t>
            </a:r>
            <a:r>
              <a:rPr sz="16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e'lon</a:t>
            </a:r>
            <a:r>
              <a:rPr sz="16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qilish</a:t>
            </a:r>
            <a:endParaRPr sz="1600" dirty="0">
              <a:solidFill>
                <a:srgbClr val="23232B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dirty="0">
                <a:solidFill>
                  <a:srgbClr val="23232B"/>
                </a:solidFill>
                <a:latin typeface="Segoe UI"/>
              </a:rPr>
              <a:t>     – 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Izohlar</a:t>
            </a:r>
            <a:r>
              <a:rPr sz="1600" dirty="0">
                <a:solidFill>
                  <a:srgbClr val="23232B"/>
                </a:solidFill>
                <a:latin typeface="Segoe UI"/>
              </a:rPr>
              <a:t> (comments)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yozish</a:t>
            </a:r>
            <a:r>
              <a:rPr sz="16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usullari</a:t>
            </a:r>
            <a:endParaRPr sz="1600" dirty="0">
              <a:solidFill>
                <a:srgbClr val="23232B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dirty="0">
                <a:solidFill>
                  <a:srgbClr val="23232B"/>
                </a:solidFill>
                <a:latin typeface="Segoe UI"/>
              </a:rPr>
              <a:t>•  III-BO'LIM: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Berilganlar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turlari</a:t>
            </a:r>
            <a:endParaRPr sz="1800" dirty="0">
              <a:solidFill>
                <a:srgbClr val="23232B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dirty="0">
                <a:solidFill>
                  <a:srgbClr val="23232B"/>
                </a:solidFill>
                <a:latin typeface="Segoe UI"/>
              </a:rPr>
              <a:t>     – 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C#dagi</a:t>
            </a:r>
            <a:r>
              <a:rPr sz="16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asosiy</a:t>
            </a:r>
            <a:r>
              <a:rPr sz="16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turlar</a:t>
            </a:r>
            <a:r>
              <a:rPr sz="1600" dirty="0">
                <a:solidFill>
                  <a:srgbClr val="23232B"/>
                </a:solidFill>
                <a:latin typeface="Segoe UI"/>
              </a:rPr>
              <a:t>,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ularni</a:t>
            </a:r>
            <a:r>
              <a:rPr sz="16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e'lon</a:t>
            </a:r>
            <a:r>
              <a:rPr sz="16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qilish</a:t>
            </a:r>
            <a:r>
              <a:rPr sz="1600" dirty="0">
                <a:solidFill>
                  <a:srgbClr val="23232B"/>
                </a:solidFill>
                <a:latin typeface="Segoe UI"/>
              </a:rPr>
              <a:t>, var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kalit</a:t>
            </a:r>
            <a:r>
              <a:rPr sz="16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3232B"/>
                </a:solidFill>
                <a:latin typeface="Segoe UI"/>
              </a:rPr>
              <a:t>so'zi</a:t>
            </a:r>
            <a:endParaRPr sz="1600" dirty="0">
              <a:solidFill>
                <a:srgbClr val="23232B"/>
              </a:solidFill>
              <a:latin typeface="Sego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MAQSAD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Dars yakunida siz nimalarga erishasiz?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To'g'ri va noto'g'ri identifikatorni bir-biridan ajrata olasiz.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C# tilidagi eng ko'p ishlatiladigan kalit so'zlarni taniysiz.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O'zgaruvchi va o'zgarmasni to'g'ri e'lon qila olasiz, ular orasidagi farqni tushuntirasiz.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Asosiy literal va berilganlar turlarini (int, double, bool, char, string) ishlata olasiz.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O'z kodingizga foydali izohlar (comments) yoza olasiz.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83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83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22960" y="2103120"/>
            <a:ext cx="1828800" cy="1828800"/>
          </a:xfrm>
          <a:prstGeom prst="ellipse">
            <a:avLst/>
          </a:prstGeom>
          <a:solidFill>
            <a:srgbClr val="1E1B4B"/>
          </a:solidFill>
          <a:ln w="31750">
            <a:solidFill>
              <a:srgbClr val="00B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44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331720"/>
            <a:ext cx="8503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DCFF"/>
                </a:solidFill>
                <a:latin typeface="Segoe UI"/>
              </a:rPr>
              <a:t>1-BO'LIM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743200"/>
            <a:ext cx="85039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dirty="0" err="1">
                <a:solidFill>
                  <a:srgbClr val="FFFFFF"/>
                </a:solidFill>
                <a:latin typeface="Segoe UI"/>
              </a:rPr>
              <a:t>Alifbo</a:t>
            </a:r>
            <a:r>
              <a:rPr sz="3600" b="1" i="0" dirty="0">
                <a:solidFill>
                  <a:srgbClr val="FFFFFF"/>
                </a:solidFill>
                <a:latin typeface="Segoe UI"/>
              </a:rPr>
              <a:t>, </a:t>
            </a:r>
            <a:r>
              <a:rPr sz="3600" b="1" i="0" dirty="0" err="1">
                <a:solidFill>
                  <a:srgbClr val="FFFFFF"/>
                </a:solidFill>
                <a:latin typeface="Segoe UI"/>
              </a:rPr>
              <a:t>identifikatorlar</a:t>
            </a:r>
            <a:r>
              <a:rPr sz="3600" b="1" i="0" dirty="0">
                <a:solidFill>
                  <a:srgbClr val="FFFFFF"/>
                </a:solidFill>
                <a:latin typeface="Segoe UI"/>
              </a:rPr>
              <a:t>
</a:t>
            </a:r>
            <a:r>
              <a:rPr sz="3600" b="1" i="0" dirty="0" err="1">
                <a:solidFill>
                  <a:srgbClr val="FFFFFF"/>
                </a:solidFill>
                <a:latin typeface="Segoe UI"/>
              </a:rPr>
              <a:t>va</a:t>
            </a:r>
            <a:r>
              <a:rPr sz="3600" b="1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3600" b="1" i="0" dirty="0" err="1">
                <a:solidFill>
                  <a:srgbClr val="FFFFFF"/>
                </a:solidFill>
                <a:latin typeface="Segoe UI"/>
              </a:rPr>
              <a:t>kalit</a:t>
            </a:r>
            <a:r>
              <a:rPr sz="3600" b="1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3600" b="1" i="0" dirty="0" err="1">
                <a:solidFill>
                  <a:srgbClr val="FFFFFF"/>
                </a:solidFill>
                <a:latin typeface="Segoe UI"/>
              </a:rPr>
              <a:t>so'zlar</a:t>
            </a:r>
            <a:endParaRPr sz="3600" b="1" i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017520" y="3794760"/>
            <a:ext cx="8503920" cy="288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 dirty="0">
                <a:solidFill>
                  <a:srgbClr val="E8DCFF"/>
                </a:solidFill>
                <a:latin typeface="Segoe UI"/>
              </a:rPr>
              <a:t>C# </a:t>
            </a:r>
            <a:r>
              <a:rPr sz="1700" b="0" i="0" dirty="0" err="1">
                <a:solidFill>
                  <a:srgbClr val="E8DCFF"/>
                </a:solidFill>
                <a:latin typeface="Segoe UI"/>
              </a:rPr>
              <a:t>tilining</a:t>
            </a:r>
            <a:r>
              <a:rPr sz="1700" b="0" i="0" dirty="0">
                <a:solidFill>
                  <a:srgbClr val="E8DCFF"/>
                </a:solidFill>
                <a:latin typeface="Segoe UI"/>
              </a:rPr>
              <a:t> </a:t>
            </a:r>
            <a:r>
              <a:rPr sz="1700" b="0" i="0" dirty="0" err="1">
                <a:solidFill>
                  <a:srgbClr val="E8DCFF"/>
                </a:solidFill>
                <a:latin typeface="Segoe UI"/>
              </a:rPr>
              <a:t>eng</a:t>
            </a:r>
            <a:r>
              <a:rPr sz="1700" b="0" i="0" dirty="0">
                <a:solidFill>
                  <a:srgbClr val="E8DCFF"/>
                </a:solidFill>
                <a:latin typeface="Segoe UI"/>
              </a:rPr>
              <a:t> </a:t>
            </a:r>
            <a:r>
              <a:rPr sz="1700" b="0" i="0" dirty="0" err="1">
                <a:solidFill>
                  <a:srgbClr val="E8DCFF"/>
                </a:solidFill>
                <a:latin typeface="Segoe UI"/>
              </a:rPr>
              <a:t>kichik</a:t>
            </a:r>
            <a:r>
              <a:rPr sz="1700" b="0" i="0" dirty="0">
                <a:solidFill>
                  <a:srgbClr val="E8DCFF"/>
                </a:solidFill>
                <a:latin typeface="Segoe UI"/>
              </a:rPr>
              <a:t> </a:t>
            </a:r>
            <a:r>
              <a:rPr lang="en-US" altLang="ko-KR" sz="1700" dirty="0">
                <a:solidFill>
                  <a:srgbClr val="E8DCFF"/>
                </a:solidFill>
                <a:latin typeface="Segoe UI"/>
              </a:rPr>
              <a:t>'bricks’</a:t>
            </a:r>
            <a:r>
              <a:rPr lang="en-US" altLang="ko-KR" sz="1600" b="0" i="0" dirty="0">
                <a:solidFill>
                  <a:srgbClr val="CCCCCC"/>
                </a:solidFill>
                <a:effectLst/>
                <a:latin typeface="-apple-system"/>
              </a:rPr>
              <a:t>(</a:t>
            </a:r>
            <a:r>
              <a:rPr sz="1700" b="0" i="0" dirty="0" err="1">
                <a:solidFill>
                  <a:srgbClr val="E8DCFF"/>
                </a:solidFill>
                <a:latin typeface="Segoe UI"/>
              </a:rPr>
              <a:t>g'isht</a:t>
            </a:r>
            <a:r>
              <a:rPr lang="en-US" sz="1700" b="0" i="0" dirty="0">
                <a:solidFill>
                  <a:srgbClr val="E8DCFF"/>
                </a:solidFill>
                <a:latin typeface="Segoe UI"/>
              </a:rPr>
              <a:t>)</a:t>
            </a:r>
            <a:r>
              <a:rPr sz="1700" b="0" i="0" dirty="0" err="1">
                <a:solidFill>
                  <a:srgbClr val="E8DCFF"/>
                </a:solidFill>
                <a:latin typeface="Segoe UI"/>
              </a:rPr>
              <a:t>lari</a:t>
            </a:r>
            <a:r>
              <a:rPr sz="1700" b="0" i="0" dirty="0">
                <a:solidFill>
                  <a:srgbClr val="E8DCFF"/>
                </a:solidFill>
                <a:latin typeface="Segoe UI"/>
              </a:rPr>
              <a:t> — </a:t>
            </a:r>
            <a:r>
              <a:rPr sz="1700" b="0" i="0" dirty="0" err="1">
                <a:solidFill>
                  <a:srgbClr val="E8DCFF"/>
                </a:solidFill>
                <a:latin typeface="Segoe UI"/>
              </a:rPr>
              <a:t>harflar</a:t>
            </a:r>
            <a:r>
              <a:rPr sz="1700" b="0" i="0" dirty="0">
                <a:solidFill>
                  <a:srgbClr val="E8DCFF"/>
                </a:solidFill>
                <a:latin typeface="Segoe UI"/>
              </a:rPr>
              <a:t>, </a:t>
            </a:r>
            <a:r>
              <a:rPr sz="1700" b="0" i="0" dirty="0" err="1">
                <a:solidFill>
                  <a:srgbClr val="E8DCFF"/>
                </a:solidFill>
                <a:latin typeface="Segoe UI"/>
              </a:rPr>
              <a:t>nomlar</a:t>
            </a:r>
            <a:r>
              <a:rPr sz="1700" b="0" i="0" dirty="0">
                <a:solidFill>
                  <a:srgbClr val="E8DCFF"/>
                </a:solidFill>
                <a:latin typeface="Segoe UI"/>
              </a:rPr>
              <a:t> </a:t>
            </a:r>
            <a:r>
              <a:rPr sz="1700" b="0" i="0" dirty="0" err="1">
                <a:solidFill>
                  <a:srgbClr val="E8DCFF"/>
                </a:solidFill>
                <a:latin typeface="Segoe UI"/>
              </a:rPr>
              <a:t>va</a:t>
            </a:r>
            <a:r>
              <a:rPr sz="1700" b="0" i="0" dirty="0">
                <a:solidFill>
                  <a:srgbClr val="E8DCFF"/>
                </a:solidFill>
                <a:latin typeface="Segoe UI"/>
              </a:rPr>
              <a:t> band </a:t>
            </a:r>
            <a:r>
              <a:rPr sz="1700" b="0" i="0" dirty="0" err="1">
                <a:solidFill>
                  <a:srgbClr val="E8DCFF"/>
                </a:solidFill>
                <a:latin typeface="Segoe UI"/>
              </a:rPr>
              <a:t>qilingan</a:t>
            </a:r>
            <a:r>
              <a:rPr sz="1700" b="0" i="0" dirty="0">
                <a:solidFill>
                  <a:srgbClr val="E8DCFF"/>
                </a:solidFill>
                <a:latin typeface="Segoe UI"/>
              </a:rPr>
              <a:t> </a:t>
            </a:r>
            <a:r>
              <a:rPr sz="1700" b="0" i="0" dirty="0" err="1">
                <a:solidFill>
                  <a:srgbClr val="E8DCFF"/>
                </a:solidFill>
                <a:latin typeface="Segoe UI"/>
              </a:rPr>
              <a:t>so'zlar</a:t>
            </a:r>
            <a:r>
              <a:rPr sz="1700" b="0" i="0" dirty="0">
                <a:solidFill>
                  <a:srgbClr val="E8DCFF"/>
                </a:solidFill>
                <a:latin typeface="Segoe U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I-BO'LIM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C# alifbosi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dirty="0">
                <a:solidFill>
                  <a:srgbClr val="23232B"/>
                </a:solidFill>
                <a:latin typeface="Segoe UI"/>
              </a:rPr>
              <a:t>•  Har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qanday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til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(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shu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jumladan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dasturlash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tili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ham)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o'z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"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alifbosi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" —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ruxsat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etilgan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belgilar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to'plamiga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ega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dirty="0">
                <a:solidFill>
                  <a:srgbClr val="23232B"/>
                </a:solidFill>
                <a:latin typeface="Segoe UI"/>
              </a:rPr>
              <a:t>•  C#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kodini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yozishda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foydalanish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mumkin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bo'lgan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asosiy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belgilar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: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lotin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harflari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(A-Z, a-z),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raqamlar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(0-9),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pastki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chiziq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( _ )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va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maxsus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belgilar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( { } ( ) ; , . " ' + - * /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va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h.k.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dirty="0">
                <a:solidFill>
                  <a:srgbClr val="23232B"/>
                </a:solidFill>
                <a:latin typeface="Segoe UI"/>
              </a:rPr>
              <a:t>•  C#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Unicode'ni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qo'llab-quvvatlaydi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—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nazariy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jihatdan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o'zbekcha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yoki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boshqa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harflar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bilan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ham nom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yozish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mumkin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,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lekin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xalqaro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amaliyotda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DOIM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lotin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harflaridan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foydalaniladi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dirty="0">
                <a:solidFill>
                  <a:srgbClr val="23232B"/>
                </a:solidFill>
                <a:latin typeface="Segoe UI"/>
              </a:rPr>
              <a:t>• 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Bo'sh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joy (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probel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)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va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ba'zi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maxsus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belgilar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identifikator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(nom)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ichida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ishlatilmaydi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—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buni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keyingi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slaydda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 </a:t>
            </a:r>
            <a:r>
              <a:rPr sz="1800" dirty="0" err="1">
                <a:solidFill>
                  <a:srgbClr val="23232B"/>
                </a:solidFill>
                <a:latin typeface="Segoe UI"/>
              </a:rPr>
              <a:t>ko'ramiz</a:t>
            </a:r>
            <a:r>
              <a:rPr sz="1800" dirty="0">
                <a:solidFill>
                  <a:srgbClr val="23232B"/>
                </a:solidFill>
                <a:latin typeface="Segoe U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I-BO'LIM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Identifikator nima?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Identifikator — o'zgaruvchi, metod, klass yoki boshqa dastur elementiga BERILGAN NOM (masalan: yosh, Main, Program).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Qoidalar: harf yoki pastki chiziq ( _ ) bilan boshlanishi kerak; raqam bilan boshlanishi MUMKIN EMAS.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Birinchi harfdan keyin harf, raqam va pastki chiziqlardan foydalanish mumkin.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Bo'sh joy va maxsus belgilar (-, @, #, va h.k.) ishlatilmaydi.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C# katta-kichik harflarga SEZGIR: yosh va Yosh — ikki xil, mutlaqo boshqa identifikator hisoblanadi.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Kalit so'zlarni (masalan class, int) oddiy identifikator sifatida ishlatib bo'lmaydi.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I-BO'LIM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To'g'ri va noto'g'ri identifikatorlar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508760"/>
          <a:ext cx="1088136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Identifikator</a:t>
                      </a:r>
                    </a:p>
                  </a:txBody>
                  <a:tcPr anchor="ctr"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To'g'rimi?</a:t>
                      </a:r>
                    </a:p>
                  </a:txBody>
                  <a:tcPr anchor="ctr"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Sababi</a:t>
                      </a:r>
                    </a:p>
                  </a:txBody>
                  <a:tcPr anchor="ctr"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3232B"/>
                          </a:solidFill>
                          <a:latin typeface="Segoe UI"/>
                        </a:rPr>
                        <a:t>yosh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To'g'ri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Harf bilan boshlangan, oddiy nom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3232B"/>
                          </a:solidFill>
                          <a:latin typeface="Segoe UI"/>
                        </a:rPr>
                        <a:t>_narx1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To'g'ri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Pastki chiziq bilan boshlash ruxsat etiladi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3232B"/>
                          </a:solidFill>
                          <a:latin typeface="Segoe UI"/>
                        </a:rPr>
                        <a:t>talabaIsmi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To'g'ri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camelCase, harflar va raqamlardan iborat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3232B"/>
                          </a:solidFill>
                          <a:latin typeface="Segoe UI"/>
                        </a:rPr>
                        <a:t>1narx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NOTO'G'RI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Raqam bilan boshlangan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3232B"/>
                          </a:solidFill>
                          <a:latin typeface="Segoe UI"/>
                        </a:rPr>
                        <a:t>ism familiya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NOTO'G'RI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Ichida bo'sh joy bor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3232B"/>
                          </a:solidFill>
                          <a:latin typeface="Segoe UI"/>
                        </a:rPr>
                        <a:t>class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NOTO'G'RI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C# ning band qilingan kalit so'zi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743200" cy="502920"/>
          </a:xfrm>
          <a:prstGeom prst="round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E1B4B"/>
                </a:solidFill>
              </a:rPr>
              <a:t>🧠 VIKTORINA #1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Quyidagilardan qaysi biri TO'G'RI identifikator?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11064240" cy="749808"/>
          </a:xfrm>
          <a:prstGeom prst="roundRect">
            <a:avLst/>
          </a:prstGeom>
          <a:solidFill>
            <a:srgbClr val="2B2763"/>
          </a:solidFill>
          <a:ln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77240" y="2935224"/>
            <a:ext cx="457200" cy="457200"/>
          </a:xfrm>
          <a:prstGeom prst="ellipse">
            <a:avLst/>
          </a:prstGeom>
          <a:solidFill>
            <a:srgbClr val="683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1B4B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788920"/>
            <a:ext cx="10058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Segoe UI"/>
              </a:rPr>
              <a:t>2ism — chunki u harf bilan tugaydi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11064240" cy="749808"/>
          </a:xfrm>
          <a:prstGeom prst="roundRect">
            <a:avLst/>
          </a:prstGeom>
          <a:solidFill>
            <a:srgbClr val="2B2763"/>
          </a:solidFill>
          <a:ln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77240" y="3803904"/>
            <a:ext cx="457200" cy="457200"/>
          </a:xfrm>
          <a:prstGeom prst="ellipse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1B4B"/>
                </a:solidFill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657600"/>
            <a:ext cx="10058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Segoe UI"/>
              </a:rPr>
              <a:t>talaba_1 — chunki harf bilan boshlanib, raqam va pastki chiziqdan foydalangan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26280"/>
            <a:ext cx="11064240" cy="749808"/>
          </a:xfrm>
          <a:prstGeom prst="roundRect">
            <a:avLst/>
          </a:prstGeom>
          <a:solidFill>
            <a:srgbClr val="2B2763"/>
          </a:solidFill>
          <a:ln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77240" y="4672584"/>
            <a:ext cx="457200" cy="457200"/>
          </a:xfrm>
          <a:prstGeom prst="ellipse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1B4B"/>
                </a:solidFill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526280"/>
            <a:ext cx="10058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Segoe UI"/>
              </a:rPr>
              <a:t>sinf xonasi — chunki ikkita so'zdan iborat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394960"/>
            <a:ext cx="11064240" cy="749808"/>
          </a:xfrm>
          <a:prstGeom prst="roundRect">
            <a:avLst/>
          </a:prstGeom>
          <a:solidFill>
            <a:srgbClr val="2B2763"/>
          </a:solidFill>
          <a:ln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77240" y="5541264"/>
            <a:ext cx="457200" cy="457200"/>
          </a:xfrm>
          <a:prstGeom prst="ellipse">
            <a:avLst/>
          </a:prstGeom>
          <a:solidFill>
            <a:srgbClr val="8BC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1B4B"/>
                </a:solidFill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5394960"/>
            <a:ext cx="10058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Segoe UI"/>
              </a:rPr>
              <a:t>int — chunki qisqa va tushunarli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A09CD8"/>
                </a:solidFill>
                <a:latin typeface="Segoe UI"/>
              </a:rPr>
              <a:t>O'ylab ko'ring... javobingizni chatga yozing!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743200" cy="50292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✅ JAVOB #1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C8C8E8"/>
                </a:solidFill>
                <a:latin typeface="Segoe UI"/>
              </a:rPr>
              <a:t>Quyidagilardan qaysi biri TO'G'RI identifikator?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31720"/>
            <a:ext cx="11064240" cy="658368"/>
          </a:xfrm>
          <a:prstGeom prst="roundRect">
            <a:avLst/>
          </a:prstGeom>
          <a:solidFill>
            <a:srgbClr val="2B2763"/>
          </a:solidFill>
          <a:ln w="12700"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49808" y="2441448"/>
            <a:ext cx="420624" cy="420624"/>
          </a:xfrm>
          <a:prstGeom prst="ellipse">
            <a:avLst/>
          </a:prstGeom>
          <a:solidFill>
            <a:srgbClr val="555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331720"/>
            <a:ext cx="100584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C8C8E8"/>
                </a:solidFill>
                <a:latin typeface="Segoe UI"/>
              </a:rPr>
              <a:t>2ism — chunki u harf bilan tugaydi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81528"/>
            <a:ext cx="11064240" cy="658368"/>
          </a:xfrm>
          <a:prstGeom prst="roundRect">
            <a:avLst/>
          </a:prstGeom>
          <a:solidFill>
            <a:srgbClr val="E3F2E1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49808" y="3191256"/>
            <a:ext cx="420624" cy="42062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081528"/>
            <a:ext cx="100584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5E20"/>
                </a:solidFill>
                <a:latin typeface="Segoe UI"/>
              </a:rPr>
              <a:t>talaba_1 — chunki harf bilan boshlanib, raqam va pastki chiziqdan foydalangan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31336"/>
            <a:ext cx="11064240" cy="658368"/>
          </a:xfrm>
          <a:prstGeom prst="roundRect">
            <a:avLst/>
          </a:prstGeom>
          <a:solidFill>
            <a:srgbClr val="2B2763"/>
          </a:solidFill>
          <a:ln w="12700"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49808" y="3941064"/>
            <a:ext cx="420624" cy="420624"/>
          </a:xfrm>
          <a:prstGeom prst="ellipse">
            <a:avLst/>
          </a:prstGeom>
          <a:solidFill>
            <a:srgbClr val="555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831336"/>
            <a:ext cx="100584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C8C8E8"/>
                </a:solidFill>
                <a:latin typeface="Segoe UI"/>
              </a:rPr>
              <a:t>sinf xonasi — chunki ikkita so'zdan iborat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581144"/>
            <a:ext cx="11064240" cy="658368"/>
          </a:xfrm>
          <a:prstGeom prst="roundRect">
            <a:avLst/>
          </a:prstGeom>
          <a:solidFill>
            <a:srgbClr val="2B2763"/>
          </a:solidFill>
          <a:ln w="12700"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49808" y="4690872"/>
            <a:ext cx="420624" cy="420624"/>
          </a:xfrm>
          <a:prstGeom prst="ellipse">
            <a:avLst/>
          </a:prstGeom>
          <a:solidFill>
            <a:srgbClr val="555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581144"/>
            <a:ext cx="100584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C8C8E8"/>
                </a:solidFill>
                <a:latin typeface="Segoe UI"/>
              </a:rPr>
              <a:t>int — chunki qisqa va tushunarli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422392"/>
            <a:ext cx="11064240" cy="960120"/>
          </a:xfrm>
          <a:prstGeom prst="roundRect">
            <a:avLst/>
          </a:prstGeom>
          <a:solidFill>
            <a:srgbClr val="2B2763"/>
          </a:solidFill>
          <a:ln w="12700">
            <a:solidFill>
              <a:srgbClr val="00B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/>
            <a:r>
              <a:rPr sz="1400">
                <a:solidFill>
                  <a:srgbClr val="E0E0F5"/>
                </a:solidFill>
                <a:latin typeface="Segoe UI"/>
              </a:rPr>
              <a:t>💡 Izoh: talaba_1 harf bilan boshlanadi, faqat harf/raqam/pastki chiziqdan iborat — barcha qoidalarga mos keladi. 2ism raqam bilan boshlangan, "sinf xonasi"da bo'sh joy bor, int esa band qilingan kalit so'z.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I-BO'LIM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Kalit so'zlar (keywords) nima?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Kalit so'zlar — C# kompilyatori uchun MAXSUS MA'NOGA ega bo'lgan, oldindan band qilingan so'zlar.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Ularni o'zgaruvchi, metod yoki klass nomi sifatida ishlatib bo'lmaydi (masalan int, class, if kabi nomlarga ega o'zgaruvchi yarata olmaysiz).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C# da 100 dan ortiq kalit so'z mavjud — barchasini yodlash shart emas, tez-tez ishlatiladiganlari amaliyot davomida o'z-o'zidan yodda qoladi.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Visual Studio kalit so'zlarni kod muharririda boshqa rangda (odatda ko'k) ko'rsatadi — bu ularni tanishni osonlashtiradi.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I-BO'LIM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Eng ko'p ishlatiladigan kalit so'zlar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348477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0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bIns="73152" rtlCol="0" anchor="ctr"/>
          <a:lstStyle/>
          <a:p>
            <a:pPr algn="ctr"/>
            <a:r>
              <a:rPr sz="1500" b="1">
                <a:solidFill>
                  <a:srgbClr val="683AB7"/>
                </a:solidFill>
                <a:latin typeface="Segoe UI"/>
              </a:rPr>
              <a:t>🔢  int, double, bool, char, string</a:t>
            </a:r>
          </a:p>
          <a:p>
            <a:r>
              <a:rPr sz="1200">
                <a:solidFill>
                  <a:srgbClr val="23232B"/>
                </a:solidFill>
                <a:latin typeface="Segoe UI"/>
              </a:rPr>
              <a:t>Berilganlar turlari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3458" y="1463040"/>
            <a:ext cx="348477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0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bIns="73152" rtlCol="0" anchor="ctr"/>
          <a:lstStyle/>
          <a:p>
            <a:pPr algn="ctr"/>
            <a:r>
              <a:rPr sz="1500" b="1">
                <a:solidFill>
                  <a:srgbClr val="683AB7"/>
                </a:solidFill>
                <a:latin typeface="Segoe UI"/>
              </a:rPr>
              <a:t>🔀  if, else, switch</a:t>
            </a:r>
          </a:p>
          <a:p>
            <a:r>
              <a:rPr sz="1200">
                <a:solidFill>
                  <a:srgbClr val="23232B"/>
                </a:solidFill>
                <a:latin typeface="Segoe UI"/>
              </a:rPr>
              <a:t>Shart operatorlari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6836" y="1463040"/>
            <a:ext cx="348477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0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bIns="73152" rtlCol="0" anchor="ctr"/>
          <a:lstStyle/>
          <a:p>
            <a:pPr algn="ctr"/>
            <a:r>
              <a:rPr sz="1500" b="1">
                <a:solidFill>
                  <a:srgbClr val="683AB7"/>
                </a:solidFill>
                <a:latin typeface="Segoe UI"/>
              </a:rPr>
              <a:t>🔁  for, while, do</a:t>
            </a:r>
          </a:p>
          <a:p>
            <a:r>
              <a:rPr sz="1200">
                <a:solidFill>
                  <a:srgbClr val="23232B"/>
                </a:solidFill>
                <a:latin typeface="Segoe UI"/>
              </a:rPr>
              <a:t>Takrorlash operatorlari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08960"/>
            <a:ext cx="348477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0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bIns="73152" rtlCol="0" anchor="ctr"/>
          <a:lstStyle/>
          <a:p>
            <a:pPr algn="ctr"/>
            <a:r>
              <a:rPr sz="1500" b="1">
                <a:solidFill>
                  <a:srgbClr val="683AB7"/>
                </a:solidFill>
                <a:latin typeface="Segoe UI"/>
              </a:rPr>
              <a:t>🏗️  class, namespace, static</a:t>
            </a:r>
          </a:p>
          <a:p>
            <a:r>
              <a:rPr sz="1200">
                <a:solidFill>
                  <a:srgbClr val="23232B"/>
                </a:solidFill>
                <a:latin typeface="Segoe UI"/>
              </a:rPr>
              <a:t>Tuzilma va e'lon so'zlari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3458" y="3108960"/>
            <a:ext cx="348477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0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bIns="73152" rtlCol="0" anchor="ctr"/>
          <a:lstStyle/>
          <a:p>
            <a:pPr algn="ctr"/>
            <a:r>
              <a:rPr sz="1500" b="1">
                <a:solidFill>
                  <a:srgbClr val="683AB7"/>
                </a:solidFill>
                <a:latin typeface="Segoe UI"/>
              </a:rPr>
              <a:t>↩️  return, void, new</a:t>
            </a:r>
          </a:p>
          <a:p>
            <a:r>
              <a:rPr sz="1200">
                <a:solidFill>
                  <a:srgbClr val="23232B"/>
                </a:solidFill>
                <a:latin typeface="Segoe UI"/>
              </a:rPr>
              <a:t>Metod va obyekt bilan bog'liq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108960"/>
            <a:ext cx="348477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0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bIns="73152" rtlCol="0" anchor="ctr"/>
          <a:lstStyle/>
          <a:p>
            <a:pPr algn="ctr"/>
            <a:r>
              <a:rPr sz="1500" b="1">
                <a:solidFill>
                  <a:srgbClr val="683AB7"/>
                </a:solidFill>
                <a:latin typeface="Segoe UI"/>
              </a:rPr>
              <a:t>✅  true, false, null, const</a:t>
            </a:r>
          </a:p>
          <a:p>
            <a:r>
              <a:rPr sz="1200">
                <a:solidFill>
                  <a:srgbClr val="23232B"/>
                </a:solidFill>
                <a:latin typeface="Segoe UI"/>
              </a:rPr>
              <a:t>Maxsus qiymatlar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II-BO'LIM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Literal nima?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Literal — kod ichida to'g'ridan-to'g'ri yozilgan, o'zgarmas ANIQ QIYMAT (masalan 10, 3.14, "Salom", true).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Literal — bu qiymatning o'zi; u kompyuter xotirasida biror nom bilan saqlanmaguncha, faqat vaqtinchalik qiymat hisoblanadi.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Har bir literal turi mos berilganlar turiga ega: 10 — butun son (int), 3.14 — haqiqiy son (double), "Salom" — satr (string).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II-BO'LIM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Literal turlari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508760"/>
          <a:ext cx="1088136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Turi</a:t>
                      </a:r>
                    </a:p>
                  </a:txBody>
                  <a:tcPr anchor="ctr"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Misol</a:t>
                      </a:r>
                    </a:p>
                  </a:txBody>
                  <a:tcPr anchor="ctr"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Mos keluvchi tur</a:t>
                      </a:r>
                    </a:p>
                  </a:txBody>
                  <a:tcPr anchor="ctr"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3232B"/>
                          </a:solidFill>
                          <a:latin typeface="Segoe UI"/>
                        </a:rPr>
                        <a:t>Butun son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10,  -25,  1000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int, long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3232B"/>
                          </a:solidFill>
                          <a:latin typeface="Segoe UI"/>
                        </a:rPr>
                        <a:t>Haqiqiy son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3.14,  2.5f,  0.001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double, float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3232B"/>
                          </a:solidFill>
                          <a:latin typeface="Segoe UI"/>
                        </a:rPr>
                        <a:t>Mantiqiy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true,  false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bool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3232B"/>
                          </a:solidFill>
                          <a:latin typeface="Segoe UI"/>
                        </a:rPr>
                        <a:t>Belgi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'A',  'b',  '5'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char (bitta tirnoq)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3232B"/>
                          </a:solidFill>
                          <a:latin typeface="Segoe UI"/>
                        </a:rPr>
                        <a:t>Satr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"Salom",  "Dunyo"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string (qo'sh tirnoq)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3232B"/>
                          </a:solidFill>
                          <a:latin typeface="Segoe UI"/>
                        </a:rPr>
                        <a:t>Bo'sh qiymat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null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har qanday reference tur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743200" cy="502920"/>
          </a:xfrm>
          <a:prstGeom prst="round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E1B4B"/>
                </a:solidFill>
              </a:rPr>
              <a:t>🧠 VIKTORINA #2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Quyidagilardan qaysi biri C# da TO'G'RI 'char' literali?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11064240" cy="749808"/>
          </a:xfrm>
          <a:prstGeom prst="roundRect">
            <a:avLst/>
          </a:prstGeom>
          <a:solidFill>
            <a:srgbClr val="2B2763"/>
          </a:solidFill>
          <a:ln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77240" y="2935224"/>
            <a:ext cx="457200" cy="457200"/>
          </a:xfrm>
          <a:prstGeom prst="ellipse">
            <a:avLst/>
          </a:prstGeom>
          <a:solidFill>
            <a:srgbClr val="683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1B4B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788920"/>
            <a:ext cx="10058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Segoe UI"/>
              </a:rPr>
              <a:t>'Salom' — chunki tirnoq ichida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11064240" cy="749808"/>
          </a:xfrm>
          <a:prstGeom prst="roundRect">
            <a:avLst/>
          </a:prstGeom>
          <a:solidFill>
            <a:srgbClr val="2B2763"/>
          </a:solidFill>
          <a:ln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77240" y="3803904"/>
            <a:ext cx="457200" cy="457200"/>
          </a:xfrm>
          <a:prstGeom prst="ellipse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1B4B"/>
                </a:solidFill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657600"/>
            <a:ext cx="10058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Segoe UI"/>
              </a:rPr>
              <a:t>"A" — chunki harf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26280"/>
            <a:ext cx="11064240" cy="749808"/>
          </a:xfrm>
          <a:prstGeom prst="roundRect">
            <a:avLst/>
          </a:prstGeom>
          <a:solidFill>
            <a:srgbClr val="2B2763"/>
          </a:solidFill>
          <a:ln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77240" y="4672584"/>
            <a:ext cx="457200" cy="457200"/>
          </a:xfrm>
          <a:prstGeom prst="ellipse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1B4B"/>
                </a:solidFill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526280"/>
            <a:ext cx="10058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Segoe UI"/>
              </a:rPr>
              <a:t>'A' — chunki bitta tirnoqda, bitta belgi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394960"/>
            <a:ext cx="11064240" cy="749808"/>
          </a:xfrm>
          <a:prstGeom prst="roundRect">
            <a:avLst/>
          </a:prstGeom>
          <a:solidFill>
            <a:srgbClr val="2B2763"/>
          </a:solidFill>
          <a:ln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77240" y="5541264"/>
            <a:ext cx="457200" cy="457200"/>
          </a:xfrm>
          <a:prstGeom prst="ellipse">
            <a:avLst/>
          </a:prstGeom>
          <a:solidFill>
            <a:srgbClr val="8BC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1B4B"/>
                </a:solidFill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5394960"/>
            <a:ext cx="10058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Segoe UI"/>
              </a:rPr>
              <a:t>A — chunki eng qisqa yozuv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A09CD8"/>
                </a:solidFill>
                <a:latin typeface="Segoe UI"/>
              </a:rPr>
              <a:t>O'ylab ko'ring... javobingizni chatga yozing!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743200" cy="50292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✅ JAVOB #2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C8C8E8"/>
                </a:solidFill>
                <a:latin typeface="Segoe UI"/>
              </a:rPr>
              <a:t>Quyidagilardan qaysi biri TO'G'RI 'char' literali?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31720"/>
            <a:ext cx="11064240" cy="658368"/>
          </a:xfrm>
          <a:prstGeom prst="roundRect">
            <a:avLst/>
          </a:prstGeom>
          <a:solidFill>
            <a:srgbClr val="2B2763"/>
          </a:solidFill>
          <a:ln w="12700"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49808" y="2441448"/>
            <a:ext cx="420624" cy="420624"/>
          </a:xfrm>
          <a:prstGeom prst="ellipse">
            <a:avLst/>
          </a:prstGeom>
          <a:solidFill>
            <a:srgbClr val="555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331720"/>
            <a:ext cx="100584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C8C8E8"/>
                </a:solidFill>
                <a:latin typeface="Segoe UI"/>
              </a:rPr>
              <a:t>'Salom' — chunki tirnoq ichida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81528"/>
            <a:ext cx="11064240" cy="658368"/>
          </a:xfrm>
          <a:prstGeom prst="roundRect">
            <a:avLst/>
          </a:prstGeom>
          <a:solidFill>
            <a:srgbClr val="2B2763"/>
          </a:solidFill>
          <a:ln w="12700"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49808" y="3191256"/>
            <a:ext cx="420624" cy="420624"/>
          </a:xfrm>
          <a:prstGeom prst="ellipse">
            <a:avLst/>
          </a:prstGeom>
          <a:solidFill>
            <a:srgbClr val="555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081528"/>
            <a:ext cx="100584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C8C8E8"/>
                </a:solidFill>
                <a:latin typeface="Segoe UI"/>
              </a:rPr>
              <a:t>"A" — chunki harf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31336"/>
            <a:ext cx="11064240" cy="658368"/>
          </a:xfrm>
          <a:prstGeom prst="roundRect">
            <a:avLst/>
          </a:prstGeom>
          <a:solidFill>
            <a:srgbClr val="E3F2E1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49808" y="3941064"/>
            <a:ext cx="420624" cy="42062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831336"/>
            <a:ext cx="100584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5E20"/>
                </a:solidFill>
                <a:latin typeface="Segoe UI"/>
              </a:rPr>
              <a:t>'A' — chunki bitta tirnoqda, bitta belgi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581144"/>
            <a:ext cx="11064240" cy="658368"/>
          </a:xfrm>
          <a:prstGeom prst="roundRect">
            <a:avLst/>
          </a:prstGeom>
          <a:solidFill>
            <a:srgbClr val="2B2763"/>
          </a:solidFill>
          <a:ln w="12700"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49808" y="4690872"/>
            <a:ext cx="420624" cy="420624"/>
          </a:xfrm>
          <a:prstGeom prst="ellipse">
            <a:avLst/>
          </a:prstGeom>
          <a:solidFill>
            <a:srgbClr val="555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581144"/>
            <a:ext cx="100584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C8C8E8"/>
                </a:solidFill>
                <a:latin typeface="Segoe UI"/>
              </a:rPr>
              <a:t>A — chunki eng qisqa yozuv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422392"/>
            <a:ext cx="11064240" cy="960120"/>
          </a:xfrm>
          <a:prstGeom prst="roundRect">
            <a:avLst/>
          </a:prstGeom>
          <a:solidFill>
            <a:srgbClr val="2B2763"/>
          </a:solidFill>
          <a:ln w="12700">
            <a:solidFill>
              <a:srgbClr val="00B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/>
            <a:r>
              <a:rPr sz="1400">
                <a:solidFill>
                  <a:srgbClr val="E0E0F5"/>
                </a:solidFill>
                <a:latin typeface="Segoe UI"/>
              </a:rPr>
              <a:t>💡 Izoh: char turi har doim BITTA belgini bitta tirnoq ' ' ichida saqlaydi. Qo'sh tirnoq " " esa string (satr) uchun ishlatiladi, hattoki bitta harf bo'lsa ham.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83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83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22960" y="2103120"/>
            <a:ext cx="1828800" cy="1828800"/>
          </a:xfrm>
          <a:prstGeom prst="ellipse">
            <a:avLst/>
          </a:prstGeom>
          <a:solidFill>
            <a:srgbClr val="1E1B4B"/>
          </a:solidFill>
          <a:ln w="31750">
            <a:solidFill>
              <a:srgbClr val="00B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4400" b="1">
                <a:solidFill>
                  <a:srgbClr val="FFFFFF"/>
                </a:solidFill>
              </a:rPr>
              <a:t>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331720"/>
            <a:ext cx="8503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DCFF"/>
                </a:solidFill>
                <a:latin typeface="Segoe UI"/>
              </a:rPr>
              <a:t>2-BO'LIM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743200"/>
            <a:ext cx="85039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FFFFFF"/>
                </a:solidFill>
                <a:latin typeface="Segoe UI"/>
              </a:rPr>
              <a:t>O'zgaruvchilar, o'zgarmaslar
va izohlar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379476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E8DCFF"/>
                </a:solidFill>
                <a:latin typeface="Segoe UI"/>
              </a:rPr>
              <a:t>Qiymatlarni xotirada saqlash va kodni tushunarli qilish usullari.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II-BO'LIM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O'zgaruvchi (variable) nima?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O'zgaruvchi — dastur ishlashi davomida QIYMATI O'ZGARISHI mumkin bo'lgan, nomlangan xotira joyi.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E'lon qilish sintaksisi:  tur nom = boshlang'ich_qiymat;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Masalan:  int yosh = 20;   —   bu yerda "int" tur, "yosh" nom, "20" boshlang'ich qiymat.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Bir xil turdagi bir nechta o'zgaruvchini vergul bilan ajratib birga ham e'lon qilish mumkin:  int a = 1, b = 2;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O'zgaruvchiga keyinchalik YANGI qiymat berish mumkin:  yosh = 21;  (tur qayta yozilmaydi, faqat qiymat almashtiriladi).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II-BO'LIM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Misol: o'zgaruvchi e'lon qilish va yangilash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10881360" cy="206248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solidFill>
              <a:srgbClr val="3C3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411480" rIns="182880" rtlCol="0" anchor="ctr"/>
          <a:lstStyle/>
          <a:p>
            <a:pPr>
              <a:lnSpc>
                <a:spcPct val="122000"/>
              </a:lnSpc>
            </a:pPr>
            <a:r>
              <a:rPr sz="160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D4D4D4"/>
                </a:solidFill>
                <a:latin typeface="Consolas"/>
              </a:rPr>
              <a:t>yosh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600" dirty="0">
                <a:solidFill>
                  <a:srgbClr val="CE9178"/>
                </a:solidFill>
                <a:latin typeface="Consolas"/>
              </a:rPr>
              <a:t>20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lnSpc>
                <a:spcPct val="122000"/>
              </a:lnSpc>
            </a:pPr>
            <a:r>
              <a:rPr sz="1600" dirty="0">
                <a:solidFill>
                  <a:srgbClr val="569CD6"/>
                </a:solidFill>
                <a:latin typeface="Consolas"/>
              </a:rPr>
              <a:t>string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 ism = </a:t>
            </a:r>
            <a:r>
              <a:rPr sz="1600" dirty="0">
                <a:solidFill>
                  <a:srgbClr val="CE9178"/>
                </a:solidFill>
                <a:latin typeface="Consolas"/>
              </a:rPr>
              <a:t>"Aziza"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lnSpc>
                <a:spcPct val="122000"/>
              </a:lnSpc>
            </a:pPr>
            <a:r>
              <a:rPr sz="1600" dirty="0" err="1">
                <a:solidFill>
                  <a:srgbClr val="4EC9B0"/>
                </a:solidFill>
                <a:latin typeface="Consolas"/>
              </a:rPr>
              <a:t>Console</a:t>
            </a:r>
            <a:r>
              <a:rPr sz="160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600" dirty="0" err="1">
                <a:solidFill>
                  <a:srgbClr val="DCDCAA"/>
                </a:solidFill>
                <a:latin typeface="Consolas"/>
              </a:rPr>
              <a:t>WriteLine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(ism + </a:t>
            </a:r>
            <a:r>
              <a:rPr sz="1600" dirty="0">
                <a:solidFill>
                  <a:srgbClr val="CE9178"/>
                </a:solidFill>
                <a:latin typeface="Consolas"/>
              </a:rPr>
              <a:t>" </a:t>
            </a:r>
            <a:r>
              <a:rPr sz="1600" dirty="0" err="1">
                <a:solidFill>
                  <a:srgbClr val="CE9178"/>
                </a:solidFill>
                <a:latin typeface="Consolas"/>
              </a:rPr>
              <a:t>yosh</a:t>
            </a:r>
            <a:r>
              <a:rPr sz="1600" dirty="0">
                <a:solidFill>
                  <a:srgbClr val="CE9178"/>
                </a:solidFill>
                <a:latin typeface="Consolas"/>
              </a:rPr>
              <a:t>: "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 + </a:t>
            </a:r>
            <a:r>
              <a:rPr sz="1600" dirty="0" err="1">
                <a:solidFill>
                  <a:srgbClr val="D4D4D4"/>
                </a:solidFill>
                <a:latin typeface="Consolas"/>
              </a:rPr>
              <a:t>yosh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);</a:t>
            </a:r>
          </a:p>
          <a:p>
            <a:pPr>
              <a:lnSpc>
                <a:spcPct val="122000"/>
              </a:lnSpc>
            </a:pPr>
            <a:r>
              <a:rPr sz="1600" dirty="0" err="1">
                <a:solidFill>
                  <a:srgbClr val="D4D4D4"/>
                </a:solidFill>
                <a:latin typeface="Consolas"/>
              </a:rPr>
              <a:t>yosh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600" dirty="0">
                <a:solidFill>
                  <a:srgbClr val="CE9178"/>
                </a:solidFill>
                <a:latin typeface="Consolas"/>
              </a:rPr>
              <a:t>21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;  </a:t>
            </a:r>
            <a:r>
              <a:rPr sz="1600" dirty="0">
                <a:solidFill>
                  <a:srgbClr val="6A9955"/>
                </a:solidFill>
                <a:latin typeface="Consolas"/>
              </a:rPr>
              <a:t>// </a:t>
            </a:r>
            <a:r>
              <a:rPr sz="1600" dirty="0" err="1">
                <a:solidFill>
                  <a:srgbClr val="6A9955"/>
                </a:solidFill>
                <a:latin typeface="Consolas"/>
              </a:rPr>
              <a:t>qiymat</a:t>
            </a:r>
            <a:r>
              <a:rPr sz="160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6A9955"/>
                </a:solidFill>
                <a:latin typeface="Consolas"/>
              </a:rPr>
              <a:t>yangilandi</a:t>
            </a:r>
            <a:endParaRPr sz="1600" dirty="0">
              <a:solidFill>
                <a:srgbClr val="6A9955"/>
              </a:solidFill>
              <a:latin typeface="Consolas"/>
            </a:endParaRPr>
          </a:p>
          <a:p>
            <a:pPr>
              <a:lnSpc>
                <a:spcPct val="122000"/>
              </a:lnSpc>
            </a:pPr>
            <a:r>
              <a:rPr sz="1600" dirty="0" err="1">
                <a:solidFill>
                  <a:srgbClr val="4EC9B0"/>
                </a:solidFill>
                <a:latin typeface="Consolas"/>
              </a:rPr>
              <a:t>Console</a:t>
            </a:r>
            <a:r>
              <a:rPr sz="160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600" dirty="0" err="1">
                <a:solidFill>
                  <a:srgbClr val="DCDCAA"/>
                </a:solidFill>
                <a:latin typeface="Consolas"/>
              </a:rPr>
              <a:t>WriteLine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(</a:t>
            </a:r>
            <a:r>
              <a:rPr sz="1600" dirty="0" err="1">
                <a:solidFill>
                  <a:srgbClr val="D4D4D4"/>
                </a:solidFill>
                <a:latin typeface="Consolas"/>
              </a:rPr>
              <a:t>yosh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);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1554480"/>
            <a:ext cx="146304" cy="146304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78992" y="1554480"/>
            <a:ext cx="146304" cy="146304"/>
          </a:xfrm>
          <a:prstGeom prst="ellipse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335024" y="1554480"/>
            <a:ext cx="146304" cy="14630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0080" y="3616960"/>
            <a:ext cx="10881360" cy="859536"/>
          </a:xfrm>
          <a:prstGeom prst="roundRect">
            <a:avLst/>
          </a:prstGeom>
          <a:solidFill>
            <a:srgbClr val="F0F0F0"/>
          </a:solidFill>
          <a:ln>
            <a:solidFill>
              <a:srgbClr val="C0C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73152" rtlCol="0" anchor="ctr"/>
          <a:lstStyle/>
          <a:p>
            <a:pPr algn="ctr"/>
            <a:r>
              <a:rPr sz="1200" b="1">
                <a:solidFill>
                  <a:srgbClr val="606070"/>
                </a:solidFill>
                <a:latin typeface="Segoe UI"/>
              </a:rPr>
              <a:t>► NATIJA (Console chiqishi):</a:t>
            </a:r>
          </a:p>
          <a:p>
            <a:r>
              <a:rPr sz="1500">
                <a:solidFill>
                  <a:srgbClr val="1B5E20"/>
                </a:solidFill>
                <a:latin typeface="Consolas"/>
              </a:rPr>
              <a:t>Aziza yosh: 20</a:t>
            </a:r>
          </a:p>
          <a:p>
            <a:r>
              <a:rPr sz="1500">
                <a:solidFill>
                  <a:srgbClr val="1B5E20"/>
                </a:solidFill>
                <a:latin typeface="Consolas"/>
              </a:rPr>
              <a:t>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86224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606070"/>
                </a:solidFill>
                <a:latin typeface="Segoe UI"/>
              </a:rPr>
              <a:t>E'tibor bering: ism o'zgarmadi, faqat yosh qiymati 20 dan 21 ga yangilandi.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II-BO'LIM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O'zgarmas (constant) nima?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O'zgarmas — dastur davomida QIYMATI HECH QACHON o'zgarmaydigan nomlangan qiymat.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const kalit so'zi bilan e'lon qilinadi:  const double PI = 3.14159;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Nega kerak? Kod ichida "sehrli sonlar" (magic numbers) o'rniga tushunarli nom ishlatish uchun — masalan 3.14159 emas, PI deb yozish kod o'qishni osonlashtiradi.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const o'zgaruvchiga qayta qiymat berishga urinish — KOMPILYATSIYA XATOSI beradi (dastur hatto ishga tushmaydi).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Odatda o'zgarmaslar katta harflar bilan nomlanadi (masalan MAX_YOSH, PI) — bu majburiy emas, lekin keng tarqalgan yaxshi odat.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II-BO'LIM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Misol: o'zgarmas (const) bilan ishlash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10881360" cy="206248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solidFill>
              <a:srgbClr val="3C3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411480" rIns="182880" rtlCol="0" anchor="ctr"/>
          <a:lstStyle/>
          <a:p>
            <a:pPr>
              <a:lnSpc>
                <a:spcPct val="122000"/>
              </a:lnSpc>
            </a:pPr>
            <a:r>
              <a:rPr sz="1600" dirty="0">
                <a:solidFill>
                  <a:srgbClr val="569CD6"/>
                </a:solidFill>
                <a:latin typeface="Consolas"/>
              </a:rPr>
              <a:t>const double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 PI = </a:t>
            </a:r>
            <a:r>
              <a:rPr sz="1600" dirty="0">
                <a:solidFill>
                  <a:srgbClr val="CE9178"/>
                </a:solidFill>
                <a:latin typeface="Consolas"/>
              </a:rPr>
              <a:t>3.14159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lnSpc>
                <a:spcPct val="122000"/>
              </a:lnSpc>
            </a:pPr>
            <a:r>
              <a:rPr sz="1600" dirty="0">
                <a:solidFill>
                  <a:srgbClr val="569CD6"/>
                </a:solidFill>
                <a:latin typeface="Consolas"/>
              </a:rPr>
              <a:t>double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 radius = </a:t>
            </a:r>
            <a:r>
              <a:rPr sz="1600" dirty="0">
                <a:solidFill>
                  <a:srgbClr val="CE9178"/>
                </a:solidFill>
                <a:latin typeface="Consolas"/>
              </a:rPr>
              <a:t>5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lnSpc>
                <a:spcPct val="122000"/>
              </a:lnSpc>
            </a:pPr>
            <a:r>
              <a:rPr sz="1600" dirty="0">
                <a:solidFill>
                  <a:srgbClr val="569CD6"/>
                </a:solidFill>
                <a:latin typeface="Consolas"/>
              </a:rPr>
              <a:t>double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D4D4D4"/>
                </a:solidFill>
                <a:latin typeface="Consolas"/>
              </a:rPr>
              <a:t>yuza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 = PI * radius * radius;</a:t>
            </a:r>
          </a:p>
          <a:p>
            <a:pPr>
              <a:lnSpc>
                <a:spcPct val="122000"/>
              </a:lnSpc>
            </a:pPr>
            <a:r>
              <a:rPr sz="1600" dirty="0" err="1">
                <a:solidFill>
                  <a:srgbClr val="4EC9B0"/>
                </a:solidFill>
                <a:latin typeface="Consolas"/>
              </a:rPr>
              <a:t>Console</a:t>
            </a:r>
            <a:r>
              <a:rPr sz="160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600" dirty="0" err="1">
                <a:solidFill>
                  <a:srgbClr val="DCDCAA"/>
                </a:solidFill>
                <a:latin typeface="Consolas"/>
              </a:rPr>
              <a:t>WriteLine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(</a:t>
            </a:r>
            <a:r>
              <a:rPr sz="1600" dirty="0" err="1">
                <a:solidFill>
                  <a:srgbClr val="D4D4D4"/>
                </a:solidFill>
                <a:latin typeface="Consolas"/>
              </a:rPr>
              <a:t>yuza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);</a:t>
            </a:r>
          </a:p>
          <a:p>
            <a:pPr>
              <a:lnSpc>
                <a:spcPct val="122000"/>
              </a:lnSpc>
            </a:pPr>
            <a:r>
              <a:rPr sz="1600" dirty="0">
                <a:solidFill>
                  <a:srgbClr val="D4D4D4"/>
                </a:solidFill>
                <a:latin typeface="Consolas"/>
              </a:rPr>
              <a:t>PI = </a:t>
            </a:r>
            <a:r>
              <a:rPr sz="1600" dirty="0">
                <a:solidFill>
                  <a:srgbClr val="CE9178"/>
                </a:solidFill>
                <a:latin typeface="Consolas"/>
              </a:rPr>
              <a:t>3.14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; </a:t>
            </a:r>
            <a:r>
              <a:rPr sz="1600" dirty="0">
                <a:solidFill>
                  <a:srgbClr val="6A9955"/>
                </a:solidFill>
                <a:latin typeface="Consolas"/>
              </a:rPr>
              <a:t>// XATO! const </a:t>
            </a:r>
            <a:r>
              <a:rPr sz="1600" dirty="0" err="1">
                <a:solidFill>
                  <a:srgbClr val="6A9955"/>
                </a:solidFill>
                <a:latin typeface="Consolas"/>
              </a:rPr>
              <a:t>qiymatini</a:t>
            </a:r>
            <a:r>
              <a:rPr sz="160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6A9955"/>
                </a:solidFill>
                <a:latin typeface="Consolas"/>
              </a:rPr>
              <a:t>o'zgartirib</a:t>
            </a:r>
            <a:r>
              <a:rPr sz="160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6A9955"/>
                </a:solidFill>
                <a:latin typeface="Consolas"/>
              </a:rPr>
              <a:t>bo'lmaydi</a:t>
            </a:r>
            <a:endParaRPr sz="1600" dirty="0">
              <a:solidFill>
                <a:srgbClr val="6A9955"/>
              </a:solidFill>
              <a:latin typeface="Consolas"/>
            </a:endParaRPr>
          </a:p>
        </p:txBody>
      </p:sp>
      <p:sp>
        <p:nvSpPr>
          <p:cNvPr id="8" name="Oval 7"/>
          <p:cNvSpPr/>
          <p:nvPr/>
        </p:nvSpPr>
        <p:spPr>
          <a:xfrm>
            <a:off x="822960" y="1554480"/>
            <a:ext cx="146304" cy="146304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78992" y="1554480"/>
            <a:ext cx="146304" cy="146304"/>
          </a:xfrm>
          <a:prstGeom prst="ellipse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335024" y="1554480"/>
            <a:ext cx="146304" cy="14630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0080" y="3616960"/>
            <a:ext cx="10881360" cy="859536"/>
          </a:xfrm>
          <a:prstGeom prst="roundRect">
            <a:avLst/>
          </a:prstGeom>
          <a:solidFill>
            <a:srgbClr val="F0F0F0"/>
          </a:solidFill>
          <a:ln>
            <a:solidFill>
              <a:srgbClr val="C0C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73152" rtlCol="0" anchor="ctr"/>
          <a:lstStyle/>
          <a:p>
            <a:pPr algn="ctr"/>
            <a:r>
              <a:rPr sz="1200" b="1">
                <a:solidFill>
                  <a:srgbClr val="606070"/>
                </a:solidFill>
                <a:latin typeface="Segoe UI"/>
              </a:rPr>
              <a:t>► NATIJA (Console chiqishi):</a:t>
            </a:r>
          </a:p>
          <a:p>
            <a:r>
              <a:rPr sz="1500">
                <a:solidFill>
                  <a:srgbClr val="1B5E20"/>
                </a:solidFill>
                <a:latin typeface="Consolas"/>
              </a:rPr>
              <a:t>78.53975</a:t>
            </a:r>
          </a:p>
          <a:p>
            <a:r>
              <a:rPr sz="1500">
                <a:solidFill>
                  <a:srgbClr val="1B5E20"/>
                </a:solidFill>
                <a:latin typeface="Consolas"/>
              </a:rPr>
              <a:t>(oxirgi qator kompilyatsiya xatosini beradi)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86224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606070"/>
                </a:solidFill>
                <a:latin typeface="Segoe UI"/>
              </a:rPr>
              <a:t>const qiymatini keyinroq o'zgartirishga urinish dastur kompilyatsiyasini butunlay to'xtatadi.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II-BO'LIM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Izohlar (comments)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Izoh — kod ICHIDA yozilgan, lekin dastur BAJARILISHIGA hech qanday ta'sir qilmaydigan matn.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Maqsadi — kodni o'zingiz va boshqalar uchun tushunarli qilish, murakkab qismlarni izohlash.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Bir qatorli izoh:  //  bilan boshlanadi, qator oxirigacha davom etadi.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Ko'p qatorli izoh:  /*  bilan boshlanadi,  */  bilan tugaydi — bir nechta qatorni qamrab olishi mumkin.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Yaxshi izoh NIMA emas, NEGA ekanini tushuntiradi — kod o'zi "nima qilinayotganini" ko'rsatib turibdi, izoh esa sababini yoritadi.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II-BO'LIM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Misol: izohlar qanday yoziladi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10881360" cy="2806191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solidFill>
              <a:srgbClr val="3C3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411480" rIns="182880" rtlCol="0" anchor="ctr"/>
          <a:lstStyle/>
          <a:p>
            <a:pPr>
              <a:lnSpc>
                <a:spcPct val="122000"/>
              </a:lnSpc>
            </a:pPr>
            <a:r>
              <a:rPr sz="1600" dirty="0">
                <a:solidFill>
                  <a:srgbClr val="6A9955"/>
                </a:solidFill>
                <a:latin typeface="Consolas"/>
              </a:rPr>
              <a:t>// </a:t>
            </a:r>
            <a:r>
              <a:rPr sz="1600" dirty="0" err="1">
                <a:solidFill>
                  <a:srgbClr val="6A9955"/>
                </a:solidFill>
                <a:latin typeface="Consolas"/>
              </a:rPr>
              <a:t>Talabaning</a:t>
            </a:r>
            <a:r>
              <a:rPr sz="160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6A9955"/>
                </a:solidFill>
                <a:latin typeface="Consolas"/>
              </a:rPr>
              <a:t>yoshini</a:t>
            </a:r>
            <a:r>
              <a:rPr sz="160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6A9955"/>
                </a:solidFill>
                <a:latin typeface="Consolas"/>
              </a:rPr>
              <a:t>hisoblash</a:t>
            </a:r>
            <a:r>
              <a:rPr sz="160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6A9955"/>
                </a:solidFill>
                <a:latin typeface="Consolas"/>
              </a:rPr>
              <a:t>uchun</a:t>
            </a:r>
            <a:r>
              <a:rPr sz="160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6A9955"/>
                </a:solidFill>
                <a:latin typeface="Consolas"/>
              </a:rPr>
              <a:t>o'zgaruvchi</a:t>
            </a:r>
            <a:endParaRPr sz="1600" dirty="0">
              <a:solidFill>
                <a:srgbClr val="6A9955"/>
              </a:solidFill>
              <a:latin typeface="Consolas"/>
            </a:endParaRPr>
          </a:p>
          <a:p>
            <a:pPr>
              <a:lnSpc>
                <a:spcPct val="122000"/>
              </a:lnSpc>
            </a:pPr>
            <a:r>
              <a:rPr sz="160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D4D4D4"/>
                </a:solidFill>
                <a:latin typeface="Consolas"/>
              </a:rPr>
              <a:t>yosh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600" dirty="0">
                <a:solidFill>
                  <a:srgbClr val="CE9178"/>
                </a:solidFill>
                <a:latin typeface="Consolas"/>
              </a:rPr>
              <a:t>20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lnSpc>
                <a:spcPct val="122000"/>
              </a:lnSpc>
            </a:pPr>
            <a:r>
              <a:rPr sz="160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>
              <a:lnSpc>
                <a:spcPct val="122000"/>
              </a:lnSpc>
            </a:pPr>
            <a:r>
              <a:rPr sz="1600" dirty="0">
                <a:solidFill>
                  <a:srgbClr val="6A9955"/>
                </a:solidFill>
                <a:latin typeface="Consolas"/>
              </a:rPr>
              <a:t>/*</a:t>
            </a:r>
          </a:p>
          <a:p>
            <a:pPr>
              <a:lnSpc>
                <a:spcPct val="122000"/>
              </a:lnSpc>
            </a:pPr>
            <a:r>
              <a:rPr sz="1600" dirty="0">
                <a:solidFill>
                  <a:srgbClr val="6A9955"/>
                </a:solidFill>
                <a:latin typeface="Consolas"/>
              </a:rPr>
              <a:t>   Bu </a:t>
            </a:r>
            <a:r>
              <a:rPr sz="1600" dirty="0" err="1">
                <a:solidFill>
                  <a:srgbClr val="6A9955"/>
                </a:solidFill>
                <a:latin typeface="Consolas"/>
              </a:rPr>
              <a:t>qism</a:t>
            </a:r>
            <a:r>
              <a:rPr sz="160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6A9955"/>
                </a:solidFill>
                <a:latin typeface="Consolas"/>
              </a:rPr>
              <a:t>talaba</a:t>
            </a:r>
            <a:r>
              <a:rPr sz="160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6A9955"/>
                </a:solidFill>
                <a:latin typeface="Consolas"/>
              </a:rPr>
              <a:t>haqidagi</a:t>
            </a:r>
            <a:r>
              <a:rPr sz="160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6A9955"/>
                </a:solidFill>
                <a:latin typeface="Consolas"/>
              </a:rPr>
              <a:t>ma'lumotlarni</a:t>
            </a:r>
            <a:endParaRPr sz="1600" dirty="0">
              <a:solidFill>
                <a:srgbClr val="6A9955"/>
              </a:solidFill>
              <a:latin typeface="Consolas"/>
            </a:endParaRPr>
          </a:p>
          <a:p>
            <a:pPr>
              <a:lnSpc>
                <a:spcPct val="122000"/>
              </a:lnSpc>
            </a:pPr>
            <a:r>
              <a:rPr sz="1600" dirty="0">
                <a:solidFill>
                  <a:srgbClr val="6A9955"/>
                </a:solidFill>
                <a:latin typeface="Consolas"/>
              </a:rPr>
              <a:t>   </a:t>
            </a:r>
            <a:r>
              <a:rPr sz="1600" dirty="0" err="1">
                <a:solidFill>
                  <a:srgbClr val="6A9955"/>
                </a:solidFill>
                <a:latin typeface="Consolas"/>
              </a:rPr>
              <a:t>ekranga</a:t>
            </a:r>
            <a:r>
              <a:rPr sz="160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6A9955"/>
                </a:solidFill>
                <a:latin typeface="Consolas"/>
              </a:rPr>
              <a:t>chiqarish</a:t>
            </a:r>
            <a:r>
              <a:rPr sz="160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6A9955"/>
                </a:solidFill>
                <a:latin typeface="Consolas"/>
              </a:rPr>
              <a:t>uchun</a:t>
            </a:r>
            <a:r>
              <a:rPr sz="160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6A9955"/>
                </a:solidFill>
                <a:latin typeface="Consolas"/>
              </a:rPr>
              <a:t>ishlatiladi</a:t>
            </a:r>
            <a:r>
              <a:rPr sz="1600" dirty="0">
                <a:solidFill>
                  <a:srgbClr val="6A9955"/>
                </a:solidFill>
                <a:latin typeface="Consolas"/>
              </a:rPr>
              <a:t>.</a:t>
            </a:r>
          </a:p>
          <a:p>
            <a:pPr>
              <a:lnSpc>
                <a:spcPct val="122000"/>
              </a:lnSpc>
            </a:pPr>
            <a:r>
              <a:rPr sz="1600" dirty="0">
                <a:solidFill>
                  <a:srgbClr val="6A9955"/>
                </a:solidFill>
                <a:latin typeface="Consolas"/>
              </a:rPr>
              <a:t>*/</a:t>
            </a:r>
          </a:p>
          <a:p>
            <a:pPr>
              <a:lnSpc>
                <a:spcPct val="122000"/>
              </a:lnSpc>
            </a:pPr>
            <a:r>
              <a:rPr sz="1600" dirty="0" err="1">
                <a:solidFill>
                  <a:srgbClr val="4EC9B0"/>
                </a:solidFill>
                <a:latin typeface="Consolas"/>
              </a:rPr>
              <a:t>Console</a:t>
            </a:r>
            <a:r>
              <a:rPr sz="160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600" dirty="0" err="1">
                <a:solidFill>
                  <a:srgbClr val="DCDCAA"/>
                </a:solidFill>
                <a:latin typeface="Consolas"/>
              </a:rPr>
              <a:t>WriteLine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(</a:t>
            </a:r>
            <a:r>
              <a:rPr sz="1600" dirty="0" err="1">
                <a:solidFill>
                  <a:srgbClr val="D4D4D4"/>
                </a:solidFill>
                <a:latin typeface="Consolas"/>
              </a:rPr>
              <a:t>yosh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);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1554480"/>
            <a:ext cx="146304" cy="146304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78992" y="1554480"/>
            <a:ext cx="146304" cy="146304"/>
          </a:xfrm>
          <a:prstGeom prst="ellipse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335024" y="1554480"/>
            <a:ext cx="146304" cy="14630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0080" y="4360671"/>
            <a:ext cx="10881360" cy="621792"/>
          </a:xfrm>
          <a:prstGeom prst="roundRect">
            <a:avLst/>
          </a:prstGeom>
          <a:solidFill>
            <a:srgbClr val="F0F0F0"/>
          </a:solidFill>
          <a:ln>
            <a:solidFill>
              <a:srgbClr val="C0C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73152" rtlCol="0" anchor="ctr"/>
          <a:lstStyle/>
          <a:p>
            <a:pPr algn="ctr"/>
            <a:r>
              <a:rPr sz="1200" b="1">
                <a:solidFill>
                  <a:srgbClr val="606070"/>
                </a:solidFill>
                <a:latin typeface="Segoe UI"/>
              </a:rPr>
              <a:t>► NATIJA (Console chiqishi):</a:t>
            </a:r>
          </a:p>
          <a:p>
            <a:r>
              <a:rPr sz="1500">
                <a:solidFill>
                  <a:srgbClr val="1B5E20"/>
                </a:solidFill>
                <a:latin typeface="Consolas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92191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606070"/>
                </a:solidFill>
                <a:latin typeface="Segoe UI"/>
              </a:rPr>
              <a:t>Izohlar console chiqishiga hech qanday ta'sir qilmaydi — ular faqat kodni o'qiganlar uchun.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743200" cy="502920"/>
          </a:xfrm>
          <a:prstGeom prst="round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E1B4B"/>
                </a:solidFill>
              </a:rPr>
              <a:t>🧠 VIKTORINA #3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O'zgaruvchi bilan o'zgarmas (const) orasidagi farq nima?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11064240" cy="749808"/>
          </a:xfrm>
          <a:prstGeom prst="roundRect">
            <a:avLst/>
          </a:prstGeom>
          <a:solidFill>
            <a:srgbClr val="2B2763"/>
          </a:solidFill>
          <a:ln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77240" y="2935224"/>
            <a:ext cx="457200" cy="457200"/>
          </a:xfrm>
          <a:prstGeom prst="ellipse">
            <a:avLst/>
          </a:prstGeom>
          <a:solidFill>
            <a:srgbClr val="683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1B4B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788920"/>
            <a:ext cx="10058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Segoe UI"/>
              </a:rPr>
              <a:t>O'zgaruvchi ham, o'zgarmas ham bir xil — ikkalasi ham qiymatini o'zgartira oladi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11064240" cy="749808"/>
          </a:xfrm>
          <a:prstGeom prst="roundRect">
            <a:avLst/>
          </a:prstGeom>
          <a:solidFill>
            <a:srgbClr val="2B2763"/>
          </a:solidFill>
          <a:ln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77240" y="3803904"/>
            <a:ext cx="457200" cy="457200"/>
          </a:xfrm>
          <a:prstGeom prst="ellipse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1B4B"/>
                </a:solidFill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657600"/>
            <a:ext cx="10058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Segoe UI"/>
              </a:rPr>
              <a:t>O'zgaruvchi qiymatini o'zgartirish mumkin, o'zgarmas (const) esa e'lon qilingandan keyin o'zgarmaydi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26280"/>
            <a:ext cx="11064240" cy="749808"/>
          </a:xfrm>
          <a:prstGeom prst="roundRect">
            <a:avLst/>
          </a:prstGeom>
          <a:solidFill>
            <a:srgbClr val="2B2763"/>
          </a:solidFill>
          <a:ln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77240" y="4672584"/>
            <a:ext cx="457200" cy="457200"/>
          </a:xfrm>
          <a:prstGeom prst="ellipse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1B4B"/>
                </a:solidFill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526280"/>
            <a:ext cx="10058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Segoe UI"/>
              </a:rPr>
              <a:t>O'zgarmas faqat matnlar (string) uchun ishlatiladi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394960"/>
            <a:ext cx="11064240" cy="749808"/>
          </a:xfrm>
          <a:prstGeom prst="roundRect">
            <a:avLst/>
          </a:prstGeom>
          <a:solidFill>
            <a:srgbClr val="2B2763"/>
          </a:solidFill>
          <a:ln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77240" y="5541264"/>
            <a:ext cx="457200" cy="457200"/>
          </a:xfrm>
          <a:prstGeom prst="ellipse">
            <a:avLst/>
          </a:prstGeom>
          <a:solidFill>
            <a:srgbClr val="8BC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1B4B"/>
                </a:solidFill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5394960"/>
            <a:ext cx="10058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Segoe UI"/>
              </a:rPr>
              <a:t>O'zgaruvchi faqat sonlar uchun ishlatiladi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A09CD8"/>
                </a:solidFill>
                <a:latin typeface="Segoe UI"/>
              </a:rPr>
              <a:t>O'ylab ko'ring... javobingizni chatga yozing!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743200" cy="50292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✅ JAVOB #3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C8C8E8"/>
                </a:solidFill>
                <a:latin typeface="Segoe UI"/>
              </a:rPr>
              <a:t>O'zgaruvchi bilan o'zgarmas (const) orasidagi farq nima?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31720"/>
            <a:ext cx="11064240" cy="658368"/>
          </a:xfrm>
          <a:prstGeom prst="roundRect">
            <a:avLst/>
          </a:prstGeom>
          <a:solidFill>
            <a:srgbClr val="2B2763"/>
          </a:solidFill>
          <a:ln w="12700"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49808" y="2441448"/>
            <a:ext cx="420624" cy="420624"/>
          </a:xfrm>
          <a:prstGeom prst="ellipse">
            <a:avLst/>
          </a:prstGeom>
          <a:solidFill>
            <a:srgbClr val="555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331720"/>
            <a:ext cx="100584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C8C8E8"/>
                </a:solidFill>
                <a:latin typeface="Segoe UI"/>
              </a:rPr>
              <a:t>O'zgaruvchi ham, o'zgarmas ham bir xil — ikkalasi ham qiymatini o'zgartira oladi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81528"/>
            <a:ext cx="11064240" cy="658368"/>
          </a:xfrm>
          <a:prstGeom prst="roundRect">
            <a:avLst/>
          </a:prstGeom>
          <a:solidFill>
            <a:srgbClr val="E3F2E1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49808" y="3191256"/>
            <a:ext cx="420624" cy="42062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081528"/>
            <a:ext cx="100584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5E20"/>
                </a:solidFill>
                <a:latin typeface="Segoe UI"/>
              </a:rPr>
              <a:t>O'zgaruvchi qiymatini o'zgartirish mumkin, o'zgarmas (const) esa e'lon qilingandan keyin o'zgarmaydi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31336"/>
            <a:ext cx="11064240" cy="658368"/>
          </a:xfrm>
          <a:prstGeom prst="roundRect">
            <a:avLst/>
          </a:prstGeom>
          <a:solidFill>
            <a:srgbClr val="2B2763"/>
          </a:solidFill>
          <a:ln w="12700"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49808" y="3941064"/>
            <a:ext cx="420624" cy="420624"/>
          </a:xfrm>
          <a:prstGeom prst="ellipse">
            <a:avLst/>
          </a:prstGeom>
          <a:solidFill>
            <a:srgbClr val="555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831336"/>
            <a:ext cx="100584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C8C8E8"/>
                </a:solidFill>
                <a:latin typeface="Segoe UI"/>
              </a:rPr>
              <a:t>O'zgarmas faqat matnlar (string) uchun ishlatiladi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581144"/>
            <a:ext cx="11064240" cy="658368"/>
          </a:xfrm>
          <a:prstGeom prst="roundRect">
            <a:avLst/>
          </a:prstGeom>
          <a:solidFill>
            <a:srgbClr val="2B2763"/>
          </a:solidFill>
          <a:ln w="12700"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49808" y="4690872"/>
            <a:ext cx="420624" cy="420624"/>
          </a:xfrm>
          <a:prstGeom prst="ellipse">
            <a:avLst/>
          </a:prstGeom>
          <a:solidFill>
            <a:srgbClr val="555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581144"/>
            <a:ext cx="100584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C8C8E8"/>
                </a:solidFill>
                <a:latin typeface="Segoe UI"/>
              </a:rPr>
              <a:t>O'zgaruvchi faqat sonlar uchun ishlatiladi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422392"/>
            <a:ext cx="11064240" cy="960120"/>
          </a:xfrm>
          <a:prstGeom prst="roundRect">
            <a:avLst/>
          </a:prstGeom>
          <a:solidFill>
            <a:srgbClr val="2B2763"/>
          </a:solidFill>
          <a:ln w="12700">
            <a:solidFill>
              <a:srgbClr val="00B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/>
            <a:r>
              <a:rPr sz="1400">
                <a:solidFill>
                  <a:srgbClr val="E0E0F5"/>
                </a:solidFill>
                <a:latin typeface="Segoe UI"/>
              </a:rPr>
              <a:t>💡 Izoh: O'zgaruvchi (variable) dastur davomida yangi qiymat qabul qilishi mumkin, o'zgarmas (const) esa e'lon qilingan qiymatida abadiy qoladi.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83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83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22960" y="2103120"/>
            <a:ext cx="1828800" cy="1828800"/>
          </a:xfrm>
          <a:prstGeom prst="ellipse">
            <a:avLst/>
          </a:prstGeom>
          <a:solidFill>
            <a:srgbClr val="1E1B4B"/>
          </a:solidFill>
          <a:ln w="31750">
            <a:solidFill>
              <a:srgbClr val="00B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4400" b="1">
                <a:solidFill>
                  <a:srgbClr val="FFFFFF"/>
                </a:solidFill>
              </a:rPr>
              <a:t>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331720"/>
            <a:ext cx="8503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DCFF"/>
                </a:solidFill>
                <a:latin typeface="Segoe UI"/>
              </a:rPr>
              <a:t>3-BO'LIM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743200"/>
            <a:ext cx="85039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FFFFFF"/>
                </a:solidFill>
                <a:latin typeface="Segoe UI"/>
              </a:rPr>
              <a:t>Berilganlar turlari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379476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E8DCFF"/>
                </a:solidFill>
                <a:latin typeface="Segoe UI"/>
              </a:rPr>
              <a:t>Har bir qiymat qanday "turdagi" ma'lumot ekanini C# qanday biladi?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III-BO'LIM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Berilganlar turi (data type) nima?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Berilganlar turi — o'zgaruvchida QANDAY XIL qiymat saqlanishini va u bilan qanday amallar bajarish mumkinligini belgilaydi.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C# — "qat'iy tiplashtirilgan" (strongly typed) til: har bir o'zgaruvchi e'lon qilinganda turi ko'rsatilishi SHART.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Masalan, int turidagi o'zgaruvchiga faqat butun son berish mumkin, string turiga esa matn.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To'g'ri tur tanlash dastur xotiradan qanchalik samarali foydalanishiga va xatoliklarning oldini olishga yordam beradi.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III-BO'LIM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C# dagi asosiy berilganlar turlari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508760"/>
          <a:ext cx="1179576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Tur</a:t>
                      </a:r>
                    </a:p>
                  </a:txBody>
                  <a:tcPr anchor="ctr"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Nima saqlaydi</a:t>
                      </a:r>
                    </a:p>
                  </a:txBody>
                  <a:tcPr anchor="ctr"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Misol qiymat</a:t>
                      </a:r>
                    </a:p>
                  </a:txBody>
                  <a:tcPr anchor="ctr"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3232B"/>
                          </a:solidFill>
                          <a:latin typeface="Segoe UI"/>
                        </a:rPr>
                        <a:t>bool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Mantiqiy qiymat: true yoki false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bool bor = true;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3232B"/>
                          </a:solidFill>
                          <a:latin typeface="Segoe UI"/>
                        </a:rPr>
                        <a:t>int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Butun son (~ -2 mlrd dan +2 mlrd gacha)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int son = 100;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3232B"/>
                          </a:solidFill>
                          <a:latin typeface="Segoe UI"/>
                        </a:rPr>
                        <a:t>long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Juda katta butun son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long son = 10000000000;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3232B"/>
                          </a:solidFill>
                          <a:latin typeface="Segoe UI"/>
                        </a:rPr>
                        <a:t>double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Haqiqiy (kasr) son, yuqori aniqlik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double narx = 15000.50;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3232B"/>
                          </a:solidFill>
                          <a:latin typeface="Segoe UI"/>
                        </a:rPr>
                        <a:t>char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Bitta belgi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char harf = 'A';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3232B"/>
                          </a:solidFill>
                          <a:latin typeface="Segoe UI"/>
                        </a:rPr>
                        <a:t>string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Matn (belgilar ketma-ketligi)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B"/>
                          </a:solidFill>
                          <a:latin typeface="Segoe UI"/>
                        </a:rPr>
                        <a:t>string ism = "Ali";</a:t>
                      </a:r>
                    </a:p>
                  </a:txBody>
                  <a:tcPr marL="109728" anchor="ctr">
                    <a:solidFill>
                      <a:srgbClr val="F0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III-BO'LIM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Qiymat turlari va havola turlari (qisqacha)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5212080" cy="548640"/>
          </a:xfrm>
          <a:prstGeom prst="roundRect">
            <a:avLst/>
          </a:prstGeom>
          <a:solidFill>
            <a:srgbClr val="683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Qiymat turlari (value types)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466344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23232B"/>
                </a:solidFill>
                <a:latin typeface="Segoe UI"/>
              </a:rPr>
              <a:t>•  bool, int, long, double, char kabi "oddiy" turlar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23232B"/>
                </a:solidFill>
                <a:latin typeface="Segoe UI"/>
              </a:rPr>
              <a:t>•  O'zgaruvchi TO'G'RIDAN-TO'G'RI qiymatning o'zini saqlaydi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23232B"/>
                </a:solidFill>
                <a:latin typeface="Segoe UI"/>
              </a:rPr>
              <a:t>•  Nusxa olinganda qiymat butunlay ko'chiriladi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309360" y="1417320"/>
            <a:ext cx="5212080" cy="548640"/>
          </a:xfrm>
          <a:prstGeom prst="round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Havola turlari (reference types)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48840"/>
            <a:ext cx="466344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23232B"/>
                </a:solidFill>
                <a:latin typeface="Segoe UI"/>
              </a:rPr>
              <a:t>•  string va keyingi darslarda o'rganiladigan class'lar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23232B"/>
                </a:solidFill>
                <a:latin typeface="Segoe UI"/>
              </a:rPr>
              <a:t>•  O'zgaruvchi qiymatga HAVOLA (manzil)ni saqlaydi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23232B"/>
                </a:solidFill>
                <a:latin typeface="Segoe UI"/>
              </a:rPr>
              <a:t>•  Hozircha faqat string bilan ishlaymiz — batafsili klasslar mavzusida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III-BO'LIM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Misol: turli xil turlarni e'lon qilish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10881360" cy="23103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solidFill>
              <a:srgbClr val="3C3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411480" rIns="182880" rtlCol="0" anchor="ctr"/>
          <a:lstStyle/>
          <a:p>
            <a:pPr>
              <a:lnSpc>
                <a:spcPct val="122000"/>
              </a:lnSpc>
            </a:pPr>
            <a:r>
              <a:rPr sz="1600" dirty="0">
                <a:solidFill>
                  <a:srgbClr val="569CD6"/>
                </a:solidFill>
                <a:latin typeface="Consolas"/>
              </a:rPr>
              <a:t>bool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D4D4D4"/>
                </a:solidFill>
                <a:latin typeface="Consolas"/>
              </a:rPr>
              <a:t>talabaMi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600" dirty="0">
                <a:solidFill>
                  <a:srgbClr val="569CD6"/>
                </a:solidFill>
                <a:latin typeface="Consolas"/>
              </a:rPr>
              <a:t>true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lnSpc>
                <a:spcPct val="122000"/>
              </a:lnSpc>
            </a:pPr>
            <a:r>
              <a:rPr sz="160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D4D4D4"/>
                </a:solidFill>
                <a:latin typeface="Consolas"/>
              </a:rPr>
              <a:t>kurs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600" dirty="0">
                <a:solidFill>
                  <a:srgbClr val="CE9178"/>
                </a:solidFill>
                <a:latin typeface="Consolas"/>
              </a:rPr>
              <a:t>1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lnSpc>
                <a:spcPct val="122000"/>
              </a:lnSpc>
            </a:pPr>
            <a:r>
              <a:rPr sz="1600" dirty="0">
                <a:solidFill>
                  <a:srgbClr val="569CD6"/>
                </a:solidFill>
                <a:latin typeface="Consolas"/>
              </a:rPr>
              <a:t>double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D4D4D4"/>
                </a:solidFill>
                <a:latin typeface="Consolas"/>
              </a:rPr>
              <a:t>stipendiya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600" dirty="0">
                <a:solidFill>
                  <a:srgbClr val="CE9178"/>
                </a:solidFill>
                <a:latin typeface="Consolas"/>
              </a:rPr>
              <a:t>450000.75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lnSpc>
                <a:spcPct val="122000"/>
              </a:lnSpc>
            </a:pPr>
            <a:r>
              <a:rPr sz="1600" dirty="0">
                <a:solidFill>
                  <a:srgbClr val="569CD6"/>
                </a:solidFill>
                <a:latin typeface="Consolas"/>
              </a:rPr>
              <a:t>char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D4D4D4"/>
                </a:solidFill>
                <a:latin typeface="Consolas"/>
              </a:rPr>
              <a:t>guruhHarfi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600" dirty="0">
                <a:solidFill>
                  <a:srgbClr val="CE9178"/>
                </a:solidFill>
                <a:latin typeface="Consolas"/>
              </a:rPr>
              <a:t>'A'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lnSpc>
                <a:spcPct val="122000"/>
              </a:lnSpc>
            </a:pPr>
            <a:r>
              <a:rPr sz="1600" dirty="0">
                <a:solidFill>
                  <a:srgbClr val="569CD6"/>
                </a:solidFill>
                <a:latin typeface="Consolas"/>
              </a:rPr>
              <a:t>string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D4D4D4"/>
                </a:solidFill>
                <a:latin typeface="Consolas"/>
              </a:rPr>
              <a:t>fakultet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600" dirty="0">
                <a:solidFill>
                  <a:srgbClr val="CE9178"/>
                </a:solidFill>
                <a:latin typeface="Consolas"/>
              </a:rPr>
              <a:t>"</a:t>
            </a:r>
            <a:r>
              <a:rPr sz="1600" dirty="0" err="1">
                <a:solidFill>
                  <a:srgbClr val="CE9178"/>
                </a:solidFill>
                <a:latin typeface="Consolas"/>
              </a:rPr>
              <a:t>Amaliy</a:t>
            </a:r>
            <a:r>
              <a:rPr sz="1600" dirty="0">
                <a:solidFill>
                  <a:srgbClr val="CE9178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CE9178"/>
                </a:solidFill>
                <a:latin typeface="Consolas"/>
              </a:rPr>
              <a:t>matematika</a:t>
            </a:r>
            <a:r>
              <a:rPr sz="1600" dirty="0">
                <a:solidFill>
                  <a:srgbClr val="CE9178"/>
                </a:solidFill>
                <a:latin typeface="Consolas"/>
              </a:rPr>
              <a:t>"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lnSpc>
                <a:spcPct val="122000"/>
              </a:lnSpc>
            </a:pPr>
            <a:r>
              <a:rPr sz="1600" dirty="0" err="1">
                <a:solidFill>
                  <a:srgbClr val="4EC9B0"/>
                </a:solidFill>
                <a:latin typeface="Consolas"/>
              </a:rPr>
              <a:t>Console</a:t>
            </a:r>
            <a:r>
              <a:rPr sz="160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600" dirty="0" err="1">
                <a:solidFill>
                  <a:srgbClr val="DCDCAA"/>
                </a:solidFill>
                <a:latin typeface="Consolas"/>
              </a:rPr>
              <a:t>WriteLine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(</a:t>
            </a:r>
            <a:r>
              <a:rPr sz="1600" dirty="0">
                <a:solidFill>
                  <a:srgbClr val="CE9178"/>
                </a:solidFill>
                <a:latin typeface="Consolas"/>
              </a:rPr>
              <a:t>$"</a:t>
            </a:r>
            <a:r>
              <a:rPr sz="1600" dirty="0" err="1">
                <a:solidFill>
                  <a:srgbClr val="CE9178"/>
                </a:solidFill>
                <a:latin typeface="Consolas"/>
              </a:rPr>
              <a:t>Kurs</a:t>
            </a:r>
            <a:r>
              <a:rPr sz="1600" dirty="0">
                <a:solidFill>
                  <a:srgbClr val="CE9178"/>
                </a:solidFill>
                <a:latin typeface="Consolas"/>
              </a:rPr>
              <a:t>: {</a:t>
            </a:r>
            <a:r>
              <a:rPr sz="1600" dirty="0" err="1">
                <a:solidFill>
                  <a:srgbClr val="CE9178"/>
                </a:solidFill>
                <a:latin typeface="Consolas"/>
              </a:rPr>
              <a:t>kurs</a:t>
            </a:r>
            <a:r>
              <a:rPr sz="1600" dirty="0">
                <a:solidFill>
                  <a:srgbClr val="CE9178"/>
                </a:solidFill>
                <a:latin typeface="Consolas"/>
              </a:rPr>
              <a:t>}, </a:t>
            </a:r>
            <a:r>
              <a:rPr sz="1600" dirty="0" err="1">
                <a:solidFill>
                  <a:srgbClr val="CE9178"/>
                </a:solidFill>
                <a:latin typeface="Consolas"/>
              </a:rPr>
              <a:t>Fakultet</a:t>
            </a:r>
            <a:r>
              <a:rPr sz="1600" dirty="0">
                <a:solidFill>
                  <a:srgbClr val="CE9178"/>
                </a:solidFill>
                <a:latin typeface="Consolas"/>
              </a:rPr>
              <a:t>: {</a:t>
            </a:r>
            <a:r>
              <a:rPr sz="1600" dirty="0" err="1">
                <a:solidFill>
                  <a:srgbClr val="CE9178"/>
                </a:solidFill>
                <a:latin typeface="Consolas"/>
              </a:rPr>
              <a:t>fakultet</a:t>
            </a:r>
            <a:r>
              <a:rPr sz="1600" dirty="0">
                <a:solidFill>
                  <a:srgbClr val="CE9178"/>
                </a:solidFill>
                <a:latin typeface="Consolas"/>
              </a:rPr>
              <a:t>}"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);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1554480"/>
            <a:ext cx="146304" cy="146304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78992" y="1554480"/>
            <a:ext cx="146304" cy="146304"/>
          </a:xfrm>
          <a:prstGeom prst="ellipse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335024" y="1554480"/>
            <a:ext cx="146304" cy="14630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0080" y="3864864"/>
            <a:ext cx="10881360" cy="621792"/>
          </a:xfrm>
          <a:prstGeom prst="roundRect">
            <a:avLst/>
          </a:prstGeom>
          <a:solidFill>
            <a:srgbClr val="F0F0F0"/>
          </a:solidFill>
          <a:ln>
            <a:solidFill>
              <a:srgbClr val="C0C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73152" rtlCol="0" anchor="ctr"/>
          <a:lstStyle/>
          <a:p>
            <a:pPr algn="ctr"/>
            <a:r>
              <a:rPr sz="1200" b="1">
                <a:solidFill>
                  <a:srgbClr val="606070"/>
                </a:solidFill>
                <a:latin typeface="Segoe UI"/>
              </a:rPr>
              <a:t>► NATIJA (Console chiqishi):</a:t>
            </a:r>
          </a:p>
          <a:p>
            <a:r>
              <a:rPr sz="1500">
                <a:solidFill>
                  <a:srgbClr val="1B5E20"/>
                </a:solidFill>
                <a:latin typeface="Consolas"/>
              </a:rPr>
              <a:t>Kurs: 1, Fakultet: Amaliy matematika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96384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606070"/>
                </a:solidFill>
                <a:latin typeface="Segoe UI"/>
              </a:rPr>
              <a:t>$"...{ }" yozuvi — string interpolation, o'zgaruvchini to'g'ridan-to'g'ri matn ichiga qo'yish usuli.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III-BO'LIM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var kalit so'zi (turni avtomatik aniqlash)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var — o'zgaruvchi turini QO'LDA yozish o'rniga, kompilyatorga berilgan qiymatdan turini o'zi aniqlashni buyuradi.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Masalan:  var yosh = 20;   —  kompilyator buni xuddi  int yosh = 20;  deb tushunadi.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MUHIM: var C# ni "dinamik til"ga aylantirmaydi — tur baribir ANIQLANADI, faqat yozish qulayroq bo'ladi. Bir marta belgilangach, tur o'zgarmaydi.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Boshlang'ich bosqichda tur nomini ANIQ yozib o'rganish tavsiya etiladi — bu tushunchani mustahkamlashga yordam beradi; var'dan ko'proq keyinroq foydalanamiz.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743200" cy="502920"/>
          </a:xfrm>
          <a:prstGeom prst="round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E1B4B"/>
                </a:solidFill>
              </a:rPr>
              <a:t>🧠 VIKTORINA #4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"Karimova" qiymatini saqlash uchun qaysi tur mos keladi?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11064240" cy="749808"/>
          </a:xfrm>
          <a:prstGeom prst="roundRect">
            <a:avLst/>
          </a:prstGeom>
          <a:solidFill>
            <a:srgbClr val="2B2763"/>
          </a:solidFill>
          <a:ln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77240" y="2935224"/>
            <a:ext cx="457200" cy="457200"/>
          </a:xfrm>
          <a:prstGeom prst="ellipse">
            <a:avLst/>
          </a:prstGeom>
          <a:solidFill>
            <a:srgbClr val="683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1B4B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788920"/>
            <a:ext cx="10058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Segoe UI"/>
              </a:rPr>
              <a:t>bool — chunki matn qisqa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11064240" cy="749808"/>
          </a:xfrm>
          <a:prstGeom prst="roundRect">
            <a:avLst/>
          </a:prstGeom>
          <a:solidFill>
            <a:srgbClr val="2B2763"/>
          </a:solidFill>
          <a:ln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77240" y="3803904"/>
            <a:ext cx="457200" cy="457200"/>
          </a:xfrm>
          <a:prstGeom prst="ellipse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1B4B"/>
                </a:solidFill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657600"/>
            <a:ext cx="10058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Segoe UI"/>
              </a:rPr>
              <a:t>string — chunki qiymat qo'sh tirnoq ichida yozilgan matn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26280"/>
            <a:ext cx="11064240" cy="749808"/>
          </a:xfrm>
          <a:prstGeom prst="roundRect">
            <a:avLst/>
          </a:prstGeom>
          <a:solidFill>
            <a:srgbClr val="2B2763"/>
          </a:solidFill>
          <a:ln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77240" y="4672584"/>
            <a:ext cx="457200" cy="457200"/>
          </a:xfrm>
          <a:prstGeom prst="ellipse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1B4B"/>
                </a:solidFill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526280"/>
            <a:ext cx="10058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Segoe UI"/>
              </a:rPr>
              <a:t>int — chunki familiyada harflar bor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394960"/>
            <a:ext cx="11064240" cy="749808"/>
          </a:xfrm>
          <a:prstGeom prst="roundRect">
            <a:avLst/>
          </a:prstGeom>
          <a:solidFill>
            <a:srgbClr val="2B2763"/>
          </a:solidFill>
          <a:ln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77240" y="5541264"/>
            <a:ext cx="457200" cy="457200"/>
          </a:xfrm>
          <a:prstGeom prst="ellipse">
            <a:avLst/>
          </a:prstGeom>
          <a:solidFill>
            <a:srgbClr val="8BC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1B4B"/>
                </a:solidFill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5394960"/>
            <a:ext cx="10058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Segoe UI"/>
              </a:rPr>
              <a:t>char — chunki bitta so'z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A09CD8"/>
                </a:solidFill>
                <a:latin typeface="Segoe UI"/>
              </a:rPr>
              <a:t>O'ylab ko'ring... javobingizni chatga yozing!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743200" cy="50292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✅ JAVOB #4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C8C8E8"/>
                </a:solidFill>
                <a:latin typeface="Segoe UI"/>
              </a:rPr>
              <a:t>"Karimova" qiymatini saqlash uchun qaysi tur mos keladi?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31720"/>
            <a:ext cx="11064240" cy="658368"/>
          </a:xfrm>
          <a:prstGeom prst="roundRect">
            <a:avLst/>
          </a:prstGeom>
          <a:solidFill>
            <a:srgbClr val="2B2763"/>
          </a:solidFill>
          <a:ln w="12700"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49808" y="2441448"/>
            <a:ext cx="420624" cy="420624"/>
          </a:xfrm>
          <a:prstGeom prst="ellipse">
            <a:avLst/>
          </a:prstGeom>
          <a:solidFill>
            <a:srgbClr val="555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331720"/>
            <a:ext cx="100584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C8C8E8"/>
                </a:solidFill>
                <a:latin typeface="Segoe UI"/>
              </a:rPr>
              <a:t>bool — chunki matn qisqa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81528"/>
            <a:ext cx="11064240" cy="658368"/>
          </a:xfrm>
          <a:prstGeom prst="roundRect">
            <a:avLst/>
          </a:prstGeom>
          <a:solidFill>
            <a:srgbClr val="E3F2E1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49808" y="3191256"/>
            <a:ext cx="420624" cy="42062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081528"/>
            <a:ext cx="100584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5E20"/>
                </a:solidFill>
                <a:latin typeface="Segoe UI"/>
              </a:rPr>
              <a:t>string — chunki qiymat qo'sh tirnoq ichida yozilgan matn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31336"/>
            <a:ext cx="11064240" cy="658368"/>
          </a:xfrm>
          <a:prstGeom prst="roundRect">
            <a:avLst/>
          </a:prstGeom>
          <a:solidFill>
            <a:srgbClr val="2B2763"/>
          </a:solidFill>
          <a:ln w="12700"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49808" y="3941064"/>
            <a:ext cx="420624" cy="420624"/>
          </a:xfrm>
          <a:prstGeom prst="ellipse">
            <a:avLst/>
          </a:prstGeom>
          <a:solidFill>
            <a:srgbClr val="555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831336"/>
            <a:ext cx="100584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C8C8E8"/>
                </a:solidFill>
                <a:latin typeface="Segoe UI"/>
              </a:rPr>
              <a:t>int — chunki familiyada harflar bor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581144"/>
            <a:ext cx="11064240" cy="658368"/>
          </a:xfrm>
          <a:prstGeom prst="roundRect">
            <a:avLst/>
          </a:prstGeom>
          <a:solidFill>
            <a:srgbClr val="2B2763"/>
          </a:solidFill>
          <a:ln w="12700">
            <a:solidFill>
              <a:srgbClr val="454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49808" y="4690872"/>
            <a:ext cx="420624" cy="420624"/>
          </a:xfrm>
          <a:prstGeom prst="ellipse">
            <a:avLst/>
          </a:prstGeom>
          <a:solidFill>
            <a:srgbClr val="555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581144"/>
            <a:ext cx="100584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C8C8E8"/>
                </a:solidFill>
                <a:latin typeface="Segoe UI"/>
              </a:rPr>
              <a:t>char — chunki bitta so'z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422392"/>
            <a:ext cx="11064240" cy="960120"/>
          </a:xfrm>
          <a:prstGeom prst="roundRect">
            <a:avLst/>
          </a:prstGeom>
          <a:solidFill>
            <a:srgbClr val="2B2763"/>
          </a:solidFill>
          <a:ln w="12700">
            <a:solidFill>
              <a:srgbClr val="00B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/>
            <a:r>
              <a:rPr sz="1400">
                <a:solidFill>
                  <a:srgbClr val="E0E0F5"/>
                </a:solidFill>
                <a:latin typeface="Segoe UI"/>
              </a:rPr>
              <a:t>💡 Izoh: Qo'sh tirnoq ichidagi har qanday matn — bitta harf bo'lsa ham, bir necha so'z bo'lsa ham — string turiga tegishli.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DIQQAT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Yangi boshlovchilar ko'p qiladigan xatolar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Kalit so'zni identifikator sifatida ishlatish:  int class = 5;  — XATO, chunki class band qilingan.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Turlarni aralashtirib yuborish:  int yosh = "yigirma";  — XATO, string qiymatni int o'zgaruvchiga to'g'ridan-to'g'ri berib bo'lmaydi.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const qiymatini keyin o'zgartirishga urinish — har doim kompilyatsiya xatosi beradi.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Identifikatorda bo'sh joy yoki raqam bilan boshlash — masalan  1 son  yoki  talaba ismi.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Katta-kichik harfni chalkashtirish:  Console.writeline(...)  — XATO (to'g'risi: WriteLine, katta W va L bilan).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AMALIYOT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Mustaqil bajarish uchun topshiriq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1-topshiriq: O'zingizning ism, familiya, yosh va fakultetingizni mos turlardagi o'zgaruvchilarga yozib, Console.WriteLine() bilan chiqaring.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2-topshiriq: const yordamida o'z guruhingiz raqamini (masalan const string GURUH = "861-26";) e'lon qiling va uni chiqaring.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3-topshiriq: Kodingizga kamida 2 ta bir qatorli (//) va 1 ta ko'p qatorli (/* */) izoh qo'shing.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4-topshiriq (qo'shimcha): 5 ta noto'g'ri identifikator misolini yozib, nima uchun noto'g'ri ekanini har biriga izoh sifatida yozing.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78424"/>
            <a:ext cx="10881360" cy="585216"/>
          </a:xfrm>
          <a:prstGeom prst="roundRect">
            <a:avLst>
              <a:gd name="adj" fmla="val 15000"/>
            </a:avLst>
          </a:prstGeom>
          <a:solidFill>
            <a:srgbClr val="FFF3D6"/>
          </a:solidFill>
          <a:ln w="12700">
            <a:solidFill>
              <a:srgbClr val="F5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36576" rIns="182880" bIns="36576" rtlCol="0" anchor="ctr"/>
          <a:lstStyle/>
          <a:p>
            <a:pPr algn="ctr">
              <a:lnSpc>
                <a:spcPct val="110000"/>
              </a:lnSpc>
            </a:pPr>
            <a:r>
              <a:rPr sz="1400" i="1">
                <a:solidFill>
                  <a:srgbClr val="7A5400"/>
                </a:solidFill>
                <a:latin typeface="Segoe UI"/>
              </a:rPr>
              <a:t>💡 Bu topshiriq keyingi darsda ko'rib chiqiladigan operatorlar mavzusiga ham zamin tayyorlaydi.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Bugungi dars xulosasi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Identifikator — harf yoki _ bilan boshlanadigan, bo'sh joysiz, katta-kichik harfga sezgir nom.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Kalit so'zlar — C# uchun maxsus ma'noga ega, identifikator sifatida ishlatib bo'lmaydigan band so'zlar.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Literal — kod ichida to'g'ridan-to'g'ri yozilgan aniq qiymat (10, 3.14, "Salom", true).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O'zgaruvchi qiymatini o'zgartirish mumkin, o'zgarmas (const) esa abadiy bir xil qoladi.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Izohlar (// va /* */) dastur ishlashiga ta'sir qilmaydi, faqat kodni tushunarli qiladi.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C# — qat'iy tiplashtirilgan til: bool, int, double, char, string kabi asosiy turlarni o'rgandik.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KEYINGI DARS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3-Ma'ruza: C# tilining amallari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Arifmetik amallar (+, -, *, /, %) va ular bilan ishlash.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Mantiqiy va taqqoslash amallari (&amp;&amp;, ||, ==, !=, &lt;, &gt; va h.k.).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Unar va binar amallar orasidagi farq.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Turlarga oshkor keltirish (type casting) va amallarning ustuvorligi.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23232B"/>
                </a:solidFill>
                <a:latin typeface="Segoe UI"/>
              </a:rPr>
              <a:t>•  Tayyorgarlik: bugungi amaliy topshiriqni bajarib kelishni unutmang!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CD4"/>
                </a:solidFill>
                <a:latin typeface="Segoe UI"/>
              </a:rPr>
              <a:t>MANBALAR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Foydali adabiyotlar va havolalar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5212080" cy="548640"/>
          </a:xfrm>
          <a:prstGeom prst="roundRect">
            <a:avLst/>
          </a:prstGeom>
          <a:solidFill>
            <a:srgbClr val="683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Darsliklar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466344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23232B"/>
                </a:solidFill>
                <a:latin typeface="Segoe UI"/>
              </a:rPr>
              <a:t>•  Adambayev U.E. va b. "Algoritmik tillar va dasturlash. C# tilida dasturlash asoslari" (2023)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23232B"/>
                </a:solidFill>
                <a:latin typeface="Segoe UI"/>
              </a:rPr>
              <a:t>•  Mo'minov B.B. "Dasturlash 1" (2021)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23232B"/>
                </a:solidFill>
                <a:latin typeface="Segoe UI"/>
              </a:rPr>
              <a:t>•  Albahari B. "C# 7.0. Справочник" (2018)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309360" y="1417320"/>
            <a:ext cx="5212080" cy="548640"/>
          </a:xfrm>
          <a:prstGeom prst="round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Onlayn manbalar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48840"/>
            <a:ext cx="466344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23232B"/>
                </a:solidFill>
                <a:latin typeface="Segoe UI"/>
              </a:rPr>
              <a:t>•  metanit.com/sharp/tutorial — Turlar, o'zgaruvchilar bo'limi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23232B"/>
                </a:solidFill>
                <a:latin typeface="Segoe UI"/>
              </a:rPr>
              <a:t>•  learn.microsoft.com/dotnet/csharp — rasmiy C# qo'llanma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23232B"/>
                </a:solidFill>
                <a:latin typeface="Segoe UI"/>
              </a:rPr>
              <a:t>•  www.dastur.uz — o'zbek tilida dasturlash sayti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Dasturlash 1 | 2-Ma'ruza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98480" y="457200"/>
            <a:ext cx="1188720" cy="1188720"/>
          </a:xfrm>
          <a:prstGeom prst="ellipse">
            <a:avLst/>
          </a:prstGeom>
          <a:solidFill>
            <a:srgbClr val="683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65760" y="5852160"/>
            <a:ext cx="822960" cy="822960"/>
          </a:xfrm>
          <a:prstGeom prst="ellipse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Segoe UI"/>
              </a:rPr>
              <a:t>Rahmat! Savollaringiz bormi?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058400" cy="14641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dirty="0">
                <a:solidFill>
                  <a:srgbClr val="D8D8F0"/>
                </a:solidFill>
                <a:latin typeface="Segoe UI"/>
              </a:rPr>
              <a:t>•  📧 </a:t>
            </a:r>
            <a:r>
              <a:rPr sz="1700" dirty="0" err="1">
                <a:solidFill>
                  <a:srgbClr val="D8D8F0"/>
                </a:solidFill>
                <a:latin typeface="Segoe UI"/>
              </a:rPr>
              <a:t>Aloqa</a:t>
            </a:r>
            <a:r>
              <a:rPr sz="1700" dirty="0">
                <a:solidFill>
                  <a:srgbClr val="D8D8F0"/>
                </a:solidFill>
                <a:latin typeface="Segoe UI"/>
              </a:rPr>
              <a:t> </a:t>
            </a:r>
            <a:r>
              <a:rPr sz="1700" dirty="0" err="1">
                <a:solidFill>
                  <a:srgbClr val="D8D8F0"/>
                </a:solidFill>
                <a:latin typeface="Segoe UI"/>
              </a:rPr>
              <a:t>uchun</a:t>
            </a:r>
            <a:r>
              <a:rPr sz="1700" dirty="0">
                <a:solidFill>
                  <a:srgbClr val="D8D8F0"/>
                </a:solidFill>
                <a:latin typeface="Segoe UI"/>
              </a:rPr>
              <a:t>: </a:t>
            </a:r>
            <a:r>
              <a:rPr lang="en-US" altLang="ko-KR" sz="1700" dirty="0">
                <a:solidFill>
                  <a:srgbClr val="D8D8F0"/>
                </a:solidFill>
                <a:latin typeface="Segoe UI"/>
              </a:rPr>
              <a:t>muhiddin@gachon.ac.kr</a:t>
            </a:r>
            <a:endParaRPr sz="1700" dirty="0">
              <a:solidFill>
                <a:srgbClr val="D8D8F0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dirty="0">
                <a:solidFill>
                  <a:srgbClr val="D8D8F0"/>
                </a:solidFill>
                <a:latin typeface="Segoe UI"/>
              </a:rPr>
              <a:t>•  📝 </a:t>
            </a:r>
            <a:r>
              <a:rPr sz="1700" dirty="0" err="1">
                <a:solidFill>
                  <a:srgbClr val="D8D8F0"/>
                </a:solidFill>
                <a:latin typeface="Segoe UI"/>
              </a:rPr>
              <a:t>Amaliy</a:t>
            </a:r>
            <a:r>
              <a:rPr sz="1700" dirty="0">
                <a:solidFill>
                  <a:srgbClr val="D8D8F0"/>
                </a:solidFill>
                <a:latin typeface="Segoe UI"/>
              </a:rPr>
              <a:t> </a:t>
            </a:r>
            <a:r>
              <a:rPr sz="1700" dirty="0" err="1">
                <a:solidFill>
                  <a:srgbClr val="D8D8F0"/>
                </a:solidFill>
                <a:latin typeface="Segoe UI"/>
              </a:rPr>
              <a:t>topshiriq</a:t>
            </a:r>
            <a:r>
              <a:rPr sz="1700" dirty="0">
                <a:solidFill>
                  <a:srgbClr val="D8D8F0"/>
                </a:solidFill>
                <a:latin typeface="Segoe UI"/>
              </a:rPr>
              <a:t> </a:t>
            </a:r>
            <a:r>
              <a:rPr sz="1700" dirty="0" err="1">
                <a:solidFill>
                  <a:srgbClr val="D8D8F0"/>
                </a:solidFill>
                <a:latin typeface="Segoe UI"/>
              </a:rPr>
              <a:t>va</a:t>
            </a:r>
            <a:r>
              <a:rPr sz="1700" dirty="0">
                <a:solidFill>
                  <a:srgbClr val="D8D8F0"/>
                </a:solidFill>
                <a:latin typeface="Segoe UI"/>
              </a:rPr>
              <a:t> </a:t>
            </a:r>
            <a:r>
              <a:rPr sz="1700" dirty="0" err="1">
                <a:solidFill>
                  <a:srgbClr val="D8D8F0"/>
                </a:solidFill>
                <a:latin typeface="Segoe UI"/>
              </a:rPr>
              <a:t>mashg'ulotlar</a:t>
            </a:r>
            <a:r>
              <a:rPr sz="1700" dirty="0">
                <a:solidFill>
                  <a:srgbClr val="D8D8F0"/>
                </a:solidFill>
                <a:latin typeface="Segoe UI"/>
              </a:rPr>
              <a:t> — TA </a:t>
            </a:r>
            <a:r>
              <a:rPr sz="1700" dirty="0" err="1">
                <a:solidFill>
                  <a:srgbClr val="D8D8F0"/>
                </a:solidFill>
                <a:latin typeface="Segoe UI"/>
              </a:rPr>
              <a:t>bilan</a:t>
            </a:r>
            <a:r>
              <a:rPr sz="1700" dirty="0">
                <a:solidFill>
                  <a:srgbClr val="D8D8F0"/>
                </a:solidFill>
                <a:latin typeface="Segoe UI"/>
              </a:rPr>
              <a:t> </a:t>
            </a:r>
            <a:r>
              <a:rPr sz="1700" dirty="0" err="1">
                <a:solidFill>
                  <a:srgbClr val="D8D8F0"/>
                </a:solidFill>
                <a:latin typeface="Segoe UI"/>
              </a:rPr>
              <a:t>davom</a:t>
            </a:r>
            <a:r>
              <a:rPr sz="1700" dirty="0">
                <a:solidFill>
                  <a:srgbClr val="D8D8F0"/>
                </a:solidFill>
                <a:latin typeface="Segoe UI"/>
              </a:rPr>
              <a:t> </a:t>
            </a:r>
            <a:r>
              <a:rPr sz="1700" dirty="0" err="1">
                <a:solidFill>
                  <a:srgbClr val="D8D8F0"/>
                </a:solidFill>
                <a:latin typeface="Segoe UI"/>
              </a:rPr>
              <a:t>etadi</a:t>
            </a:r>
            <a:endParaRPr sz="1700" dirty="0">
              <a:solidFill>
                <a:srgbClr val="D8D8F0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dirty="0">
                <a:solidFill>
                  <a:srgbClr val="D8D8F0"/>
                </a:solidFill>
                <a:latin typeface="Segoe UI"/>
              </a:rPr>
              <a:t>•  📅 </a:t>
            </a:r>
            <a:r>
              <a:rPr sz="1700" dirty="0" err="1">
                <a:solidFill>
                  <a:srgbClr val="D8D8F0"/>
                </a:solidFill>
                <a:latin typeface="Segoe UI"/>
              </a:rPr>
              <a:t>Keyingi</a:t>
            </a:r>
            <a:r>
              <a:rPr sz="1700" dirty="0">
                <a:solidFill>
                  <a:srgbClr val="D8D8F0"/>
                </a:solidFill>
                <a:latin typeface="Segoe UI"/>
              </a:rPr>
              <a:t> </a:t>
            </a:r>
            <a:r>
              <a:rPr sz="1700" dirty="0" err="1">
                <a:solidFill>
                  <a:srgbClr val="D8D8F0"/>
                </a:solidFill>
                <a:latin typeface="Segoe UI"/>
              </a:rPr>
              <a:t>ma'ruza</a:t>
            </a:r>
            <a:r>
              <a:rPr sz="1700" dirty="0">
                <a:solidFill>
                  <a:srgbClr val="D8D8F0"/>
                </a:solidFill>
                <a:latin typeface="Segoe UI"/>
              </a:rPr>
              <a:t>: C# </a:t>
            </a:r>
            <a:r>
              <a:rPr sz="1700" dirty="0" err="1">
                <a:solidFill>
                  <a:srgbClr val="D8D8F0"/>
                </a:solidFill>
                <a:latin typeface="Segoe UI"/>
              </a:rPr>
              <a:t>tilining</a:t>
            </a:r>
            <a:r>
              <a:rPr sz="1700" dirty="0">
                <a:solidFill>
                  <a:srgbClr val="D8D8F0"/>
                </a:solidFill>
                <a:latin typeface="Segoe UI"/>
              </a:rPr>
              <a:t> </a:t>
            </a:r>
            <a:r>
              <a:rPr sz="1700" dirty="0" err="1">
                <a:solidFill>
                  <a:srgbClr val="D8D8F0"/>
                </a:solidFill>
                <a:latin typeface="Segoe UI"/>
              </a:rPr>
              <a:t>amallari</a:t>
            </a:r>
            <a:endParaRPr sz="1700" dirty="0">
              <a:solidFill>
                <a:srgbClr val="D8D8F0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dirty="0">
                <a:solidFill>
                  <a:srgbClr val="D8D8F0"/>
                </a:solidFill>
                <a:latin typeface="Segoe UI"/>
              </a:rPr>
              <a:t>•  🎯 </a:t>
            </a:r>
            <a:r>
              <a:rPr sz="1700" dirty="0" err="1">
                <a:solidFill>
                  <a:srgbClr val="D8D8F0"/>
                </a:solidFill>
                <a:latin typeface="Segoe UI"/>
              </a:rPr>
              <a:t>Faol</a:t>
            </a:r>
            <a:r>
              <a:rPr sz="1700" dirty="0">
                <a:solidFill>
                  <a:srgbClr val="D8D8F0"/>
                </a:solidFill>
                <a:latin typeface="Segoe UI"/>
              </a:rPr>
              <a:t> </a:t>
            </a:r>
            <a:r>
              <a:rPr sz="1700" dirty="0" err="1">
                <a:solidFill>
                  <a:srgbClr val="D8D8F0"/>
                </a:solidFill>
                <a:latin typeface="Segoe UI"/>
              </a:rPr>
              <a:t>qatnashganingiz</a:t>
            </a:r>
            <a:r>
              <a:rPr sz="1700" dirty="0">
                <a:solidFill>
                  <a:srgbClr val="D8D8F0"/>
                </a:solidFill>
                <a:latin typeface="Segoe UI"/>
              </a:rPr>
              <a:t> </a:t>
            </a:r>
            <a:r>
              <a:rPr sz="1700" dirty="0" err="1">
                <a:solidFill>
                  <a:srgbClr val="D8D8F0"/>
                </a:solidFill>
                <a:latin typeface="Segoe UI"/>
              </a:rPr>
              <a:t>uchun</a:t>
            </a:r>
            <a:r>
              <a:rPr sz="1700" dirty="0">
                <a:solidFill>
                  <a:srgbClr val="D8D8F0"/>
                </a:solidFill>
                <a:latin typeface="Segoe UI"/>
              </a:rPr>
              <a:t> </a:t>
            </a:r>
            <a:r>
              <a:rPr sz="1700" dirty="0" err="1">
                <a:solidFill>
                  <a:srgbClr val="D8D8F0"/>
                </a:solidFill>
                <a:latin typeface="Segoe UI"/>
              </a:rPr>
              <a:t>rahmat</a:t>
            </a:r>
            <a:r>
              <a:rPr sz="1700" dirty="0">
                <a:solidFill>
                  <a:srgbClr val="D8D8F0"/>
                </a:solidFill>
                <a:latin typeface="Segoe UI"/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06070"/>
                </a:solidFill>
                <a:latin typeface="Segoe UI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</TotalTime>
  <Words>3094</Words>
  <Application>Microsoft Office PowerPoint</Application>
  <PresentationFormat>Widescreen</PresentationFormat>
  <Paragraphs>434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-apple-system</vt:lpstr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Administrator</dc:creator>
  <cp:keywords/>
  <dc:description>generated using python-pptx</dc:description>
  <cp:lastModifiedBy>Mukhiddin Toshpulatov</cp:lastModifiedBy>
  <cp:revision>9</cp:revision>
  <dcterms:created xsi:type="dcterms:W3CDTF">2013-01-27T09:14:16Z</dcterms:created>
  <dcterms:modified xsi:type="dcterms:W3CDTF">2026-09-21T03:27:09Z</dcterms:modified>
  <cp:category/>
</cp:coreProperties>
</file>
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2-Ma'ruza: C# tilining tashkil etuvchilari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Alfavit, identifikatorlar, kalit so'zlar, literallar. O'zgaruvchilar,
o'zgarmaslar, izohlar. Berilganlar turlari va e'loni.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TAKRORLASH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O'tgan darsni eslaymiz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Dasturlash tili — kompyuterga buyruq berish uchun qat'iy qoidali sun'iy til; .NET — Microsoft'ning bepul, ko'p platformali platformasi.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JIT — IL kodni dastur ishga tushirilayotgan PAYTIDA mashina kodiga o'giruvchi mexanizm.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Visual Studio'da konsol loyihasi yaratdik va birinchi C# dasturimizni yozdik.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dasturi tuzilishi: using → namespace → class → Main() → statementlar (buyruqlar).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Bugun esa C# tilining "harflari"ga — uni tashkil etuvchi eng kichik qismlarga — chuqurroq kiramiz.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darsning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I-BO'LIM: Alfavit, identifikatorlar va kalit so'zlar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C# alifbosi, identifikator yozish qoidalari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Kalit so'zlar (keywords) — band qilingan so'zlar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II-BO'LIM: Literallar, o'zgaruvchilar, o'zgarmaslar, izohlar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Literal turlari, o'zgaruvchi va o'zgarmas e'lon qilish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Izohlar (comments) yozish usullari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III-BO'LIM: Berilganlar turlari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C#dagi asosiy turlar, ularni e'lon qilish, var kalit so'zi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MAQSAD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Dars yakunida siz nimalarga erishasiz?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To'g'ri va noto'g'ri identifikatorni bir-biridan ajrata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tilidagi eng ko'p ishlatiladigan kalit so'zlarni taniysiz.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O'zgaruvchi va o'zgarmasni to'g'ri e'lon qila olasiz, ular orasidagi farqni tushuntirasiz.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Asosiy literal va berilganlar turlarini (int, double, bool, char, string) ishlata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 kodingizga foydali izohlar (comments) yoza olasiz.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1-BO'LIM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Alifbo, identifikatorlar
va kalit so'zlar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C# tilining eng kichik "g'isht"lari — harflar, nomlar va band qilingan so'zlar.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C# alifbosi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qanday til (shu jumladan dasturlash tili ham) o'z "alifbosi" — ruxsat etilgan belgilar to'plamiga ega.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kodini yozishda foydalanish mumkin bo'lgan asosiy belgilar: lotin harflari (A-Z, a-z), raqamlar (0-9), pastki chiziq ( _ ) va maxsus belgilar ( { } ( ) ; , . " ' + - * / va h.k.).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Unicode'ni qo'llab-quvvatlaydi — nazariy jihatdan o'zbekcha yoki boshqa harflar bilan ham nom yozish mumkin, lekin xalqaro amaliyotda DOIM lotin harflaridan foydalaniladi.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Bo'sh joy (probel) va ba'zi maxsus belgilar identifikator (nom) ichida ishlatilmaydi — buni keyingi slaydda ko'ramiz.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Identifikator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Identifikator — o'zgaruvchi, metod, klass yoki boshqa dastur elementiga BERILGAN NOM (masalan: yosh, Main, Program).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Qoidalar: harf yoki pastki chiziq ( _ ) bilan boshlanishi kerak; raqam bilan boshlanishi MUMKIN EMAS.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Birinchi harfdan keyin harf, raqam va pastki chiziqlardan foydalanish mumkin.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Bo'sh joy va maxsus belgilar (-, @, #, va h.k.) ishlatilmaydi.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katta-kichik harflarga SEZGIR: yosh va Yosh — ikki xil, mutlaqo boshqa identifikator hisoblanadi.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Kalit so'zlarni (masalan class, int) oddiy identifikator sifatida ishlatib bo'lmaydi.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To'g'ri va noto'g'ri identifikatorlar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Identifikator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To'g'rimi?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Sababi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yosh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To'g'ri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Harf bilan boshlangan, oddiy nom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_narx1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To'g'ri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Pastki chiziq bilan boshlash ruxsat etiladi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talabaIsmi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To'g'ri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camelCase, harflar va raqamlardan iborat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1narx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NOTO'G'RI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Raqam bilan boshlangan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ism familiya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NOTO'G'RI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Ichida bo'sh joy bor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NOTO'G'RI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C# ning band qilingan kalit so'zi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Quyidagilardan qaysi biri TO'G'RI identifikator?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2ism — chunki u harf bilan tugaydi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talaba_1 — chunki harf bilan boshlanib, raqam va pastki chiziqdan foydalangan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sinf xonasi — chunki ikkita so'zdan iborat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int — chunki qisqa va tushunarli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Quyidagilardan qaysi biri TO'G'RI identifikator?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2ism — chunki u harf bilan tugaydi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talaba_1 — chunki harf bilan boshlanib, raqam va pastki chiziqdan foydalangan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sinf xonasi — chunki ikkita so'zdan iborat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int — chunki qisqa va tushunarli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talaba_1 harf bilan boshlanadi, faqat harf/raqam/pastki chiziqdan iborat — barcha qoidalarga mos keladi. 2ism raqam bilan boshlangan, "sinf xonasi"da bo'sh joy bor, int esa band qilingan kalit so'z.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Kalit so'zlar (keywords)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Kalit so'zlar — C# kompilyatori uchun MAXSUS MA'NOGA ega bo'lgan, oldindan band qilingan so'zlar.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Ularni o'zgaruvchi, metod yoki klass nomi sifatida ishlatib bo'lmaydi (masalan int, class, if kabi nomlarga ega o'zgaruvchi yarata olmaysiz).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da 100 dan ortiq kalit so'z mavjud — barchasini yodlash shart emas, tez-tez ishlatiladiganlari amaliyot davomida o'z-o'zidan yodda qoladi.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Visual Studio kalit so'zlarni kod muharririda boshqa rangda (odatda ko'k) ko'rsatadi — bu ularni tanishni osonlashtiradi.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Eng ko'p ishlatiladigan kalit so'zlar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bIns="73152" rtlCol="0" anchor="ctr"/>
          <a:lstStyle/>
          <a:p>
            <a:pPr algn="ctr"/>
            <a:r>
              <a:rPr sz="1500" b="1">
                <a:solidFill>
                  <a:srgbClr val="683AB7"/>
                </a:solidFill>
                <a:latin typeface="Segoe UI"/>
              </a:rPr>
              <a:t>🔢  int, double, bool, char, string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Berilganlar turlari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46304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bIns="73152" rtlCol="0" anchor="ctr"/>
          <a:lstStyle/>
          <a:p>
            <a:pPr algn="ctr"/>
            <a:r>
              <a:rPr sz="1500" b="1">
                <a:solidFill>
                  <a:srgbClr val="683AB7"/>
                </a:solidFill>
                <a:latin typeface="Segoe UI"/>
              </a:rPr>
              <a:t>🔀  if, else, switch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Shart operatorlari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146304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bIns="73152" rtlCol="0" anchor="ctr"/>
          <a:lstStyle/>
          <a:p>
            <a:pPr algn="ctr"/>
            <a:r>
              <a:rPr sz="1500" b="1">
                <a:solidFill>
                  <a:srgbClr val="683AB7"/>
                </a:solidFill>
                <a:latin typeface="Segoe UI"/>
              </a:rPr>
              <a:t>🔁  for, while, do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Takrorlash operatorlari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bIns="73152" rtlCol="0" anchor="ctr"/>
          <a:lstStyle/>
          <a:p>
            <a:pPr algn="ctr"/>
            <a:r>
              <a:rPr sz="1500" b="1">
                <a:solidFill>
                  <a:srgbClr val="683AB7"/>
                </a:solidFill>
                <a:latin typeface="Segoe UI"/>
              </a:rPr>
              <a:t>🏗️  class, namespace, static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Tuzilma va e'lon so'zlari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310896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bIns="73152" rtlCol="0" anchor="ctr"/>
          <a:lstStyle/>
          <a:p>
            <a:pPr algn="ctr"/>
            <a:r>
              <a:rPr sz="1500" b="1">
                <a:solidFill>
                  <a:srgbClr val="683AB7"/>
                </a:solidFill>
                <a:latin typeface="Segoe UI"/>
              </a:rPr>
              <a:t>↩️  return, void, new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Metod va obyekt bilan bog'liq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3108960"/>
            <a:ext cx="348477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bIns="73152" rtlCol="0" anchor="ctr"/>
          <a:lstStyle/>
          <a:p>
            <a:pPr algn="ctr"/>
            <a:r>
              <a:rPr sz="1500" b="1">
                <a:solidFill>
                  <a:srgbClr val="683AB7"/>
                </a:solidFill>
                <a:latin typeface="Segoe UI"/>
              </a:rPr>
              <a:t>✅  true, false, null, const</a:t>
            </a:r>
          </a:p>
          <a:p>
            <a:r>
              <a:rPr sz="1200">
                <a:solidFill>
                  <a:srgbClr val="23232B"/>
                </a:solidFill>
                <a:latin typeface="Segoe UI"/>
              </a:rPr>
              <a:t>Maxsus qiymatlar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Literal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Literal — kod ichida to'g'ridan-to'g'ri yozilgan, o'zgarmas ANIQ QIYMAT (masalan 10, 3.14, "Salom", true).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Literal — bu qiymatning o'zi; u kompyuter xotirasida biror nom bilan saqlanmaguncha, faqat vaqtinchalik qiymat hisoblanadi.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bir literal turi mos berilganlar turiga ega: 10 — butun son (int), 3.14 — haqiqiy son (double), "Salom" — satr (string).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Literal turlari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Mos keluvchi tur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Butun son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10,  -25,  1000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int, long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Haqiqiy son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3.14,  2.5f,  0.001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double, float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true,  false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bool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'A',  'b',  '5'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char (bitta tirnoq)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Satr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"Salom",  "Dunyo"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string (qo'sh tirnoq)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Bo'sh qiymat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null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har qanday reference tur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Quyidagilardan qaysi biri C# da TO'G'RI 'char' literali?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'Salom' — chunki tirnoq ichida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"A" — chunki harf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'A' — chunki bitta tirnoqda, bitta belgi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A — chunki eng qisqa yozuv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Quyidagilardan qaysi biri TO'G'RI 'char' literali?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'Salom' — chunki tirnoq ichida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"A" — chunki harf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'A' — chunki bitta tirnoqda, bitta belgi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A — chunki eng qisqa yozuv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char turi har doim BITTA belgini bitta tirnoq ' ' ichida saqlaydi. Qo'sh tirnoq " " esa string (satr) uchun ishlatiladi, hattoki bitta harf bo'lsa ham.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2-BO'LIM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O'zgaruvchilar, o'zgarmaslar
va izohlar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Qiymatlarni xotirada saqlash va kodni tushunarli qilish usullari.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O'zgaruvchi (variable)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O'zgaruvchi — dastur ishlashi davomida QIYMATI O'ZGARISHI mumkin bo'lgan, nomlangan xotira joyi.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E'lon qilish sintaksisi:  tur nom = boshlang'ich_qiymat;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Masalan:  int yosh = 20;   —   bu yerda "int" tur, "yosh" nom, "20" boshlang'ich qiymat.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 xil turdagi bir nechta o'zgaruvchini vergul bilan ajratib birga ham e'lon qilish mumkin:  int a = 1, b = 2;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O'zgaruvchiga keyinchalik YANGI qiymat berish mumkin:  yosh = 21;  (tur qayta yozilmaydi, faqat qiymat almashtiriladi).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o'zgaruvchi e'lon qilish va yangilash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yosh = </a:t>
            </a:r>
            <a:r>
              <a:rPr sz="1600">
                <a:solidFill>
                  <a:srgbClr val="CE9178"/>
                </a:solidFill>
                <a:latin typeface="Consolas"/>
              </a:rPr>
              <a:t>20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string</a:t>
            </a:r>
            <a:r>
              <a:rPr sz="1600">
                <a:solidFill>
                  <a:srgbClr val="D4D4D4"/>
                </a:solidFill>
                <a:latin typeface="Consolas"/>
              </a:rPr>
              <a:t> ism = </a:t>
            </a:r>
            <a:r>
              <a:rPr sz="1600">
                <a:solidFill>
                  <a:srgbClr val="CE9178"/>
                </a:solidFill>
                <a:latin typeface="Consolas"/>
              </a:rPr>
              <a:t>"Aziza"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(ism + </a:t>
            </a:r>
            <a:r>
              <a:rPr sz="1600">
                <a:solidFill>
                  <a:srgbClr val="CE9178"/>
                </a:solidFill>
                <a:latin typeface="Consolas"/>
              </a:rPr>
              <a:t>" yosh: "</a:t>
            </a:r>
            <a:r>
              <a:rPr sz="1600">
                <a:solidFill>
                  <a:srgbClr val="D4D4D4"/>
                </a:solidFill>
                <a:latin typeface="Consolas"/>
              </a:rPr>
              <a:t> + yosh);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yosh = </a:t>
            </a:r>
            <a:r>
              <a:rPr sz="1600">
                <a:solidFill>
                  <a:srgbClr val="CE9178"/>
                </a:solidFill>
                <a:latin typeface="Consolas"/>
              </a:rPr>
              <a:t>21</a:t>
            </a:r>
            <a:r>
              <a:rPr sz="1600">
                <a:solidFill>
                  <a:srgbClr val="D4D4D4"/>
                </a:solidFill>
                <a:latin typeface="Consolas"/>
              </a:rPr>
              <a:t>;  </a:t>
            </a:r>
            <a:r>
              <a:rPr sz="1600">
                <a:solidFill>
                  <a:srgbClr val="6A9955"/>
                </a:solidFill>
                <a:latin typeface="Consolas"/>
              </a:rPr>
              <a:t>// qiymat yangilandi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(yosh);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Aziza yosh: 20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86224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E'tibor bering: ism o'zgarmadi, faqat yosh qiymati 20 dan 21 ga yangilandi.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O'zgarmas (constant)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O'zgarmas — dastur davomida QIYMATI HECH QACHON o'zgarmaydigan nomlangan qiymat.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const kalit so'zi bilan e'lon qilinadi:  const double PI = 3.14159;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Nega kerak? Kod ichida "sehrli sonlar" (magic numbers) o'rniga tushunarli nom ishlatish uchun — masalan 3.14159 emas, PI deb yozish kod o'qishni osonlashtiradi.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const o'zgaruvchiga qayta qiymat berishga urinish — KOMPILYATSIYA XATOSI beradi (dastur hatto ishga tushmaydi).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Odatda o'zgarmaslar katta harflar bilan nomlanadi (masalan MAX_YOSH, PI) — bu majburiy emas, lekin keng tarqalgan yaxshi odat.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o'zgarmas (const) bilan ishlash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const double</a:t>
            </a:r>
            <a:r>
              <a:rPr sz="1600">
                <a:solidFill>
                  <a:srgbClr val="D4D4D4"/>
                </a:solidFill>
                <a:latin typeface="Consolas"/>
              </a:rPr>
              <a:t> PI = </a:t>
            </a:r>
            <a:r>
              <a:rPr sz="1600">
                <a:solidFill>
                  <a:srgbClr val="CE9178"/>
                </a:solidFill>
                <a:latin typeface="Consolas"/>
              </a:rPr>
              <a:t>3.14159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double</a:t>
            </a:r>
            <a:r>
              <a:rPr sz="1600">
                <a:solidFill>
                  <a:srgbClr val="D4D4D4"/>
                </a:solidFill>
                <a:latin typeface="Consolas"/>
              </a:rPr>
              <a:t> radius =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double</a:t>
            </a:r>
            <a:r>
              <a:rPr sz="1600">
                <a:solidFill>
                  <a:srgbClr val="D4D4D4"/>
                </a:solidFill>
                <a:latin typeface="Consolas"/>
              </a:rPr>
              <a:t> yuza = PI * radius * radius;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(yuza);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PI = </a:t>
            </a:r>
            <a:r>
              <a:rPr sz="1600">
                <a:solidFill>
                  <a:srgbClr val="CE9178"/>
                </a:solidFill>
                <a:latin typeface="Consolas"/>
              </a:rPr>
              <a:t>3.14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6A9955"/>
                </a:solidFill>
                <a:latin typeface="Consolas"/>
              </a:rPr>
              <a:t>// XATO! const qiymatini o'zgartirib bo'lmaydi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78.53975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(oxirgi qator kompilyatsiya xatosini beradi)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86224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const qiymatini keyinroq o'zgartirishga urinish dastur kompilyatsiyasini butunlay to'xtatadi.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Izohlar (comments)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Izoh — kod ICHIDA yozilgan, lekin dastur BAJARILISHIGA hech qanday ta'sir qilmaydigan matn.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Maqsadi — kodni o'zingiz va boshqalar uchun tushunarli qilish, murakkab qismlarni izohlash.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 qatorli izoh:  //  bilan boshlanadi, qator oxirigacha davom etadi.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Ko'p qatorli izoh:  /*  bilan boshlanadi,  */  bilan tugaydi — bir nechta qatorni qamrab olishi mumkin.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Yaxshi izoh NIMA emas, NEGA ekanini tushuntiradi — kod o'zi "nima qilinayotganini" ko'rsatib turibdi, izoh esa sababini yoritadi.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izohlar qanday yoziladi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80619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// Talabaning yoshini hisoblash uchun o'zgaruvchi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yosh = </a:t>
            </a:r>
            <a:r>
              <a:rPr sz="1600">
                <a:solidFill>
                  <a:srgbClr val="CE9178"/>
                </a:solidFill>
                <a:latin typeface="Consolas"/>
              </a:rPr>
              <a:t>20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/*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   Bu qism talaba haqidagi ma'lumotlarni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   ekranga chiqarish uchun ishlatiladi.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*/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(yosh);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4360671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92191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Izohlar console chiqishiga hech qanday ta'sir qilmaydi — ular faqat kodni o'qiganlar uchun.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O'zgaruvchi bilan o'zgarmas (const) orasidagi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O'zgaruvchi ham, o'zgarmas ham bir xil — ikkalasi ham qiymatini o'zgartira oladi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O'zgaruvchi qiymatini o'zgartirish mumkin, o'zgarmas (const) esa e'lon qilingandan keyin o'zgarmaydi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O'zgarmas faqat matnlar (string) uchun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O'zgaruvchi faqat sonlar uchun ishlatiladi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O'zgaruvchi bilan o'zgarmas (const) orasidagi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O'zgaruvchi ham, o'zgarmas ham bir xil — ikkalasi ham qiymatini o'zgartira oladi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O'zgaruvchi qiymatini o'zgartirish mumkin, o'zgarmas (const) esa e'lon qilingandan keyin o'zgarmaydi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O'zgarmas faqat matnlar (string) uchun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O'zgaruvchi faqat sonlar uchun ishlatiladi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O'zgaruvchi (variable) dastur davomida yangi qiymat qabul qilishi mumkin, o'zgarmas (const) esa e'lon qilingan qiymatida abadiy qoladi.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3-BO'LIM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Berilganlar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Har bir qiymat qanday "turdagi" ma'lumot ekanini C# qanday biladi?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Berilganlar turi (data type)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Berilganlar turi — o'zgaruvchida QANDAY XIL qiymat saqlanishini va u bilan qanday amallar bajarish mumkinligini belgilaydi.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— "qat'iy tiplashtirilgan" (strongly typed) til: har bir o'zgaruvchi e'lon qilinganda turi ko'rsatilishi SHART.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Masalan, int turidagi o'zgaruvchiga faqat butun son berish mumkin, string turiga esa matn.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To'g'ri tur tanlash dastur xotiradan qanchalik samarali foydalanishiga va xatoliklarning oldini olishga yordam beradi.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C# dagi asosiy berilganlar turlari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17957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Tur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Nima saqlaydi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Misol qiymat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bool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Mantiqiy qiymat: true yoki false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bool bor = true;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int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Butun son (~ -2 mlrd dan +2 mlrd gacha)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int son = 100;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long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Juda katta butun son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long son = 10000000000;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double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Haqiqiy (kasr) son, yuqori aniqlik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double narx = 15000.50;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char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Bitta belgi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char harf = 'A';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Matn (belgilar ketma-ketligi)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string ism = "Ali";</a:t>
                      </a:r>
                    </a:p>
                  </a:txBody>
                  <a:tcPr marL="109728" anchor="ctr">
                    <a:solidFill>
                      <a:srgbClr val="F0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Qiymat turlari va havola turlari (qisqacha)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Qiymat turlari (value types)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bool, int, long, double, char kabi "oddiy" turlar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O'zgaruvchi TO'G'RIDAN-TO'G'RI qiymatning o'zini saqlaydi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Nusxa olinganda qiymat butunlay ko'chiriladi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Havola turlari (reference types)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string va keyingi darslarda o'rganiladigan class'lar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O'zgaruvchi qiymatga HAVOLA (manzil)ni saqlaydi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Hozircha faqat string bilan ishlaymiz — batafsili klasslar mavzusida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turli xil turlarni e'lon qilish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3103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411480" rIns="182880" rtlCol="0" anchor="ctr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bool</a:t>
            </a:r>
            <a:r>
              <a:rPr sz="1600">
                <a:solidFill>
                  <a:srgbClr val="D4D4D4"/>
                </a:solidFill>
                <a:latin typeface="Consolas"/>
              </a:rPr>
              <a:t> talabaMi = </a:t>
            </a:r>
            <a:r>
              <a:rPr sz="1600">
                <a:solidFill>
                  <a:srgbClr val="569CD6"/>
                </a:solidFill>
                <a:latin typeface="Consolas"/>
              </a:rPr>
              <a:t>true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kurs = 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double</a:t>
            </a:r>
            <a:r>
              <a:rPr sz="1600">
                <a:solidFill>
                  <a:srgbClr val="D4D4D4"/>
                </a:solidFill>
                <a:latin typeface="Consolas"/>
              </a:rPr>
              <a:t> stipendiya = </a:t>
            </a:r>
            <a:r>
              <a:rPr sz="1600">
                <a:solidFill>
                  <a:srgbClr val="CE9178"/>
                </a:solidFill>
                <a:latin typeface="Consolas"/>
              </a:rPr>
              <a:t>450000.75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char</a:t>
            </a:r>
            <a:r>
              <a:rPr sz="1600">
                <a:solidFill>
                  <a:srgbClr val="D4D4D4"/>
                </a:solidFill>
                <a:latin typeface="Consolas"/>
              </a:rPr>
              <a:t> guruhHarfi = </a:t>
            </a:r>
            <a:r>
              <a:rPr sz="1600">
                <a:solidFill>
                  <a:srgbClr val="CE9178"/>
                </a:solidFill>
                <a:latin typeface="Consolas"/>
              </a:rPr>
              <a:t>'A'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string</a:t>
            </a:r>
            <a:r>
              <a:rPr sz="1600">
                <a:solidFill>
                  <a:srgbClr val="D4D4D4"/>
                </a:solidFill>
                <a:latin typeface="Consolas"/>
              </a:rPr>
              <a:t> fakultet = </a:t>
            </a:r>
            <a:r>
              <a:rPr sz="1600">
                <a:solidFill>
                  <a:srgbClr val="CE9178"/>
                </a:solidFill>
                <a:latin typeface="Consolas"/>
              </a:rPr>
              <a:t>"Amaliy matematika"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$"Kurs: {kurs}, Fakultet: {fakultet}"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864864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tlCol="0" anchor="ctr"/>
          <a:lstStyle/>
          <a:p>
            <a:pPr algn="ctr"/>
            <a:r>
              <a:rPr sz="1200" b="1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Kurs: 1, Fakultet: Amaliy matematika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96384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$"...{ }" yozuvi — string interpolation, o'zgaruvchini to'g'ridan-to'g'ri matn ichiga qo'yish usuli.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var kalit so'zi (turni avtomatik aniqlash)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var — o'zgaruvchi turini QO'LDA yozish o'rniga, kompilyatorga berilgan qiymatdan turini o'zi aniqlashni buyuradi.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Masalan:  var yosh = 20;   —  kompilyator buni xuddi  int yosh = 20;  deb tushunadi.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MUHIM: var C# ni "dinamik til"ga aylantirmaydi — tur baribir ANIQLANADI, faqat yozish qulayroq bo'ladi. Bir marta belgilangach, tur o'zgarmaydi.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Boshlang'ich bosqichda tur nomini ANIQ yozib o'rganish tavsiya etiladi — bu tushunchani mustahkamlashga yordam beradi; var'dan ko'proq keyinroq foydalanamiz.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🧠 VIKTORINA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"Karimova" qiymatini saqlash uchun qaysi tur mos keladi?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bool — chunki matn qisqa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string — chunki qiymat qo'sh tirnoq ichida yozilgan matn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int — chunki familiyada harflar bor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char — chunki bitta so'z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✅ JAVOB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"Karimova" qiymatini saqlash uchun qaysi tur mos keladi?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bool — chunki matn qisqa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string — chunki qiymat qo'sh tirnoq ichida yozilgan matn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int — chunki familiyada harflar bor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char — chunki bitta so'z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Qo'sh tirnoq ichidagi har qanday matn — bitta harf bo'lsa ham, bir necha so'z bo'lsa ham — string turiga tegishli.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Yangi boshlovchilar ko'p qiladigan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Kalit so'zni identifikator sifatida ishlatish:  int class = 5;  — XATO, chunki class band qilingan.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Turlarni aralashtirib yuborish:  int yosh = "yigirma";  — XATO, string qiymatni int o'zgaruvchiga to'g'ridan-to'g'ri berib bo'lmaydi.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const qiymatini keyin o'zgartirishga urinish — har doim kompilyatsiya xatosi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Identifikatorda bo'sh joy yoki raqam bilan boshlash — masalan  1 son  yoki  talaba ismi.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Katta-kichik harfni chalkashtirish:  Console.writeline(...)  — XATO (to'g'risi: WriteLine, katta W va L bilan).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AMALIYOT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1-topshiriq: O'zingizning ism, familiya, yosh va fakultetingizni mos turlardagi o'zgaruvchilarga yozib, Console.WriteLine() bilan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2-topshiriq: const yordamida o'z guruhingiz raqamini (masalan const string GURUH = "861-26";) e'lon qiling va uni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3-topshiriq: Kodingizga kamida 2 ta bir qatorli (//) va 1 ta ko'p qatorli (/* */) izoh qo'shing.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4-topshiriq (qo'shimcha): 5 ta noto'g'ri identifikator misolini yozib, nima uchun noto'g'ri ekanini har biriga izoh sifatida yozing.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Bu topshiriq keyingi darsda ko'rib chiqiladigan operatorlar mavzusiga ham zamin tayyorlaydi.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 xulosasi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Identifikator — harf yoki _ bilan boshlanadigan, bo'sh joysiz, katta-kichik harfga sezgir nom.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Kalit so'zlar — C# uchun maxsus ma'noga ega, identifikator sifatida ishlatib bo'lmaydigan band so'zlar.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Literal — kod ichida to'g'ridan-to'g'ri yozilgan aniq qiymat (10, 3.14, "Salom", true).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O'zgaruvchi qiymatini o'zgartirish mumkin, o'zgarmas (const) esa abadiy bir xil qoladi.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Izohlar (// va /* */) dastur ishlashiga ta'sir qilmaydi, faqat kodni tushunarli qiladi.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— qat'iy tiplashtirilgan til: bool, int, double, char, string kabi asosiy turlarni o'rgandik.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KEYINGI DARS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3-Ma'ruza: C# tilining amallari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Arifmetik amallar (+, -, *, /, %) va ular bilan ishlash.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Mantiqiy va taqqoslash amallari (&amp;&amp;, ||, ==, !=, &lt;, &gt; va h.k.).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Unar va binar amallar orasidagi farq.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Turlarga oshkor keltirish (type casting) va amallarning ustuvorligi.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Tayyorgarlik: bugungi amaliy topshiriqni bajarib kelishni unutmang!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MANBALAR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Foydali adabiyotlar va havolalar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Darsliklar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Adambayev U.E. va b. "Algoritmik tillar va dasturlash. C# tilida dasturlash asoslari" (2023)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Mo'minov B.B. "Dasturlash 1" (2021)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Albahari B. "C# 7.0. Справочник" (2018)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Onlayn manbalar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metanit.com/sharp/tutorial — Turlar, o'zgaruvchilar bo'limi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learn.microsoft.com/dotnet/csharp — rasmiy C# qo'llanma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www.dastur.uz — o'zbek tilida dasturlash sayti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2-Ma'ruza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Rahmat! Savollaringiz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📧 Aloqa uchun: (o'qituvchi email/telefon — dars vaqtida beriladi)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Amaliy topshiriq va mashg'ulotlar — TA bilan davom etadi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ma'ruza: C# tilining amallari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qatnashganingiz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3096</Words>
  <Application>Microsoft Office PowerPoint</Application>
  <PresentationFormat>Widescreen</PresentationFormat>
  <Paragraphs>434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Mukhiddin Toshpulatov</cp:lastModifiedBy>
  <cp:revision>1</cp:revision>
  <dcterms:created xsi:type="dcterms:W3CDTF">2013-01-27T09:14:16Z</dcterms:created>
  <dcterms:modified xsi:type="dcterms:W3CDTF">2026-09-21T02:10:53Z</dcterms:modified>
  <cp:category/>
</cp:coreProperties>
</file>
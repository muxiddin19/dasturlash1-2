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1-Ma'ruza: Kirish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Dasturlash tillari. .NET Core platformasi. Visual Studio muhiti.
Konsol rejimida ishlash. C# da birinchi dastur.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KIRISH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Xush kelibsiz! Onlayn darsimiz qoidalari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semestrda "Dasturlash 1" fanidan 8 soat ma'ruzani men olib boraman, qolgan mashg'ulotlarni universitetdan TA (yordamchi o'qituvchi) olib boradi.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Dars onlayn tarzda o'tiladi — shuning uchun faollik juda muhim: mikrofon/chatdan foydalaning.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bir mavzudan so'ng qisqa VIKTORINA bo'ladi — barchangiz javob bering, bu bilim darajangizni tekshirib boradi.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Kamera imkon qadar yoqilgan bo'lsin, savol tug'ilsa darhol chatga yozing yoki qo'l ko'taring.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Amaliy topshiriqlar, uyga vazifa va Google Forms orqali qo'shimcha testlar keyingi darslarda beriladi.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darsning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I-BO'LIM: Dasturlash tillari va .NET platformasi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Dasturlash va dasturlash tili nima, turlari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.NET Core: imkoniyatlari, afzalliklari, xususiyatlari, JIT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II-BO'LIM: Visual Studio muhiti va konsol rejimi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IDE nima, Visual Studio bilan tanishish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Konsol (Console) rejimida kiritish-chiqarish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III-BO'LIM: C# da birinchi dastur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"Salom, Dunyo!" dasturi, C# dasturi tuzilishi va yozish usullari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MAQSAD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Dars yakunida siz nimalarga erishasiz?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Dasturlash tili va platforma tushunchalarini o'z so'zlaringiz bilan tushuntira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.NET Core platformasining afzalliklarini va JIT kompilyatsiya nima ekanini bilasiz.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Visual Studio'da yangi konsol loyihasini mustaqil yarata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Console.WriteLine() va Console.ReadLine() metodlaridan foydalana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O'zingizning birinchi ishlaydigan C# dasturingizni yozib, uning har bir qismini tushuntira olasiz.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1-BO'LIM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Dasturlash tillari va
.NET platformasi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Dasturlash nima, tillar qanday tasniflanadi va nima uchun aynan .NET/C#ni o'rganamiz?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Dasturlash nima o'zi?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Dasturlash — kompyuterga biror vazifani bajarish uchun aniq va tartibli buyruqlar ketma-ketligini yozish jarayoni.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O'xshatish: oshpaz retsept bo'yicha ovqat pishiradi — retsept qanchalik aniq va tartibli bo'lsa, natija shunchalik to'g'ri chiqadi.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Kompyuter dasturi ham xuddi shunday — bu "retsept", uni bajaruvchi esa kompyuter (protsessor).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Dastur = Algoritm (yechim rejasi) + uni ma'lum bir dasturlash tilida yozib chiqish.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Dasturlash tili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Dasturlash tili — inson kompyuterga buyruq berish uchun foydalanadigan, qat'iy qoidalarga (sintaksisga) ega sun'iy til.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Inson tili (o'zbek, ingliz) kabi emas — dasturlash tilida har bir so'z va belgi aniq ma'noga ega, xatoga yo'l qo'yilmaydi.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Bugungi kunda 700 dan ortiq dasturlash tili mavjud: Python, C++, Java, C#, Pascal, JavaScript va h.k.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bir til o'z vazifasiga ega: veb-sayt uchun, mobil ilova uchun, o'yin uchun, ilmiy hisob-kitob uchun va h.k.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Siz allaqachon Pascal, C++ va Python bilan tanishsiz — bu yangi bilim emas, balki yangi TIL o'rganishdir!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Dasturlash tillari turlari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120640"/>
                <a:gridCol w="32004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Tavsifi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Past darajali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Kompyuter (protsessor)ga yaqin, inson uchun qiyin o'qiladi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Mashina kodi, Assembler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Yuqori darajali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Inson tiliga yaqin, o'qish va yozish oson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Python, C#, Java, C++, Pascal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Kompilyatsiyalanuvchi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Butun dastur oldindan mashina koddiga o'giriladi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C, C++, Pascal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Interpretatsiyalanuvchi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Dastur qator-qator, ishga tushirilayotgan payti o'qiladi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Python, JavaScript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Aralash (C#)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Avval oraliq kodga, so'ng ishga tushirish payti mashina kodiga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C#, Java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Nima uchun aynan C# tilini o'rganamiz?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Universal til: veb-saytlar (ASP.NET), mobil ilovalar, ish stoli dasturlari, o'yinlar (Unity) va sun'iy intellekt loyihalarida qo'llaniladi.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 C++ va Java'ga juda yaqin — C++ bilgan har bir kishi uchun C# ni o'rganish tez va oson.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Microsoft tomonidan yaratilgan va qo'llab-quvvatlanadigan, doimiy rivojlanayotgan zamonaviy til.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Mehnat bozorida eng ko'p talab qilinadigan dasturlash tillaridan biri — yaxshi ish topish imkoniyati yuqori.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Xavfsiz (kuchli tur nazorati) va o'qish/tushunish uchun qulay strukturaga ega.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Dasturlash tili — bu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Kompyuterni tozalash dasturi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Inson kompyuterga buyruq berish uchun ishlatadigan, qat'iy qoidali sun'iy til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Kompyuterning fizik qurilmasi (protsessor)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Internetga ulanish uchun kerakli dastur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Dasturlash tili — bu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Kompyuterni tozalash dasturi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Inson kompyuterga buyruq berish uchun ishlatadigan, qat'iy qoidali sun'iy til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Kompyuterning fizik qurilmasi (protsessor)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Internetga ulanish uchun kerakli dastur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Dasturlash tili — inson bilan kompyuter o'rtasidagi "tarjimon" vazifasini bajaradigan, aniq qoidalarga ega sun'iy til.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.NET nima o'zi?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.NET — Microsoft tomonidan yaratilgan, dasturiy ta'minot ishlab chiqish uchun bepul va ochiq manbali (open-source) platforma.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U dasturlash tili emas — balki dasturlarni yozish, kompilyatsiya qilish va ishga tushirish uchun kerakli barcha vositalar to'plamidir.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Bitta platformada bir nechta tillarda dastur yozish mumkin: C#, F#, Visual Basic.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darsda biz .NET platformasi ustida C# tilida dastur yozishni o'rganamiz.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.NET rivojlanish tarixi (qisqacha)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57600"/>
            <a:ext cx="10515600" cy="381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" y="3584448"/>
            <a:ext cx="201168" cy="201168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22402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683AB7"/>
                </a:solidFill>
                <a:latin typeface="Segoe UI"/>
              </a:rPr>
              <a:t>2002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56032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3232B"/>
                </a:solidFill>
                <a:latin typeface="Segoe UI"/>
              </a:rPr>
              <a:t>.NET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2862072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06070"/>
                </a:solidFill>
                <a:latin typeface="Segoe UI"/>
              </a:rPr>
              <a:t>Faqat Windows uchun, birinchi versiya</a:t>
            </a:r>
          </a:p>
        </p:txBody>
      </p:sp>
      <p:sp>
        <p:nvSpPr>
          <p:cNvPr id="12" name="Oval 11"/>
          <p:cNvSpPr/>
          <p:nvPr/>
        </p:nvSpPr>
        <p:spPr>
          <a:xfrm>
            <a:off x="4227576" y="3584448"/>
            <a:ext cx="201168" cy="201168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2320" y="397764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683AB7"/>
                </a:solidFill>
                <a:latin typeface="Segoe UI"/>
              </a:rPr>
              <a:t>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2320" y="42976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3232B"/>
                </a:solidFill>
                <a:latin typeface="Segoe UI"/>
              </a:rPr>
              <a:t>.NET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2320" y="4599432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06070"/>
                </a:solidFill>
                <a:latin typeface="Segoe UI"/>
              </a:rPr>
              <a:t>Ochiq manbali, ko'p platformali (Windows/Linux/macOS)</a:t>
            </a:r>
          </a:p>
        </p:txBody>
      </p:sp>
      <p:sp>
        <p:nvSpPr>
          <p:cNvPr id="16" name="Oval 15"/>
          <p:cNvSpPr/>
          <p:nvPr/>
        </p:nvSpPr>
        <p:spPr>
          <a:xfrm>
            <a:off x="7732776" y="3584448"/>
            <a:ext cx="201168" cy="201168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7520" y="22402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683AB7"/>
                </a:solidFill>
                <a:latin typeface="Segoe UI"/>
              </a:rPr>
              <a:t>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7520" y="256032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3232B"/>
                </a:solidFill>
                <a:latin typeface="Segoe UI"/>
              </a:rPr>
              <a:t>.NET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7520" y="2862072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06070"/>
                </a:solidFill>
                <a:latin typeface="Segoe UI"/>
              </a:rPr>
              <a:t>Barcha .NET turlari bitta platformaga birlashtirildi</a:t>
            </a:r>
          </a:p>
        </p:txBody>
      </p:sp>
      <p:sp>
        <p:nvSpPr>
          <p:cNvPr id="20" name="Oval 19"/>
          <p:cNvSpPr/>
          <p:nvPr/>
        </p:nvSpPr>
        <p:spPr>
          <a:xfrm>
            <a:off x="11237976" y="3584448"/>
            <a:ext cx="201168" cy="201168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8575" y="397764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683AB7"/>
                </a:solidFill>
                <a:latin typeface="Segoe UI"/>
              </a:rPr>
              <a:t>2023-25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8575" y="42976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3232B"/>
                </a:solidFill>
                <a:latin typeface="Segoe UI"/>
              </a:rPr>
              <a:t>.NET 8 /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8575" y="4599432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06070"/>
                </a:solidFill>
                <a:latin typeface="Segoe UI"/>
              </a:rPr>
              <a:t>"Bir .NET — hamma joyda" g'oyasi to'liq amalga oshdi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.NET Core: imkoniyatlari va afzalliklari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54864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Imkoniyatlari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Veb-ilovalar yaratish (ASP.NET Core)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Mobil ilovalar (.NET MAUI)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Ish stoli dasturlari (WPF, WinForms)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Kompyuter o'yinlari (Unity)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Bulutli xizmatlar va mikroservislar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Sun'iy intellekt va ma'lumotlar tahlili (ML.NET)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5486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Afzalliklari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Ko'p platformali: Windows, Linux, macOS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Yuqori tezkorlik va unumdorlik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Bepul va to'liq ochiq manbali (GitHub'da)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Katta va faol dasturchilar jamoasi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Minglab tayyor kutubxonalar (NuGet)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Microsoft tomonidan uzoq muddatli qo'llab-quvvatlash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.NET Core-ning o'ziga xos xususiyatlari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CLR (Common Language Runtime) — dasturlarni ishga tushiruvchi "yurak": xotirani boshqarish, xavfsizlik, xatoliklarni ushlash shu yerda amalga oshadi.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BCL (Base Class Library) — tayyor, oldindan yozilgan minglab funksiya va klasslar to'plami (masalan, matn, sana, fayl bilan ishlash uchun).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Bir nechta tillarni bitta platformada qo'llab-quvvatlash — C# kodi va F# kodi bir loyihada birga ishlashi mumkin.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NuGet paket menejeri — boshqa dasturchilar yozgan tayyor kutubxonalarni bir necha soniyada loyihangizga qo'shish imkonini beradi.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C# kodi qanday bajariladi?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4703" y="2651760"/>
            <a:ext cx="1627632" cy="137160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Manba kod</a:t>
            </a:r>
          </a:p>
          <a:p>
            <a:pPr algn="ctr"/>
            <a:r>
              <a:rPr sz="1050">
                <a:solidFill>
                  <a:srgbClr val="E0E0F5"/>
                </a:solidFill>
              </a:rPr>
              <a:t>(Program.cs)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42335" y="3218688"/>
            <a:ext cx="256032" cy="237744"/>
          </a:xfrm>
          <a:prstGeom prst="rightArrow">
            <a:avLst/>
          </a:prstGeom>
          <a:solidFill>
            <a:srgbClr val="60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98367" y="2651760"/>
            <a:ext cx="1627632" cy="13716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C# Kompilyator</a:t>
            </a:r>
          </a:p>
          <a:p>
            <a:pPr algn="ctr"/>
            <a:r>
              <a:rPr sz="1050">
                <a:solidFill>
                  <a:srgbClr val="E0E0F5"/>
                </a:solidFill>
              </a:rPr>
              <a:t>(Roslyn)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25999" y="3218688"/>
            <a:ext cx="256032" cy="237744"/>
          </a:xfrm>
          <a:prstGeom prst="rightArrow">
            <a:avLst/>
          </a:prstGeom>
          <a:solidFill>
            <a:srgbClr val="60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82031" y="2651760"/>
            <a:ext cx="1627632" cy="137160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IL kod</a:t>
            </a:r>
          </a:p>
          <a:p>
            <a:pPr algn="ctr"/>
            <a:r>
              <a:rPr sz="1050">
                <a:solidFill>
                  <a:srgbClr val="E0E0F5"/>
                </a:solidFill>
              </a:rPr>
              <a:t>(oraliq til)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09663" y="3218688"/>
            <a:ext cx="256032" cy="237744"/>
          </a:xfrm>
          <a:prstGeom prst="rightArrow">
            <a:avLst/>
          </a:prstGeom>
          <a:solidFill>
            <a:srgbClr val="60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65695" y="2651760"/>
            <a:ext cx="1627632" cy="137160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CLR + JIT</a:t>
            </a:r>
          </a:p>
          <a:p>
            <a:pPr algn="ctr"/>
            <a:r>
              <a:rPr sz="1050">
                <a:solidFill>
                  <a:srgbClr val="E0E0F5"/>
                </a:solidFill>
              </a:rPr>
              <a:t>(ishga tushirish payti)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93327" y="3218688"/>
            <a:ext cx="256032" cy="237744"/>
          </a:xfrm>
          <a:prstGeom prst="rightArrow">
            <a:avLst/>
          </a:prstGeom>
          <a:solidFill>
            <a:srgbClr val="60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49359" y="2651760"/>
            <a:ext cx="1627632" cy="13716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Mashina kodi</a:t>
            </a:r>
          </a:p>
          <a:p>
            <a:pPr algn="ctr"/>
            <a:r>
              <a:rPr sz="1050">
                <a:solidFill>
                  <a:srgbClr val="E0E0F5"/>
                </a:solidFill>
              </a:rPr>
              <a:t>(protsessor tili)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5087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606070"/>
                </a:solidFill>
                <a:latin typeface="Segoe UI"/>
              </a:rPr>
              <a:t>Manba koddan mashina kodigacha bo'lgan yo'l: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C# kodi to'g'ridan-to'g'ri mashina koddiga emas, avval IL (oraliq til)ga o'giriladi — bu .NET ning eng muhim g'oyasi.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JIT (Just-In-Time) kompilyatsiya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JIT — "Just-In-Time" (aynan kerak bo'lgan payt) kompilyatsiya degani: IL kod dastur ISHGA TUSHIRILAYOTGAN paytda mashina kodiga o'giriladi, oldindan emas.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O'xshatish: sinxron tarjimon — spikerning nutqini so'zlab turgan paytida jonli tarjima qiladi (JIT), kitobni oldindan butunlay tarjima qilib qo'yish esa AOT (Ahead-Of-Time) usuliga o'xshaydi.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Shu tufayli bitta IL kod istalgan qurilmada (Windows, Linux, macOS) — o'sha qurilmaning o'z mashina koddiga o'girilib — ishlay oladi.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JIT ishga tushirish paytida kompyuteringiz uchun eng maqbul, optimallashtirilgan mashina kodini yaratadi.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Rasmiy dastur dasturida bu qisqartma "Just Run Time" deb yozilgan, lekin dunyo bo'ylab qabul qilingan to'g'ri atama — "Just-In-Time".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.NET asosida qurilgan zamonaviy texnologiyalar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b="1" sz="1500">
                <a:solidFill>
                  <a:srgbClr val="683AB7"/>
                </a:solidFill>
                <a:latin typeface="Segoe UI"/>
              </a:rPr>
              <a:t>🌐  ASP.NET Core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Veb-saytlar va veb-servislar yaratish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46304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b="1" sz="1500">
                <a:solidFill>
                  <a:srgbClr val="683AB7"/>
                </a:solidFill>
                <a:latin typeface="Segoe UI"/>
              </a:rPr>
              <a:t>📱  .NET MAUI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Android/iOS uchun mobil ilovalar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46304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b="1" sz="1500">
                <a:solidFill>
                  <a:srgbClr val="683AB7"/>
                </a:solidFill>
                <a:latin typeface="Segoe UI"/>
              </a:rPr>
              <a:t>🖥️  WPF / WinForms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Windows ish stoli dasturlari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b="1" sz="1500">
                <a:solidFill>
                  <a:srgbClr val="683AB7"/>
                </a:solidFill>
                <a:latin typeface="Segoe UI"/>
              </a:rPr>
              <a:t>🎮  Unity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2D/3D kompyuter o'yinlari (C# skriptlar)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310896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b="1" sz="1500">
                <a:solidFill>
                  <a:srgbClr val="683AB7"/>
                </a:solidFill>
                <a:latin typeface="Segoe UI"/>
              </a:rPr>
              <a:t>☁️  Azure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Bulutli xizmatlar va serverlar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310896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b="1" sz="1500">
                <a:solidFill>
                  <a:srgbClr val="683AB7"/>
                </a:solidFill>
                <a:latin typeface="Segoe UI"/>
              </a:rPr>
              <a:t>🤖  ML.NET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Mashinaviy o'rganish (AI) loyihalari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JIT (Just-In-Time) kompilyatsiya — bu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Dastur yozilgandan keyin uni butunlay o'chirib tashlash usuli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IL (oraliq) kodni dastur ishga tushirilayotgan paytda mashina kodiga o'girish jarayoni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Faqat Windows tizimida ishlaydigan eski texnologiya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Internetdan dastur yuklab olish usuli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JIT (Just-In-Time) kompilyatsiya — bu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Dastur yozilgandan keyin uni butunlay o'chirib tashlash usuli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IL (oraliq) kodni dastur ishga tushirilayotgan paytda mashina kodiga o'girish jarayoni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Faqat Windows tizimida ishlaydigan eski texnologiya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Internetdan dastur yuklab olish usuli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JIT — dastur ishga tushirilayotgan aynan o'sha paytda IL kodni protsessorga tushunarli mashina kodiga o'giradi. Shu sabab bitta dastur turli qurilmalarda ishlay oladi.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2-BO'LIM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Visual Studio muhiti va
konsol rejimi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Dasturlash muhiti (IDE) bilan tanishamiz va birinchi loyihani yaratamiz.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IDE (dasturlash muhiti)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IDE — Integrated Development Environment (Integratsiyalashgan ishlab chiqish muhiti): kod yozish, tekshirish va ishga tushirish uchun barcha vositalar bitta dasturda jamlangan.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O'xshatish: oddiy oshxona (bitta pichoq bilan) va professional, to'liq jihozlangan oshxona (barcha asboblar tayyor) orasidagi farq kabi.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IDE tarkibida: kod muharriri, kompilyator, xato aniqlovchi (debugger) va loyiha boshqaruvchisi bo'ladi.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Biz ushbu kursda Microsoft Visual Studio dasturidan foydalanamiz.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Visual Studio bilan tanishuv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Visual Studio — Microsoft tomonidan yaratilgan, C#/.NET dasturlash uchun eng mashhur va professional IDE.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"Community" versiyasi — talabalar va shaxsiy foydalanish uchun MUTLAQO BEPUL.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visualstudio.microsoft.com saytidan yuklab olinadi (o'rnatishda ".NET desktop development" komponentini belgilash kerak).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Farqi: Visual Studio Code — bu yengil matn muharriri (kichik loyihalar uchun qulay), Visual Studio esa katta, to'liq IDE (biz shundan foydalanamiz).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Visual Studio interfeysi (sxematik ko'rinish)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4846320"/>
          </a:xfrm>
          <a:prstGeom prst="roundRect">
            <a:avLst/>
          </a:prstGeom>
          <a:solidFill>
            <a:srgbClr val="E8E8F0"/>
          </a:solidFill>
          <a:ln>
            <a:solidFill>
              <a:srgbClr val="B0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7218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File   Edit   View   Project   Build   Debug  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828800"/>
            <a:ext cx="2743200" cy="4069080"/>
          </a:xfrm>
          <a:prstGeom prst="rect">
            <a:avLst/>
          </a:prstGeom>
          <a:solidFill>
            <a:srgbClr val="F5F5FA"/>
          </a:solidFill>
          <a:ln>
            <a:solidFill>
              <a:srgbClr val="B0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92024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83AB7"/>
                </a:solidFill>
                <a:latin typeface="Segoe UI"/>
              </a:rPr>
              <a:t>SOLUTION 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28600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3232B"/>
                </a:solidFill>
                <a:latin typeface="Segoe UI"/>
              </a:rPr>
              <a:t>•  📁 LectureDemo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3232B"/>
                </a:solidFill>
                <a:latin typeface="Segoe UI"/>
              </a:rPr>
              <a:t>•     📁 Dependencies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3232B"/>
                </a:solidFill>
                <a:latin typeface="Segoe UI"/>
              </a:rPr>
              <a:t>•     📄 Program.cs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8138160" cy="3154680"/>
          </a:xfrm>
          <a:prstGeom prst="rect">
            <a:avLst/>
          </a:prstGeom>
          <a:solidFill>
            <a:srgbClr val="1E1E1E"/>
          </a:solidFill>
          <a:ln>
            <a:solidFill>
              <a:srgbClr val="B0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BCD4"/>
                </a:solidFill>
                <a:latin typeface="Segoe UI"/>
              </a:rPr>
              <a:t>Program.cs — KOD MUHARRIRI (Code Editor)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3172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E9178"/>
                </a:solidFill>
                <a:latin typeface="Consolas"/>
              </a:rPr>
              <a:t>Console.WriteLine("Salom, Dunyo!");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138160" cy="1280160"/>
          </a:xfrm>
          <a:prstGeom prst="rect">
            <a:avLst/>
          </a:prstGeom>
          <a:solidFill>
            <a:srgbClr val="202020"/>
          </a:solidFill>
          <a:ln>
            <a:solidFill>
              <a:srgbClr val="B0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56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CCC65"/>
                </a:solidFill>
                <a:latin typeface="Segoe UI"/>
              </a:rPr>
              <a:t>OUTPUT / TERMINAL (natijalar oynasi)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CCC65"/>
                </a:solidFill>
                <a:latin typeface="Consolas"/>
              </a:rPr>
              <a:t>Salom, Dunyo!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Yangi konsol loyihasini yaratish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508760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Visual Studio dasturini oching va "Create a new project" tugmasini bosing.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41448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441448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Loyiha turlari ro'yxatidan "Console App" (C#) ni tanlang.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3374136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Loyihangizga nom bering (masalan: LectureDemo) va saqlanadigan joyni belgilang.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306824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4306824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.NET versiyasini tanlab, "Create" (Yaratish) tugmasini bosing.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239512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5239512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Visual Studio avtomatik ravishda Program.cs faylini tayyor holda ochadi — bu yerda kod yozamiz!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Konsol (Console) rejimi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Konsol rejimi — dastur bilan faqat MATN orqali muloqot qilinadigan rejim (grafik oynasiz, tugma va rasmlarsiz).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Kiritish (input) — foydalanuvchi klaviaturadan matn kiritadi.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Chiqarish (output) — dastur natijani ekranga matn ko'rinishida chiqaradi.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— dasturlashni o'rganishni boshlashning eng sodda va tushunarli usuli, shuning uchun barcha darsliklar shundan boshlaydi.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Console klassining asosiy metodlari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846320"/>
                <a:gridCol w="30175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Metod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Console.WriteLine()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Matnni chiqarib, keyingi qatorga o'tadi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Console.WriteLine("Salom!");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Console.Write()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Matnni chiqaradi, qatorni almashtirmaydi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Console.Write("Ism: ");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Console.ReadLine()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Foydalanuvchidan bir qator matn qabul qiladi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string ism = Console.ReadLine();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Console.ReadKey()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Bitta tugma bosilishini kutib turadi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Console.ReadKey();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konsolga matn chiqarish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56667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// Oddiy konsol chiqishi misoli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"Salom, Dunyo!"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"Men C# o'rganyapman."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121152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Salom, Dunyo!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Men C# o'rganyapman.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0416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Console.WriteLine() har chaqirilganda natija yangi qatorda chiqadi.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Quyidagilardan qaysi biri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Console.ReadLine() — chiqarish, Console.WriteLine() — kiritish uchun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Console.WriteLine() — foydalanuvchidan matn oladi, Console.Write() — ekranga chiqaradi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Console.WriteLine() — ekranga chiqarib, qatorni almashtiradi; Console.ReadLine() — foydalanuvchidan matn qabul qiladi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Ikkalasi ham bir xil vazifani bajaradi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Quyidagilardan qaysi biri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Console.ReadLine() — chiqarish, Console.WriteLine() — kiritish uchun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Console.WriteLine() — foydalanuvchidan matn oladi, Console.Write() — ekranga chiqaradi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Console.WriteLine() — ekranga chiqarib, qatorni almashtiradi; Console.ReadLine() — foydalanuvchidan matn qabul qiladi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Ikkalasi ham bir xil vazifani bajaradi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WriteLine — ekranga matn CHIQARADI va qatorni almashtiradi; ReadLine — foydalanuvchidan klaviatura orqali matn QABUL QILADI.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3-BO'LIM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C# da birinchi dastur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"Salom, Dunyo!" dasturini birga yozamiz va C# dasturining tuzilishini o'rganamiz.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C# dasturining tuzilishi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6035040" cy="420624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lnSpc>
                <a:spcPct val="120000"/>
              </a:lnSpc>
            </a:pPr>
            <a:r>
              <a:rPr sz="1450">
                <a:solidFill>
                  <a:srgbClr val="569CD6"/>
                </a:solidFill>
                <a:latin typeface="Consolas"/>
              </a:rPr>
              <a:t>using</a:t>
            </a:r>
            <a:r>
              <a:rPr sz="1450">
                <a:solidFill>
                  <a:srgbClr val="D4D4D4"/>
                </a:solidFill>
                <a:latin typeface="Consolas"/>
              </a:rPr>
              <a:t> System;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569CD6"/>
                </a:solidFill>
                <a:latin typeface="Consolas"/>
              </a:rPr>
              <a:t>namespace</a:t>
            </a:r>
            <a:r>
              <a:rPr sz="1450">
                <a:solidFill>
                  <a:srgbClr val="4EC9B0"/>
                </a:solidFill>
                <a:latin typeface="Consolas"/>
              </a:rPr>
              <a:t> LectureDemo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569CD6"/>
                </a:solidFill>
                <a:latin typeface="Consolas"/>
              </a:rPr>
              <a:t>    class</a:t>
            </a:r>
            <a:r>
              <a:rPr sz="1450">
                <a:solidFill>
                  <a:srgbClr val="4EC9B0"/>
                </a:solidFill>
                <a:latin typeface="Consolas"/>
              </a:rPr>
              <a:t> Program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569CD6"/>
                </a:solidFill>
                <a:latin typeface="Consolas"/>
              </a:rPr>
              <a:t>        static</a:t>
            </a:r>
            <a:r>
              <a:rPr sz="1450">
                <a:solidFill>
                  <a:srgbClr val="569CD6"/>
                </a:solidFill>
                <a:latin typeface="Consolas"/>
              </a:rPr>
              <a:t> void</a:t>
            </a:r>
            <a:r>
              <a:rPr sz="1450">
                <a:solidFill>
                  <a:srgbClr val="DCDCAA"/>
                </a:solidFill>
                <a:latin typeface="Consolas"/>
              </a:rPr>
              <a:t> Main</a:t>
            </a:r>
            <a:r>
              <a:rPr sz="1450">
                <a:solidFill>
                  <a:srgbClr val="D4D4D4"/>
                </a:solidFill>
                <a:latin typeface="Consolas"/>
              </a:rPr>
              <a:t>(</a:t>
            </a:r>
            <a:r>
              <a:rPr sz="1450">
                <a:solidFill>
                  <a:srgbClr val="569CD6"/>
                </a:solidFill>
                <a:latin typeface="Consolas"/>
              </a:rPr>
              <a:t>string</a:t>
            </a:r>
            <a:r>
              <a:rPr sz="1450">
                <a:solidFill>
                  <a:srgbClr val="D4D4D4"/>
                </a:solidFill>
                <a:latin typeface="Consolas"/>
              </a:rPr>
              <a:t>[] args)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4EC9B0"/>
                </a:solidFill>
                <a:latin typeface="Consolas"/>
              </a:rPr>
              <a:t>            Console</a:t>
            </a:r>
            <a:r>
              <a:rPr sz="1450">
                <a:solidFill>
                  <a:srgbClr val="D4D4D4"/>
                </a:solidFill>
                <a:latin typeface="Consolas"/>
              </a:rPr>
              <a:t>.</a:t>
            </a:r>
            <a:r>
              <a:rPr sz="1450">
                <a:solidFill>
                  <a:srgbClr val="DCDCAA"/>
                </a:solidFill>
                <a:latin typeface="Consolas"/>
              </a:rPr>
              <a:t>WriteLine</a:t>
            </a:r>
            <a:r>
              <a:rPr sz="1450">
                <a:solidFill>
                  <a:srgbClr val="D4D4D4"/>
                </a:solidFill>
                <a:latin typeface="Consolas"/>
              </a:rPr>
              <a:t>(</a:t>
            </a:r>
            <a:r>
              <a:rPr sz="1450">
                <a:solidFill>
                  <a:srgbClr val="CE9178"/>
                </a:solidFill>
                <a:latin typeface="Consolas"/>
              </a:rPr>
              <a:t>"Salom, Dunyo!"</a:t>
            </a:r>
            <a:r>
              <a:rPr sz="145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sz="14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83AB7"/>
                </a:solidFill>
                <a:latin typeface="Consolas"/>
              </a:rPr>
              <a:t>using System;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470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232B"/>
                </a:solidFill>
                <a:latin typeface="Segoe UI"/>
              </a:rPr>
              <a:t>Kutubxonani ulash — Console kabi tayyor vositalardan foydalanish uchun.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9572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83AB7"/>
                </a:solidFill>
                <a:latin typeface="Consolas"/>
              </a:rPr>
              <a:t>namespace LectureDemo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883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232B"/>
                </a:solidFill>
                <a:latin typeface="Segoe UI"/>
              </a:rPr>
              <a:t>Nomlar fazosi — loyihadagi kodlarni guruhlab, chalkashlikning oldini oladi.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3697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83AB7"/>
                </a:solidFill>
                <a:latin typeface="Consolas"/>
              </a:rPr>
              <a:t>class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52958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232B"/>
                </a:solidFill>
                <a:latin typeface="Segoe UI"/>
              </a:rPr>
              <a:t>Klass — dasturimizning asosiy "qutisi", barcha kod shu ichida yoziladi.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0782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83AB7"/>
                </a:solidFill>
                <a:latin typeface="Consolas"/>
              </a:rPr>
              <a:t>static void Main(...)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7083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232B"/>
                </a:solidFill>
                <a:latin typeface="Segoe UI"/>
              </a:rPr>
              <a:t>Main metodi — dastur ISHGA TUSHGANDA birinchi bajariladigan joy (kirish nuqtasi).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9194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83AB7"/>
                </a:solidFill>
                <a:latin typeface="Consolas"/>
              </a:rPr>
              <a:t>Console.WriteLine(...)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21208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3232B"/>
                </a:solidFill>
                <a:latin typeface="Segoe UI"/>
              </a:rPr>
              <a:t>Bajariladigan buyruq (statement) — ekranga matn chiqaradi.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"Salom, Dunyo!" — to'liq dastur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342595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400">
                <a:solidFill>
                  <a:srgbClr val="569CD6"/>
                </a:solidFill>
                <a:latin typeface="Consolas"/>
              </a:rPr>
              <a:t>using</a:t>
            </a:r>
            <a:r>
              <a:rPr sz="1400">
                <a:solidFill>
                  <a:srgbClr val="D4D4D4"/>
                </a:solidFill>
                <a:latin typeface="Consolas"/>
              </a:rPr>
              <a:t> System;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569CD6"/>
                </a:solidFill>
                <a:latin typeface="Consolas"/>
              </a:rPr>
              <a:t>namespace</a:t>
            </a:r>
            <a:r>
              <a:rPr sz="1400">
                <a:solidFill>
                  <a:srgbClr val="4EC9B0"/>
                </a:solidFill>
                <a:latin typeface="Consolas"/>
              </a:rPr>
              <a:t> LectureDemo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569CD6"/>
                </a:solidFill>
                <a:latin typeface="Consolas"/>
              </a:rPr>
              <a:t>class</a:t>
            </a:r>
            <a:r>
              <a:rPr sz="1400">
                <a:solidFill>
                  <a:srgbClr val="4EC9B0"/>
                </a:solidFill>
                <a:latin typeface="Consolas"/>
              </a:rPr>
              <a:t> Program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569CD6"/>
                </a:solidFill>
                <a:latin typeface="Consolas"/>
              </a:rPr>
              <a:t>static</a:t>
            </a:r>
            <a:r>
              <a:rPr sz="1400">
                <a:solidFill>
                  <a:srgbClr val="569CD6"/>
                </a:solidFill>
                <a:latin typeface="Consolas"/>
              </a:rPr>
              <a:t> void</a:t>
            </a:r>
            <a:r>
              <a:rPr sz="1400">
                <a:solidFill>
                  <a:srgbClr val="DCDCAA"/>
                </a:solidFill>
                <a:latin typeface="Consolas"/>
              </a:rPr>
              <a:t> Main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569CD6"/>
                </a:solidFill>
                <a:latin typeface="Consolas"/>
              </a:rPr>
              <a:t>string</a:t>
            </a:r>
            <a:r>
              <a:rPr sz="1400">
                <a:solidFill>
                  <a:srgbClr val="D4D4D4"/>
                </a:solidFill>
                <a:latin typeface="Consolas"/>
              </a:rPr>
              <a:t>[] args)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400">
                <a:solidFill>
                  <a:srgbClr val="4EC9B0"/>
                </a:solidFill>
                <a:latin typeface="Consolas"/>
              </a:rPr>
              <a:t>Console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DCDCAA"/>
                </a:solidFill>
                <a:latin typeface="Consolas"/>
              </a:rPr>
              <a:t>WriteLine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CE9178"/>
                </a:solidFill>
                <a:latin typeface="Consolas"/>
              </a:rPr>
              <a:t>"Salom, Dunyo!"</a:t>
            </a:r>
            <a:r>
              <a:rPr sz="14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lnSpc>
                <a:spcPct val="122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980432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Salom, Dunyo!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119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Bu — har bir dasturchining birinchi an'anaviy dasturi! Endi uni birga yozamiz va ishga tushiramiz.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Har bir qatorni tushuntiramiz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9494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Qator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Ma'nosi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using System;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Standart kutubxonani (Console shu yerda) loyihaga ulaydi.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namespace LectureDemo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Kodlarimiz qaysi "nomlar fazosi"ga tegishli ekanini bildiradi.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class Program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Dastur kodini jamlovchi asosiy klass ("quti").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static void Main(string[] args)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Dastur ishga tushganda ENG BIRINCHI chaqiriladigan metod.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Console.WriteLine("...");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Ekranga matn chiqaradi — bu bajariladigan buyruq (statement).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{ }  (figurali qavslar)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Kod blokini — klass yoki metod chegarasini bildiradi.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Yozish usullari: qisqartirilgan (top-level) shakl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31876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// Zamonaviy (qisqartirilgan) yozish usuli — .NET 6+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"Salom, Dunyo!"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873247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Salom, Dunyo!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04767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Yangi Visual Studio loyihalarida namespace/class/Main avtomatik "yashirilgan" — ikkala usul ham bir xil natija beradi, ichki tuzilishini tushunish esa MUHIM.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C# yozish qoidalari (sintaksis)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bir buyruq (statement) nuqta-vergul ";" bilan tugaydi — bu qoidani unutmang!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Figurali qavslar { } kod blokini (klass, metod, shart, sikl chegarasini) bildiradi.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katta-kichik harflarga SEZGIR (case-sensitive): Console va console — ikki xil narsa!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Izohlar (comments): // — bir qatorlik izoh, /* ... */ — ko'p qatorlik izoh. Izohlar dastur ishlashiga ta'sir qilmaydi, faqat inson uchun tushuntirish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Kodni to'g'ri joylashtirish (indentation) — kodni o'qishni osonlashtiradi, Visual Studio buni avtomatik qiladi.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Nomlash qoidalari (naming conventions)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310896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Uslub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Qo'llanilishi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PascalCase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Klass va metod nomlari uchun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class Program,  Main(),  WriteLine()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camelCase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O'zgaruvchi nomlari uchun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int yosh;  string ism;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Tavsif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Nomlar tushunarli va mazmunli bo'lishi kerak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yosh — yaxshi,  x1 — yomon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749040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Yaxshi nomlangan kod — o'zingiz va boshqalar uchun ham oson tushuniladigan kod!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Quyidagilardan qaysi biri TO'G'RI gap?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Main() metodi — dastur ishga tushganda birinchi bajariladigan joy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using System; — dasturni internetdan yuklab beradi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// belgisi ko'p qatorli izoh uchun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C# katta-kichik harflarni farqlamaydi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Quyidagilardan qaysi biri TO'G'RI gap?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Main() metodi — dastur ishga tushganda birinchi bajariladigan joy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using System; — dasturni internetdan yuklab beradi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// belgisi ko'p qatorli izoh uchun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C# katta-kichik harflarni farqlamaydi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Main() metodi — C# dasturining KIRISH NUQTASI: dastur ishga tushganda protsessor birinchi bo'lib shu metodni bajaradi.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AMALIYOT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1-topshiriq: Agar hali qilmagan bo'lsangiz, o'z kompyuteringizga Visual Studio Community'ni o'rnating.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2-topshiriq: Yangi Console App loyihasi yarating (nomi: MyFirstProgram).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3-topshiriq: Console.WriteLine() yordamida ekranga o'z ismingiz, familiyangiz va guruhingizni chiqaring (kamida 3 qator).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4-topshiriq (qo'shimcha): Console.ReadLine() yordamida ismingizni kiritishni so'rab, keyin uni ekranga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Tayyor loyihangizni keyingi darsda ko'rsatishga tayyor bo'ling!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78424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Qiynalsangiz — bemalol TA yoki menga chatda savol bering, xato qilishdan qo'rqmang!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 xulosasi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Dasturlash tili — kompyuterga buyruq berish uchun qat'iy qoidali sun'iy til.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.NET — Microsoft'ning bepul, ochiq manbali, ko'p platformali dasturlash platformasi.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JIT — IL kodni ishga tushirish PAYTIDA mashina kodiga o'giruvchi mexanizm.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Visual Studio — kod yozish, tekshirish va ishga tushirish uchun to'liq IDE.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dasturi: using → namespace → class → Main() → statementlar (buyruqlar) tuzilishiga ega.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Console.WriteLine() — chiqarish, Console.ReadLine() — kiritish uchun ishlatiladi.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KEYINGI DARS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2-Ma'ruza: C# tilining tashkil etuvchilari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Alfavit va identifikatorlar — o'zgaruvchi va metodlarga qanday nom berish mumkin.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Kalit so'zlar (keywords) — C# tilida band qilingan maxsus so'zlar.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Literallar, o'zgaruvchilar va o'zgarmaslar (const) tushunchalari.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Izohlar (comments) yozish usullari batafsil.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Tayyorgarlik: bugungi amaliy topshiriqni bajarib kelishni unutmang!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MANBALAR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Foydali adabiyotlar va havolalar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54864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Darsliklar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Adambayev U.E. va b. "Algoritmik tillar va dasturlash. C# tilida dasturlash asoslari" (2023)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Mo'minov B.B. "Dasturlash 1" (2021)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Albahari B. "C# 7.0. Справочник" (2018)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Troelsen A., Japikse P. "Pro C# with .NET Core" (Apress)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5486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Onlayn manbalar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metanit.com/sharp/tutorial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www.dastur.uz — o'zbek tilida dasturlash sayti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learn.microsoft.com/dotnet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code-live.uz, robocontest.uz — mashq qilish uchun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Rahmat! Savollaringiz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📧 Aloqa uchun: (o'qituvchi email/telefon — dars vaqtida beriladi)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Amaliy topshiriq va mashg'ulotlar — TA bilan davom etadi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ma'ruza: C# tilining tashkil etuvchilari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qatnashganingiz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
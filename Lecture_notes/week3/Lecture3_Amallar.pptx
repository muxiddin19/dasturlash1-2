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4920"/>
            <a:ext cx="12191695" cy="635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" y="548640"/>
            <a:ext cx="1463040" cy="1463040"/>
          </a:xfrm>
          <a:prstGeom prst="ellipse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07040" y="5394960"/>
            <a:ext cx="914400" cy="914400"/>
          </a:xfrm>
          <a:prstGeom prst="ellipse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5760720"/>
            <a:ext cx="731520" cy="731520"/>
          </a:xfrm>
          <a:prstGeom prst="ellipse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1887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00BCD4"/>
                </a:solidFill>
                <a:latin typeface="Segoe UI"/>
              </a:rPr>
              <a:t>DASTURLASH 1  •  DAS1110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 i="0">
                <a:solidFill>
                  <a:srgbClr val="FFFFFF"/>
                </a:solidFill>
                <a:latin typeface="Segoe UI"/>
              </a:rPr>
              <a:t>3-Ma'ruza: C# tilining amallari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5176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D8D8F0"/>
                </a:solidFill>
                <a:latin typeface="Segoe UI"/>
              </a:rPr>
              <a:t>Arifmetik, mantiqiy va solishtirish amallari. Qiymat berish, turga
keltirish, shartli amal. Amallarning ustuvorligi.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5321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B8B8E0"/>
                </a:solidFill>
                <a:latin typeface="Segoe UI"/>
              </a:rPr>
              <a:t>O'zbekiston Milliy universiteti Jizzax filiali  |  Amaliy matematika fakulteti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8978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B8B8E0"/>
                </a:solidFill>
                <a:latin typeface="Segoe UI"/>
              </a:rPr>
              <a:t>O'qituvchi: Toshpolatov Muxiddin, PhD, dotsent  |  2025/2026-o'quv yili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TAKRORLASH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O'tgan darsni eslaymiz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Identifikator — harf yoki _ bilan boshlanadigan, bo'sh joysiz, katta-kichik harfga sezgir nom.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Kalit so'zlar — C# uchun maxsus ma'noga ega, band qilingan so'zlar.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O'zgaruvchi qiymatini o'zgartirish mumkin, o'zgarmas (const) esa abadiy bir xil qoladi.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C# dagi asosiy turlar: bool, int, long, double, char, string.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Bugun esa bu qiymatlar USTIDA qanday AMALLAR bajarish mumkinligini o'rganamiz.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3-Ma'ruza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REJA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Bugungi darsning rejasi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I-BO'LIM: Arifmetik va unar/binar amallar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>
                <a:solidFill>
                  <a:srgbClr val="23232B"/>
                </a:solidFill>
                <a:latin typeface="Segoe UI"/>
              </a:rPr>
              <a:t>     –  Arifmetik amallar, butun son bo'linishi, ortirish/kamaytirish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II-BO'LIM: Solishtirish va mantiqiy amallar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>
                <a:solidFill>
                  <a:srgbClr val="23232B"/>
                </a:solidFill>
                <a:latin typeface="Segoe UI"/>
              </a:rPr>
              <a:t>     –  Taqqoslash amallari, mantiqiy amallar va ularning birikmasi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III-BO'LIM: Qiymat berish, turga keltirish, shartli amal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600">
                <a:solidFill>
                  <a:srgbClr val="23232B"/>
                </a:solidFill>
                <a:latin typeface="Segoe UI"/>
              </a:rPr>
              <a:t>     –  Compound assignment, type casting, ternary amal, ustuvorlik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3-Ma'ruza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MAQSAD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Dars yakunida siz nimalarga erishasiz?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Arifmetik amallarni (+, -, *, /, %) to'g'ri qo'llay olasiz va butun son bo'linishi xatosidan saqlanasiz.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Unar va binar amallar orasidagi farqni, ++ va -- amallarining prefiks/postfiks shakllarini tushuntira olasiz.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Solishtirish va mantiqiy amallardan shartlarni yozishda foydalana olasiz.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Compound assignment (+=, -= va h.k.), turga oshkor keltirish va shartli (ternary) amaldan foydalana olasiz.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Amallarning ustuvorligini bilib, ifodalarni qavslar bilan aniq yoza olasiz.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3-Ma'ruza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" y="2103120"/>
            <a:ext cx="1828800" cy="1828800"/>
          </a:xfrm>
          <a:prstGeom prst="ellipse">
            <a:avLst/>
          </a:prstGeom>
          <a:solidFill>
            <a:srgbClr val="1E1B4B"/>
          </a:solidFill>
          <a:ln w="31750">
            <a:solidFill>
              <a:srgbClr val="00B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4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331720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8DCFF"/>
                </a:solidFill>
                <a:latin typeface="Segoe UI"/>
              </a:rPr>
              <a:t>1-BO'LIM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2743200"/>
            <a:ext cx="85039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Segoe UI"/>
              </a:rPr>
              <a:t>Arifmetik va unar/binar
amallar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3794760"/>
            <a:ext cx="8503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E8DCFF"/>
                </a:solidFill>
                <a:latin typeface="Segoe UI"/>
              </a:rPr>
              <a:t>Sonlar ustida bajariladigan eng asosiy amallar bilan tanishamiz.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I-BO'LIM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Amal (operator) nima?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Amal — bir yoki bir nechta qiymat (operand) ustida ma'lum bir harakatni bajarib, yangi qiymat hosil qiluvchi belgi yoki so'z.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Masalan  5 + 3  ifodasida "+" — amal, 5 va 3 — operandlar, natija esa 8.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UNAR amal — faqat BITTA operand bilan ishlaydi. Masalan:  -yosh  (belgisini teskarisiga o'zgartirish), yosh++.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BINAR amal — IKKITA operand bilan ishlaydi. Masalan:  a + b,  a * b.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3-Ma'ruza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I-BO'LIM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Arifmetik amallar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508760"/>
          <a:ext cx="1088136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4937760"/>
                <a:gridCol w="4297680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Segoe UI"/>
                        </a:rPr>
                        <a:t>Amal</a:t>
                      </a:r>
                    </a:p>
                  </a:txBody>
                  <a:tcPr anchor="ctr">
                    <a:solidFill>
                      <a:srgbClr val="1E1B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Segoe UI"/>
                        </a:rPr>
                        <a:t>Ma'nosi</a:t>
                      </a:r>
                    </a:p>
                  </a:txBody>
                  <a:tcPr anchor="ctr">
                    <a:solidFill>
                      <a:srgbClr val="1E1B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Segoe UI"/>
                        </a:rPr>
                        <a:t>Misol</a:t>
                      </a:r>
                    </a:p>
                  </a:txBody>
                  <a:tcPr anchor="ctr">
                    <a:solidFill>
                      <a:srgbClr val="1E1B4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3232B"/>
                          </a:solidFill>
                          <a:latin typeface="Segoe UI"/>
                        </a:rPr>
                        <a:t>+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Qo'shish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5 + 3  // 8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3232B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anchor="ctr" marL="109728">
                    <a:solidFill>
                      <a:srgbClr val="F0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Ayirish</a:t>
                      </a:r>
                    </a:p>
                  </a:txBody>
                  <a:tcPr anchor="ctr" marL="109728">
                    <a:solidFill>
                      <a:srgbClr val="F0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5 - 3  // 2</a:t>
                      </a:r>
                    </a:p>
                  </a:txBody>
                  <a:tcPr anchor="ctr" marL="109728">
                    <a:solidFill>
                      <a:srgbClr val="F0EFF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3232B"/>
                          </a:solidFill>
                          <a:latin typeface="Segoe UI"/>
                        </a:rPr>
                        <a:t>*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Ko'paytirish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5 * 3  // 15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3232B"/>
                          </a:solidFill>
                          <a:latin typeface="Segoe UI"/>
                        </a:rPr>
                        <a:t>/</a:t>
                      </a:r>
                    </a:p>
                  </a:txBody>
                  <a:tcPr anchor="ctr" marL="109728">
                    <a:solidFill>
                      <a:srgbClr val="F0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Bo'lish</a:t>
                      </a:r>
                    </a:p>
                  </a:txBody>
                  <a:tcPr anchor="ctr" marL="109728">
                    <a:solidFill>
                      <a:srgbClr val="F0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10 / 3  // natija turga bog'liq!</a:t>
                      </a:r>
                    </a:p>
                  </a:txBody>
                  <a:tcPr anchor="ctr" marL="109728">
                    <a:solidFill>
                      <a:srgbClr val="F0EFF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3232B"/>
                          </a:solidFill>
                          <a:latin typeface="Segoe UI"/>
                        </a:rPr>
                        <a:t>%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Bo'lishdan qolgan qoldiq (modul)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10 % 3  // 1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3-Ma'ruza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I-BO'LIM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Diqqat: butun sonlarni bo'lish (integer division)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Agar ikkala operand ham int (butun son) bo'lsa, C# natijani ham BUTUN SONGA yaxlitlaydi (kasr qismini tashlab yuboradi, YAXLITLAMAYDI, balki KESIB TASHLAYDI).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Masalan:  int natija = 7 / 2;   →  natija = 3  (3.5 emas!), chunki ikkala operand ham int.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To'g'ri (kasr bilan) natija olish uchun kamida bitta operand double bo'lishi kerak:  double natija = 7.0 / 2;  →  3.5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Bu — yangi boshlovchilar eng ko'p duch keladigan xatolardan biri, diqqat bilan yodda tuting!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367528"/>
            <a:ext cx="10881360" cy="896112"/>
          </a:xfrm>
          <a:prstGeom prst="roundRect">
            <a:avLst>
              <a:gd name="adj" fmla="val 15000"/>
            </a:avLst>
          </a:prstGeom>
          <a:solidFill>
            <a:srgbClr val="FFF3D6"/>
          </a:solidFill>
          <a:ln w="12700">
            <a:solidFill>
              <a:srgbClr val="F57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ctr">
              <a:lnSpc>
                <a:spcPct val="110000"/>
              </a:lnSpc>
            </a:pPr>
            <a:r>
              <a:rPr sz="1400" i="1">
                <a:solidFill>
                  <a:srgbClr val="7A5400"/>
                </a:solidFill>
                <a:latin typeface="Segoe UI"/>
              </a:rPr>
              <a:t>💡 Qoldiqni (masalan juft/toq sonni tekshirish) topish uchun % amali ishlatiladi: son % 2 == 0 bo'lsa, son juft.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3-Ma'ruza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I-BO'LIM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Misol: arifmetik amallar va bo'lish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881360" cy="206248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solidFill>
              <a:srgbClr val="3C3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411480" rIns="182880"/>
          <a:lstStyle/>
          <a:p>
            <a:pPr algn="ctr">
              <a:lnSpc>
                <a:spcPct val="122000"/>
              </a:lnSpc>
            </a:pPr>
            <a:r>
              <a:rPr sz="1600">
                <a:solidFill>
                  <a:srgbClr val="569CD6"/>
                </a:solidFill>
                <a:latin typeface="Consolas"/>
              </a:rPr>
              <a:t>int</a:t>
            </a:r>
            <a:r>
              <a:rPr sz="1600">
                <a:solidFill>
                  <a:srgbClr val="D4D4D4"/>
                </a:solidFill>
                <a:latin typeface="Consolas"/>
              </a:rPr>
              <a:t> a</a:t>
            </a:r>
            <a:r>
              <a:rPr sz="1600">
                <a:solidFill>
                  <a:srgbClr val="D4D4D4"/>
                </a:solidFill>
                <a:latin typeface="Consolas"/>
              </a:rPr>
              <a:t> = </a:t>
            </a:r>
            <a:r>
              <a:rPr sz="1600">
                <a:solidFill>
                  <a:srgbClr val="CE9178"/>
                </a:solidFill>
                <a:latin typeface="Consolas"/>
              </a:rPr>
              <a:t>7</a:t>
            </a:r>
            <a:r>
              <a:rPr sz="1600">
                <a:solidFill>
                  <a:srgbClr val="D4D4D4"/>
                </a:solidFill>
                <a:latin typeface="Consolas"/>
              </a:rPr>
              <a:t>, </a:t>
            </a:r>
            <a:r>
              <a:rPr sz="1600">
                <a:solidFill>
                  <a:srgbClr val="D4D4D4"/>
                </a:solidFill>
                <a:latin typeface="Consolas"/>
              </a:rPr>
              <a:t>b</a:t>
            </a:r>
            <a:r>
              <a:rPr sz="1600">
                <a:solidFill>
                  <a:srgbClr val="D4D4D4"/>
                </a:solidFill>
                <a:latin typeface="Consolas"/>
              </a:rPr>
              <a:t> = </a:t>
            </a:r>
            <a:r>
              <a:rPr sz="1600">
                <a:solidFill>
                  <a:srgbClr val="CE9178"/>
                </a:solidFill>
                <a:latin typeface="Consolas"/>
              </a:rPr>
              <a:t>2</a:t>
            </a:r>
            <a:r>
              <a:rPr sz="16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4EC9B0"/>
                </a:solidFill>
                <a:latin typeface="Consolas"/>
              </a:rPr>
              <a:t>Console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DCDCAA"/>
                </a:solidFill>
                <a:latin typeface="Consolas"/>
              </a:rPr>
              <a:t>WriteLine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D4D4D4"/>
                </a:solidFill>
                <a:latin typeface="Consolas"/>
              </a:rPr>
              <a:t>a</a:t>
            </a:r>
            <a:r>
              <a:rPr sz="1600">
                <a:solidFill>
                  <a:srgbClr val="D4D4D4"/>
                </a:solidFill>
                <a:latin typeface="Consolas"/>
              </a:rPr>
              <a:t> / </a:t>
            </a:r>
            <a:r>
              <a:rPr sz="1600">
                <a:solidFill>
                  <a:srgbClr val="D4D4D4"/>
                </a:solidFill>
                <a:latin typeface="Consolas"/>
              </a:rPr>
              <a:t>b</a:t>
            </a:r>
            <a:r>
              <a:rPr sz="1600">
                <a:solidFill>
                  <a:srgbClr val="D4D4D4"/>
                </a:solidFill>
                <a:latin typeface="Consolas"/>
              </a:rPr>
              <a:t>);</a:t>
            </a:r>
            <a:r>
              <a:rPr sz="1600">
                <a:solidFill>
                  <a:srgbClr val="D4D4D4"/>
                </a:solidFill>
                <a:latin typeface="Consolas"/>
              </a:rPr>
              <a:t>      </a:t>
            </a:r>
            <a:r>
              <a:rPr sz="1600">
                <a:solidFill>
                  <a:srgbClr val="6A9955"/>
                </a:solidFill>
                <a:latin typeface="Consolas"/>
              </a:rPr>
              <a:t>// butun son bo'linishi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4EC9B0"/>
                </a:solidFill>
                <a:latin typeface="Consolas"/>
              </a:rPr>
              <a:t>Console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DCDCAA"/>
                </a:solidFill>
                <a:latin typeface="Consolas"/>
              </a:rPr>
              <a:t>WriteLine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D4D4D4"/>
                </a:solidFill>
                <a:latin typeface="Consolas"/>
              </a:rPr>
              <a:t>a</a:t>
            </a:r>
            <a:r>
              <a:rPr sz="1600">
                <a:solidFill>
                  <a:srgbClr val="D4D4D4"/>
                </a:solidFill>
                <a:latin typeface="Consolas"/>
              </a:rPr>
              <a:t> % </a:t>
            </a:r>
            <a:r>
              <a:rPr sz="1600">
                <a:solidFill>
                  <a:srgbClr val="D4D4D4"/>
                </a:solidFill>
                <a:latin typeface="Consolas"/>
              </a:rPr>
              <a:t>b</a:t>
            </a:r>
            <a:r>
              <a:rPr sz="1600">
                <a:solidFill>
                  <a:srgbClr val="D4D4D4"/>
                </a:solidFill>
                <a:latin typeface="Consolas"/>
              </a:rPr>
              <a:t>);</a:t>
            </a:r>
            <a:r>
              <a:rPr sz="1600">
                <a:solidFill>
                  <a:srgbClr val="D4D4D4"/>
                </a:solidFill>
                <a:latin typeface="Consolas"/>
              </a:rPr>
              <a:t>      </a:t>
            </a:r>
            <a:r>
              <a:rPr sz="1600">
                <a:solidFill>
                  <a:srgbClr val="6A9955"/>
                </a:solidFill>
                <a:latin typeface="Consolas"/>
              </a:rPr>
              <a:t>// qoldiq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569CD6"/>
                </a:solidFill>
                <a:latin typeface="Consolas"/>
              </a:rPr>
              <a:t>double</a:t>
            </a:r>
            <a:r>
              <a:rPr sz="1600">
                <a:solidFill>
                  <a:srgbClr val="D4D4D4"/>
                </a:solidFill>
                <a:latin typeface="Consolas"/>
              </a:rPr>
              <a:t> aniq</a:t>
            </a:r>
            <a:r>
              <a:rPr sz="1600">
                <a:solidFill>
                  <a:srgbClr val="D4D4D4"/>
                </a:solidFill>
                <a:latin typeface="Consolas"/>
              </a:rPr>
              <a:t> = 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569CD6"/>
                </a:solidFill>
                <a:latin typeface="Consolas"/>
              </a:rPr>
              <a:t>double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  <a:r>
              <a:rPr sz="1600">
                <a:solidFill>
                  <a:srgbClr val="D4D4D4"/>
                </a:solidFill>
                <a:latin typeface="Consolas"/>
              </a:rPr>
              <a:t>a</a:t>
            </a:r>
            <a:r>
              <a:rPr sz="1600">
                <a:solidFill>
                  <a:srgbClr val="D4D4D4"/>
                </a:solidFill>
                <a:latin typeface="Consolas"/>
              </a:rPr>
              <a:t> / </a:t>
            </a:r>
            <a:r>
              <a:rPr sz="1600">
                <a:solidFill>
                  <a:srgbClr val="D4D4D4"/>
                </a:solidFill>
                <a:latin typeface="Consolas"/>
              </a:rPr>
              <a:t>b</a:t>
            </a:r>
            <a:r>
              <a:rPr sz="16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4EC9B0"/>
                </a:solidFill>
                <a:latin typeface="Consolas"/>
              </a:rPr>
              <a:t>Console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DCDCAA"/>
                </a:solidFill>
                <a:latin typeface="Consolas"/>
              </a:rPr>
              <a:t>WriteLine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D4D4D4"/>
                </a:solidFill>
                <a:latin typeface="Consolas"/>
              </a:rPr>
              <a:t>aniq</a:t>
            </a:r>
            <a:r>
              <a:rPr sz="1600">
                <a:solidFill>
                  <a:srgbClr val="D4D4D4"/>
                </a:solidFill>
                <a:latin typeface="Consolas"/>
              </a:rPr>
              <a:t>);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1554480"/>
            <a:ext cx="146304" cy="14630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8992" y="1554480"/>
            <a:ext cx="146304" cy="146304"/>
          </a:xfrm>
          <a:prstGeom prst="ellipse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35024" y="1554480"/>
            <a:ext cx="146304" cy="14630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3616960"/>
            <a:ext cx="10881360" cy="1097280"/>
          </a:xfrm>
          <a:prstGeom prst="roundRect">
            <a:avLst/>
          </a:prstGeom>
          <a:solidFill>
            <a:srgbClr val="F0F0F0"/>
          </a:solidFill>
          <a:ln>
            <a:solidFill>
              <a:srgbClr val="C0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73152"/>
          <a:lstStyle/>
          <a:p>
            <a:pPr algn="ctr"/>
            <a:r>
              <a:rPr b="1" sz="1200">
                <a:solidFill>
                  <a:srgbClr val="606070"/>
                </a:solidFill>
                <a:latin typeface="Segoe UI"/>
              </a:rPr>
              <a:t>► NATIJA (Console chiqishi):</a:t>
            </a:r>
          </a:p>
          <a:p>
            <a:r>
              <a:rPr sz="1500">
                <a:solidFill>
                  <a:srgbClr val="1B5E20"/>
                </a:solidFill>
                <a:latin typeface="Consolas"/>
              </a:rPr>
              <a:t>3</a:t>
            </a:r>
          </a:p>
          <a:p>
            <a:r>
              <a:rPr sz="1500">
                <a:solidFill>
                  <a:srgbClr val="1B5E20"/>
                </a:solidFill>
                <a:latin typeface="Consolas"/>
              </a:rPr>
              <a:t>1</a:t>
            </a:r>
          </a:p>
          <a:p>
            <a:r>
              <a:rPr sz="1500">
                <a:solidFill>
                  <a:srgbClr val="1B5E20"/>
                </a:solidFill>
                <a:latin typeface="Consolas"/>
              </a:rPr>
              <a:t>3.5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82396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06070"/>
                </a:solidFill>
                <a:latin typeface="Segoe UI"/>
              </a:rPr>
              <a:t>(double)a — bu yerda 'turga oshkor keltirish', keyingi bo'limda batafsil ko'ramiz.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3-Ma'ruza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I-BO'LIM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Ortirish va kamaytirish amallari (++ , --)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++  — o'zgaruvchi qiymatini 1 taga OSHIRADI (o'zgaruvchi = o'zgaruvchi + 1 bilan bir xil natija beradi).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--  — o'zgaruvchi qiymatini 1 taga KAMAYTIRADI.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Bu — UNAR amallar, chunki faqat BITTA operand bilan ishlaydi.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PREFIKS shakl (++yosh): AVVAL qiymat oshiriladi, SO'NG ifodada ishlatiladi.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POSTFIKS shakl (yosh++): AVVAL joriy qiymat ifodada ishlatiladi, SO'NG oshiriladi.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3-Ma'ruza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I-BO'LIM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Misol: postfiks va prefiks farqi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881360" cy="1814575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solidFill>
              <a:srgbClr val="3C3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411480" rIns="182880"/>
          <a:lstStyle/>
          <a:p>
            <a:pPr algn="ctr">
              <a:lnSpc>
                <a:spcPct val="122000"/>
              </a:lnSpc>
            </a:pPr>
            <a:r>
              <a:rPr sz="1600">
                <a:solidFill>
                  <a:srgbClr val="569CD6"/>
                </a:solidFill>
                <a:latin typeface="Consolas"/>
              </a:rPr>
              <a:t>int</a:t>
            </a:r>
            <a:r>
              <a:rPr sz="1600">
                <a:solidFill>
                  <a:srgbClr val="D4D4D4"/>
                </a:solidFill>
                <a:latin typeface="Consolas"/>
              </a:rPr>
              <a:t> yosh</a:t>
            </a:r>
            <a:r>
              <a:rPr sz="1600">
                <a:solidFill>
                  <a:srgbClr val="D4D4D4"/>
                </a:solidFill>
                <a:latin typeface="Consolas"/>
              </a:rPr>
              <a:t> = </a:t>
            </a:r>
            <a:r>
              <a:rPr sz="1600">
                <a:solidFill>
                  <a:srgbClr val="CE9178"/>
                </a:solidFill>
                <a:latin typeface="Consolas"/>
              </a:rPr>
              <a:t>20</a:t>
            </a:r>
            <a:r>
              <a:rPr sz="16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4EC9B0"/>
                </a:solidFill>
                <a:latin typeface="Consolas"/>
              </a:rPr>
              <a:t>Console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DCDCAA"/>
                </a:solidFill>
                <a:latin typeface="Consolas"/>
              </a:rPr>
              <a:t>WriteLine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D4D4D4"/>
                </a:solidFill>
                <a:latin typeface="Consolas"/>
              </a:rPr>
              <a:t>yosh</a:t>
            </a:r>
            <a:r>
              <a:rPr sz="1600">
                <a:solidFill>
                  <a:srgbClr val="D4D4D4"/>
                </a:solidFill>
                <a:latin typeface="Consolas"/>
              </a:rPr>
              <a:t>++</a:t>
            </a:r>
            <a:r>
              <a:rPr sz="1600">
                <a:solidFill>
                  <a:srgbClr val="D4D4D4"/>
                </a:solidFill>
                <a:latin typeface="Consolas"/>
              </a:rPr>
              <a:t>);</a:t>
            </a:r>
            <a:r>
              <a:rPr sz="1600">
                <a:solidFill>
                  <a:srgbClr val="D4D4D4"/>
                </a:solidFill>
                <a:latin typeface="Consolas"/>
              </a:rPr>
              <a:t>   </a:t>
            </a:r>
            <a:r>
              <a:rPr sz="1600">
                <a:solidFill>
                  <a:srgbClr val="6A9955"/>
                </a:solidFill>
                <a:latin typeface="Consolas"/>
              </a:rPr>
              <a:t>// avval 20 chiqadi, keyin 21 bo'ladi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4EC9B0"/>
                </a:solidFill>
                <a:latin typeface="Consolas"/>
              </a:rPr>
              <a:t>Console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DCDCAA"/>
                </a:solidFill>
                <a:latin typeface="Consolas"/>
              </a:rPr>
              <a:t>WriteLine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D4D4D4"/>
                </a:solidFill>
                <a:latin typeface="Consolas"/>
              </a:rPr>
              <a:t>yosh</a:t>
            </a:r>
            <a:r>
              <a:rPr sz="1600">
                <a:solidFill>
                  <a:srgbClr val="D4D4D4"/>
                </a:solidFill>
                <a:latin typeface="Consolas"/>
              </a:rPr>
              <a:t>);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4EC9B0"/>
                </a:solidFill>
                <a:latin typeface="Consolas"/>
              </a:rPr>
              <a:t>Console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DCDCAA"/>
                </a:solidFill>
                <a:latin typeface="Consolas"/>
              </a:rPr>
              <a:t>WriteLine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D4D4D4"/>
                </a:solidFill>
                <a:latin typeface="Consolas"/>
              </a:rPr>
              <a:t>++</a:t>
            </a:r>
            <a:r>
              <a:rPr sz="1600">
                <a:solidFill>
                  <a:srgbClr val="D4D4D4"/>
                </a:solidFill>
                <a:latin typeface="Consolas"/>
              </a:rPr>
              <a:t>yosh</a:t>
            </a:r>
            <a:r>
              <a:rPr sz="1600">
                <a:solidFill>
                  <a:srgbClr val="D4D4D4"/>
                </a:solidFill>
                <a:latin typeface="Consolas"/>
              </a:rPr>
              <a:t>);</a:t>
            </a:r>
            <a:r>
              <a:rPr sz="1600">
                <a:solidFill>
                  <a:srgbClr val="D4D4D4"/>
                </a:solidFill>
                <a:latin typeface="Consolas"/>
              </a:rPr>
              <a:t>  </a:t>
            </a:r>
            <a:r>
              <a:rPr sz="1600">
                <a:solidFill>
                  <a:srgbClr val="6A9955"/>
                </a:solidFill>
                <a:latin typeface="Consolas"/>
              </a:rPr>
              <a:t>// avval 22 bo'ladi, keyin shu 22 chiqadi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1554480"/>
            <a:ext cx="146304" cy="14630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8992" y="1554480"/>
            <a:ext cx="146304" cy="146304"/>
          </a:xfrm>
          <a:prstGeom prst="ellipse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35024" y="1554480"/>
            <a:ext cx="146304" cy="14630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3369055"/>
            <a:ext cx="10881360" cy="1097280"/>
          </a:xfrm>
          <a:prstGeom prst="roundRect">
            <a:avLst/>
          </a:prstGeom>
          <a:solidFill>
            <a:srgbClr val="F0F0F0"/>
          </a:solidFill>
          <a:ln>
            <a:solidFill>
              <a:srgbClr val="C0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73152"/>
          <a:lstStyle/>
          <a:p>
            <a:pPr algn="ctr"/>
            <a:r>
              <a:rPr b="1" sz="1200">
                <a:solidFill>
                  <a:srgbClr val="606070"/>
                </a:solidFill>
                <a:latin typeface="Segoe UI"/>
              </a:rPr>
              <a:t>► NATIJA (Console chiqishi):</a:t>
            </a:r>
          </a:p>
          <a:p>
            <a:r>
              <a:rPr sz="1500">
                <a:solidFill>
                  <a:srgbClr val="1B5E20"/>
                </a:solidFill>
                <a:latin typeface="Consolas"/>
              </a:rPr>
              <a:t>20</a:t>
            </a:r>
          </a:p>
          <a:p>
            <a:r>
              <a:rPr sz="1500">
                <a:solidFill>
                  <a:srgbClr val="1B5E20"/>
                </a:solidFill>
                <a:latin typeface="Consolas"/>
              </a:rPr>
              <a:t>21</a:t>
            </a:r>
          </a:p>
          <a:p>
            <a:r>
              <a:rPr sz="1500">
                <a:solidFill>
                  <a:srgbClr val="1B5E20"/>
                </a:solidFill>
                <a:latin typeface="Consolas"/>
              </a:rPr>
              <a:t>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3-Ma'ruza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2743200" cy="502920"/>
          </a:xfrm>
          <a:prstGeom prst="round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1E1B4B"/>
                </a:solidFill>
              </a:rPr>
              <a:t>🧠 VIKTORINA #1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64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int a = 7; int b = 2; Console.WriteLine(a / b); — natija nima bo'ladi?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788920"/>
            <a:ext cx="11064240" cy="749808"/>
          </a:xfrm>
          <a:prstGeom prst="roundRect">
            <a:avLst/>
          </a:prstGeom>
          <a:solidFill>
            <a:srgbClr val="2B2763"/>
          </a:solidFill>
          <a:ln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2935224"/>
            <a:ext cx="457200" cy="457200"/>
          </a:xfrm>
          <a:prstGeom prst="ellipse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1E1B4B"/>
                </a:solidFill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788920"/>
            <a:ext cx="10058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"/>
              </a:rPr>
              <a:t>3.5, chunki C# har doim aniq natija beradi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657600"/>
            <a:ext cx="11064240" cy="749808"/>
          </a:xfrm>
          <a:prstGeom prst="roundRect">
            <a:avLst/>
          </a:prstGeom>
          <a:solidFill>
            <a:srgbClr val="2B2763"/>
          </a:solidFill>
          <a:ln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3803904"/>
            <a:ext cx="457200" cy="457200"/>
          </a:xfrm>
          <a:prstGeom prst="ellipse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1E1B4B"/>
                </a:solidFill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657600"/>
            <a:ext cx="10058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"/>
              </a:rPr>
              <a:t>3, chunki ikkala operand ham int bo'lgani uchun natija butun songacha kesiladi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526280"/>
            <a:ext cx="11064240" cy="749808"/>
          </a:xfrm>
          <a:prstGeom prst="roundRect">
            <a:avLst/>
          </a:prstGeom>
          <a:solidFill>
            <a:srgbClr val="2B2763"/>
          </a:solidFill>
          <a:ln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" y="4672584"/>
            <a:ext cx="457200" cy="457200"/>
          </a:xfrm>
          <a:prstGeom prst="ellipse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1E1B4B"/>
                </a:solidFill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4526280"/>
            <a:ext cx="10058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"/>
              </a:rPr>
              <a:t>4, chunki C# yuqoriga yaxlitlaydi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394960"/>
            <a:ext cx="11064240" cy="749808"/>
          </a:xfrm>
          <a:prstGeom prst="roundRect">
            <a:avLst/>
          </a:prstGeom>
          <a:solidFill>
            <a:srgbClr val="2B2763"/>
          </a:solidFill>
          <a:ln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77240" y="5541264"/>
            <a:ext cx="457200" cy="457200"/>
          </a:xfrm>
          <a:prstGeom prst="ellipse">
            <a:avLst/>
          </a:prstGeom>
          <a:solidFill>
            <a:srgbClr val="8BC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1E1B4B"/>
                </a:solidFill>
              </a:rPr>
              <a:t>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5394960"/>
            <a:ext cx="10058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"/>
              </a:rPr>
              <a:t>Xato beradi, dastur ishga tushmaydi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550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A09CD8"/>
                </a:solidFill>
                <a:latin typeface="Segoe UI"/>
              </a:rPr>
              <a:t>O'ylab ko'ring... javobingizni chatga yozing!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2743200" cy="50292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✅ JAVOB #1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C8C8E8"/>
                </a:solidFill>
                <a:latin typeface="Segoe UI"/>
              </a:rPr>
              <a:t>int a = 7; int b = 2; Console.WriteLine(a / b); — natija nima bo'ladi?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331720"/>
            <a:ext cx="11064240" cy="658368"/>
          </a:xfrm>
          <a:prstGeom prst="roundRect">
            <a:avLst/>
          </a:prstGeom>
          <a:solidFill>
            <a:srgbClr val="2B2763"/>
          </a:solidFill>
          <a:ln w="12700"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2441448"/>
            <a:ext cx="420624" cy="420624"/>
          </a:xfrm>
          <a:prstGeom prst="ellipse">
            <a:avLst/>
          </a:prstGeom>
          <a:solidFill>
            <a:srgbClr val="555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331720"/>
            <a:ext cx="10058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C8C8E8"/>
                </a:solidFill>
                <a:latin typeface="Segoe UI"/>
              </a:rPr>
              <a:t>3.5, chunki C# har doim aniq natija beradi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81528"/>
            <a:ext cx="11064240" cy="658368"/>
          </a:xfrm>
          <a:prstGeom prst="roundRect">
            <a:avLst/>
          </a:prstGeom>
          <a:solidFill>
            <a:srgbClr val="E3F2E1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9808" y="3191256"/>
            <a:ext cx="420624" cy="42062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3081528"/>
            <a:ext cx="10058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B5E20"/>
                </a:solidFill>
                <a:latin typeface="Segoe UI"/>
              </a:rPr>
              <a:t>3, chunki ikkala operand ham int bo'lgani uchun natija butun songacha kesiladi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831336"/>
            <a:ext cx="11064240" cy="658368"/>
          </a:xfrm>
          <a:prstGeom prst="roundRect">
            <a:avLst/>
          </a:prstGeom>
          <a:solidFill>
            <a:srgbClr val="2B2763"/>
          </a:solidFill>
          <a:ln w="12700"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49808" y="3941064"/>
            <a:ext cx="420624" cy="420624"/>
          </a:xfrm>
          <a:prstGeom prst="ellipse">
            <a:avLst/>
          </a:prstGeom>
          <a:solidFill>
            <a:srgbClr val="555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831336"/>
            <a:ext cx="10058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C8C8E8"/>
                </a:solidFill>
                <a:latin typeface="Segoe UI"/>
              </a:rPr>
              <a:t>4, chunki C# yuqoriga yaxlitlaydi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581144"/>
            <a:ext cx="11064240" cy="658368"/>
          </a:xfrm>
          <a:prstGeom prst="roundRect">
            <a:avLst/>
          </a:prstGeom>
          <a:solidFill>
            <a:srgbClr val="2B2763"/>
          </a:solidFill>
          <a:ln w="12700"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4690872"/>
            <a:ext cx="420624" cy="420624"/>
          </a:xfrm>
          <a:prstGeom prst="ellipse">
            <a:avLst/>
          </a:prstGeom>
          <a:solidFill>
            <a:srgbClr val="555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581144"/>
            <a:ext cx="10058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C8C8E8"/>
                </a:solidFill>
                <a:latin typeface="Segoe UI"/>
              </a:rPr>
              <a:t>Xato beradi, dastur ishga tushmaydi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422392"/>
            <a:ext cx="11064240" cy="960120"/>
          </a:xfrm>
          <a:prstGeom prst="roundRect">
            <a:avLst/>
          </a:prstGeom>
          <a:solidFill>
            <a:srgbClr val="2B2763"/>
          </a:solidFill>
          <a:ln w="12700">
            <a:solidFill>
              <a:srgbClr val="00B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400">
                <a:solidFill>
                  <a:srgbClr val="E0E0F5"/>
                </a:solidFill>
                <a:latin typeface="Segoe UI"/>
              </a:rPr>
              <a:t>💡 Izoh: Ikkala operand ham int bo'lgani uchun C# butun son bo'linishini qo'llaydi — kasr qismi (0.5) tashlab yuboriladi, natija 3 bo'ladi.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" y="2103120"/>
            <a:ext cx="1828800" cy="1828800"/>
          </a:xfrm>
          <a:prstGeom prst="ellipse">
            <a:avLst/>
          </a:prstGeom>
          <a:solidFill>
            <a:srgbClr val="1E1B4B"/>
          </a:solidFill>
          <a:ln w="31750">
            <a:solidFill>
              <a:srgbClr val="00B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400" b="1">
                <a:solidFill>
                  <a:srgbClr val="FFFFFF"/>
                </a:solidFill>
              </a:rPr>
              <a:t>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331720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8DCFF"/>
                </a:solidFill>
                <a:latin typeface="Segoe UI"/>
              </a:rPr>
              <a:t>2-BO'LIM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2743200"/>
            <a:ext cx="85039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Segoe UI"/>
              </a:rPr>
              <a:t>Solishtirish va
mantiqiy amallar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3794760"/>
            <a:ext cx="8503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E8DCFF"/>
                </a:solidFill>
                <a:latin typeface="Segoe UI"/>
              </a:rPr>
              <a:t>Shartlarni tekshirish uchun ishlatiladigan amallar bilan tanishamiz.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II-BO'LIM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Solishtirish (taqqoslash) amallari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508760"/>
          <a:ext cx="1088136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657600"/>
                <a:gridCol w="5577840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Segoe UI"/>
                        </a:rPr>
                        <a:t>Amal</a:t>
                      </a:r>
                    </a:p>
                  </a:txBody>
                  <a:tcPr anchor="ctr">
                    <a:solidFill>
                      <a:srgbClr val="1E1B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Segoe UI"/>
                        </a:rPr>
                        <a:t>Ma'nosi</a:t>
                      </a:r>
                    </a:p>
                  </a:txBody>
                  <a:tcPr anchor="ctr">
                    <a:solidFill>
                      <a:srgbClr val="1E1B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Segoe UI"/>
                        </a:rPr>
                        <a:t>Misol (natija: true/false)</a:t>
                      </a:r>
                    </a:p>
                  </a:txBody>
                  <a:tcPr anchor="ctr">
                    <a:solidFill>
                      <a:srgbClr val="1E1B4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3232B"/>
                          </a:solidFill>
                          <a:latin typeface="Segoe UI"/>
                        </a:rPr>
                        <a:t>==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Tengmi?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5 == 5   // true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3232B"/>
                          </a:solidFill>
                          <a:latin typeface="Segoe UI"/>
                        </a:rPr>
                        <a:t>!=</a:t>
                      </a:r>
                    </a:p>
                  </a:txBody>
                  <a:tcPr anchor="ctr" marL="109728">
                    <a:solidFill>
                      <a:srgbClr val="F0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Teng emasmi?</a:t>
                      </a:r>
                    </a:p>
                  </a:txBody>
                  <a:tcPr anchor="ctr" marL="109728">
                    <a:solidFill>
                      <a:srgbClr val="F0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5 != 3   // true</a:t>
                      </a:r>
                    </a:p>
                  </a:txBody>
                  <a:tcPr anchor="ctr" marL="109728">
                    <a:solidFill>
                      <a:srgbClr val="F0EFF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3232B"/>
                          </a:solidFill>
                          <a:latin typeface="Segoe UI"/>
                        </a:rPr>
                        <a:t>&lt;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Kichikmi?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3 &lt; 5    // true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3232B"/>
                          </a:solidFill>
                          <a:latin typeface="Segoe UI"/>
                        </a:rPr>
                        <a:t>&gt;</a:t>
                      </a:r>
                    </a:p>
                  </a:txBody>
                  <a:tcPr anchor="ctr" marL="109728">
                    <a:solidFill>
                      <a:srgbClr val="F0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Kattami?</a:t>
                      </a:r>
                    </a:p>
                  </a:txBody>
                  <a:tcPr anchor="ctr" marL="109728">
                    <a:solidFill>
                      <a:srgbClr val="F0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3 &gt; 5    // false</a:t>
                      </a:r>
                    </a:p>
                  </a:txBody>
                  <a:tcPr anchor="ctr" marL="109728">
                    <a:solidFill>
                      <a:srgbClr val="F0EFF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3232B"/>
                          </a:solidFill>
                          <a:latin typeface="Segoe UI"/>
                        </a:rPr>
                        <a:t>&lt;=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Kichik yoki teng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5 &lt;= 5   // true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3232B"/>
                          </a:solidFill>
                          <a:latin typeface="Segoe UI"/>
                        </a:rPr>
                        <a:t>&gt;=</a:t>
                      </a:r>
                    </a:p>
                  </a:txBody>
                  <a:tcPr anchor="ctr" marL="109728">
                    <a:solidFill>
                      <a:srgbClr val="F0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Katta yoki teng</a:t>
                      </a:r>
                    </a:p>
                  </a:txBody>
                  <a:tcPr anchor="ctr" marL="109728">
                    <a:solidFill>
                      <a:srgbClr val="F0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4 &gt;= 5   // false</a:t>
                      </a:r>
                    </a:p>
                  </a:txBody>
                  <a:tcPr anchor="ctr" marL="109728">
                    <a:solidFill>
                      <a:srgbClr val="F0EF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" y="5257800"/>
            <a:ext cx="10881360" cy="896112"/>
          </a:xfrm>
          <a:prstGeom prst="roundRect">
            <a:avLst>
              <a:gd name="adj" fmla="val 15000"/>
            </a:avLst>
          </a:prstGeom>
          <a:solidFill>
            <a:srgbClr val="FFF3D6"/>
          </a:solidFill>
          <a:ln w="12700">
            <a:solidFill>
              <a:srgbClr val="F57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ctr">
              <a:lnSpc>
                <a:spcPct val="110000"/>
              </a:lnSpc>
            </a:pPr>
            <a:r>
              <a:rPr sz="1400" i="1">
                <a:solidFill>
                  <a:srgbClr val="7A5400"/>
                </a:solidFill>
                <a:latin typeface="Segoe UI"/>
              </a:rPr>
              <a:t>💡 Diqqat: TENGLIKNI tekshirish uchun == (ikkita teng belgi) ishlatiladi, = (bitta) esa QIYMAT BERISH amali!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3-Ma'ruza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II-BO'LIM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Mantiqiy amallar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508760"/>
          <a:ext cx="108813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743200"/>
                <a:gridCol w="6492240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Segoe UI"/>
                        </a:rPr>
                        <a:t>Amal</a:t>
                      </a:r>
                    </a:p>
                  </a:txBody>
                  <a:tcPr anchor="ctr">
                    <a:solidFill>
                      <a:srgbClr val="1E1B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Segoe UI"/>
                        </a:rPr>
                        <a:t>Nomi</a:t>
                      </a:r>
                    </a:p>
                  </a:txBody>
                  <a:tcPr anchor="ctr">
                    <a:solidFill>
                      <a:srgbClr val="1E1B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Segoe UI"/>
                        </a:rPr>
                        <a:t>Qachon TRUE natija beradi</a:t>
                      </a:r>
                    </a:p>
                  </a:txBody>
                  <a:tcPr anchor="ctr">
                    <a:solidFill>
                      <a:srgbClr val="1E1B4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3232B"/>
                          </a:solidFill>
                          <a:latin typeface="Segoe UI"/>
                        </a:rPr>
                        <a:t>&amp;&amp;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VA (AND)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IKKALA shart ham TRUE bo'lsagina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3232B"/>
                          </a:solidFill>
                          <a:latin typeface="Segoe UI"/>
                        </a:rPr>
                        <a:t>||</a:t>
                      </a:r>
                    </a:p>
                  </a:txBody>
                  <a:tcPr anchor="ctr" marL="109728">
                    <a:solidFill>
                      <a:srgbClr val="F0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YOKI (OR)</a:t>
                      </a:r>
                    </a:p>
                  </a:txBody>
                  <a:tcPr anchor="ctr" marL="109728">
                    <a:solidFill>
                      <a:srgbClr val="F0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Shartlardan KAMIDA BITTASI TRUE bo'lsa</a:t>
                      </a:r>
                    </a:p>
                  </a:txBody>
                  <a:tcPr anchor="ctr" marL="109728">
                    <a:solidFill>
                      <a:srgbClr val="F0EFF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3232B"/>
                          </a:solidFill>
                          <a:latin typeface="Segoe UI"/>
                        </a:rPr>
                        <a:t>!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EMAS (NOT)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Shartning natijasini teskarisiga aylantiradi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3-Ma'ruza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II-BO'LIM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Misol: solishtirish va mantiqiy amallar birgalikda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881360" cy="206248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solidFill>
              <a:srgbClr val="3C3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411480" rIns="182880"/>
          <a:lstStyle/>
          <a:p>
            <a:pPr algn="ctr">
              <a:lnSpc>
                <a:spcPct val="122000"/>
              </a:lnSpc>
            </a:pPr>
            <a:r>
              <a:rPr sz="1600">
                <a:solidFill>
                  <a:srgbClr val="569CD6"/>
                </a:solidFill>
                <a:latin typeface="Consolas"/>
              </a:rPr>
              <a:t>int</a:t>
            </a:r>
            <a:r>
              <a:rPr sz="1600">
                <a:solidFill>
                  <a:srgbClr val="D4D4D4"/>
                </a:solidFill>
                <a:latin typeface="Consolas"/>
              </a:rPr>
              <a:t> yosh</a:t>
            </a:r>
            <a:r>
              <a:rPr sz="1600">
                <a:solidFill>
                  <a:srgbClr val="D4D4D4"/>
                </a:solidFill>
                <a:latin typeface="Consolas"/>
              </a:rPr>
              <a:t> = </a:t>
            </a:r>
            <a:r>
              <a:rPr sz="1600">
                <a:solidFill>
                  <a:srgbClr val="CE9178"/>
                </a:solidFill>
                <a:latin typeface="Consolas"/>
              </a:rPr>
              <a:t>20</a:t>
            </a:r>
            <a:r>
              <a:rPr sz="16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569CD6"/>
                </a:solidFill>
                <a:latin typeface="Consolas"/>
              </a:rPr>
              <a:t>bool</a:t>
            </a:r>
            <a:r>
              <a:rPr sz="1600">
                <a:solidFill>
                  <a:srgbClr val="D4D4D4"/>
                </a:solidFill>
                <a:latin typeface="Consolas"/>
              </a:rPr>
              <a:t> talabaMi</a:t>
            </a:r>
            <a:r>
              <a:rPr sz="1600">
                <a:solidFill>
                  <a:srgbClr val="D4D4D4"/>
                </a:solidFill>
                <a:latin typeface="Consolas"/>
              </a:rPr>
              <a:t> = </a:t>
            </a:r>
            <a:r>
              <a:rPr sz="1600">
                <a:solidFill>
                  <a:srgbClr val="569CD6"/>
                </a:solidFill>
                <a:latin typeface="Consolas"/>
              </a:rPr>
              <a:t>true</a:t>
            </a:r>
            <a:r>
              <a:rPr sz="16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569CD6"/>
                </a:solidFill>
                <a:latin typeface="Consolas"/>
              </a:rPr>
              <a:t>bool</a:t>
            </a:r>
            <a:r>
              <a:rPr sz="1600">
                <a:solidFill>
                  <a:srgbClr val="D4D4D4"/>
                </a:solidFill>
                <a:latin typeface="Consolas"/>
              </a:rPr>
              <a:t> natija</a:t>
            </a:r>
            <a:r>
              <a:rPr sz="1600">
                <a:solidFill>
                  <a:srgbClr val="D4D4D4"/>
                </a:solidFill>
                <a:latin typeface="Consolas"/>
              </a:rPr>
              <a:t> = 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D4D4D4"/>
                </a:solidFill>
                <a:latin typeface="Consolas"/>
              </a:rPr>
              <a:t>yosh</a:t>
            </a:r>
            <a:r>
              <a:rPr sz="1600">
                <a:solidFill>
                  <a:srgbClr val="D4D4D4"/>
                </a:solidFill>
                <a:latin typeface="Consolas"/>
              </a:rPr>
              <a:t> &gt;= </a:t>
            </a:r>
            <a:r>
              <a:rPr sz="1600">
                <a:solidFill>
                  <a:srgbClr val="CE9178"/>
                </a:solidFill>
                <a:latin typeface="Consolas"/>
              </a:rPr>
              <a:t>18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  <a:r>
              <a:rPr sz="1600">
                <a:solidFill>
                  <a:srgbClr val="D4D4D4"/>
                </a:solidFill>
                <a:latin typeface="Consolas"/>
              </a:rPr>
              <a:t> &amp;&amp; </a:t>
            </a:r>
            <a:r>
              <a:rPr sz="1600">
                <a:solidFill>
                  <a:srgbClr val="D4D4D4"/>
                </a:solidFill>
                <a:latin typeface="Consolas"/>
              </a:rPr>
              <a:t>talabaMi</a:t>
            </a:r>
            <a:r>
              <a:rPr sz="16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4EC9B0"/>
                </a:solidFill>
                <a:latin typeface="Consolas"/>
              </a:rPr>
              <a:t>Console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DCDCAA"/>
                </a:solidFill>
                <a:latin typeface="Consolas"/>
              </a:rPr>
              <a:t>WriteLine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D4D4D4"/>
                </a:solidFill>
                <a:latin typeface="Consolas"/>
              </a:rPr>
              <a:t>natija</a:t>
            </a:r>
            <a:r>
              <a:rPr sz="1600">
                <a:solidFill>
                  <a:srgbClr val="D4D4D4"/>
                </a:solidFill>
                <a:latin typeface="Consolas"/>
              </a:rPr>
              <a:t>);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4EC9B0"/>
                </a:solidFill>
                <a:latin typeface="Consolas"/>
              </a:rPr>
              <a:t>Console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DCDCAA"/>
                </a:solidFill>
                <a:latin typeface="Consolas"/>
              </a:rPr>
              <a:t>WriteLine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D4D4D4"/>
                </a:solidFill>
                <a:latin typeface="Consolas"/>
              </a:rPr>
              <a:t>!</a:t>
            </a:r>
            <a:r>
              <a:rPr sz="1600">
                <a:solidFill>
                  <a:srgbClr val="D4D4D4"/>
                </a:solidFill>
                <a:latin typeface="Consolas"/>
              </a:rPr>
              <a:t>talabaMi</a:t>
            </a:r>
            <a:r>
              <a:rPr sz="1600">
                <a:solidFill>
                  <a:srgbClr val="D4D4D4"/>
                </a:solidFill>
                <a:latin typeface="Consolas"/>
              </a:rPr>
              <a:t>);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1554480"/>
            <a:ext cx="146304" cy="14630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8992" y="1554480"/>
            <a:ext cx="146304" cy="146304"/>
          </a:xfrm>
          <a:prstGeom prst="ellipse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35024" y="1554480"/>
            <a:ext cx="146304" cy="14630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3616960"/>
            <a:ext cx="10881360" cy="859536"/>
          </a:xfrm>
          <a:prstGeom prst="roundRect">
            <a:avLst/>
          </a:prstGeom>
          <a:solidFill>
            <a:srgbClr val="F0F0F0"/>
          </a:solidFill>
          <a:ln>
            <a:solidFill>
              <a:srgbClr val="C0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73152"/>
          <a:lstStyle/>
          <a:p>
            <a:pPr algn="ctr"/>
            <a:r>
              <a:rPr b="1" sz="1200">
                <a:solidFill>
                  <a:srgbClr val="606070"/>
                </a:solidFill>
                <a:latin typeface="Segoe UI"/>
              </a:rPr>
              <a:t>► NATIJA (Console chiqishi):</a:t>
            </a:r>
          </a:p>
          <a:p>
            <a:r>
              <a:rPr sz="1500">
                <a:solidFill>
                  <a:srgbClr val="1B5E20"/>
                </a:solidFill>
                <a:latin typeface="Consolas"/>
              </a:rPr>
              <a:t>True</a:t>
            </a:r>
          </a:p>
          <a:p>
            <a:r>
              <a:rPr sz="1500">
                <a:solidFill>
                  <a:srgbClr val="1B5E20"/>
                </a:solidFill>
                <a:latin typeface="Consolas"/>
              </a:rPr>
              <a:t>False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586224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06070"/>
                </a:solidFill>
                <a:latin typeface="Segoe UI"/>
              </a:rPr>
              <a:t>yosh &gt;= 18 VA talabaMi ikkalasi ham true bo'lgani uchun natija = true.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3-Ma'ruza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2743200" cy="502920"/>
          </a:xfrm>
          <a:prstGeom prst="round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1E1B4B"/>
                </a:solidFill>
              </a:rPr>
              <a:t>🧠 VIKTORINA #2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64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Quyidagilardan qaysi biri TO'G'RI?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788920"/>
            <a:ext cx="11064240" cy="749808"/>
          </a:xfrm>
          <a:prstGeom prst="roundRect">
            <a:avLst/>
          </a:prstGeom>
          <a:solidFill>
            <a:srgbClr val="2B2763"/>
          </a:solidFill>
          <a:ln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2935224"/>
            <a:ext cx="457200" cy="457200"/>
          </a:xfrm>
          <a:prstGeom prst="ellipse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1E1B4B"/>
                </a:solidFill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788920"/>
            <a:ext cx="10058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"/>
              </a:rPr>
              <a:t>yosh = 20;  — bu solishtirish amali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657600"/>
            <a:ext cx="11064240" cy="749808"/>
          </a:xfrm>
          <a:prstGeom prst="roundRect">
            <a:avLst/>
          </a:prstGeom>
          <a:solidFill>
            <a:srgbClr val="2B2763"/>
          </a:solidFill>
          <a:ln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3803904"/>
            <a:ext cx="457200" cy="457200"/>
          </a:xfrm>
          <a:prstGeom prst="ellipse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1E1B4B"/>
                </a:solidFill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657600"/>
            <a:ext cx="10058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"/>
              </a:rPr>
              <a:t>yosh == 20  — bu qiymat berish amali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526280"/>
            <a:ext cx="11064240" cy="749808"/>
          </a:xfrm>
          <a:prstGeom prst="roundRect">
            <a:avLst/>
          </a:prstGeom>
          <a:solidFill>
            <a:srgbClr val="2B2763"/>
          </a:solidFill>
          <a:ln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" y="4672584"/>
            <a:ext cx="457200" cy="457200"/>
          </a:xfrm>
          <a:prstGeom prst="ellipse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1E1B4B"/>
                </a:solidFill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4526280"/>
            <a:ext cx="10058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"/>
              </a:rPr>
              <a:t>yosh == 20  — bu solishtirish amali, natijasi true yoki false bo'ladi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394960"/>
            <a:ext cx="11064240" cy="749808"/>
          </a:xfrm>
          <a:prstGeom prst="roundRect">
            <a:avLst/>
          </a:prstGeom>
          <a:solidFill>
            <a:srgbClr val="2B2763"/>
          </a:solidFill>
          <a:ln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77240" y="5541264"/>
            <a:ext cx="457200" cy="457200"/>
          </a:xfrm>
          <a:prstGeom prst="ellipse">
            <a:avLst/>
          </a:prstGeom>
          <a:solidFill>
            <a:srgbClr val="8BC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1E1B4B"/>
                </a:solidFill>
              </a:rPr>
              <a:t>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5394960"/>
            <a:ext cx="10058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"/>
              </a:rPr>
              <a:t>Ikkalasi ham bir xil ma'noga ega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550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A09CD8"/>
                </a:solidFill>
                <a:latin typeface="Segoe UI"/>
              </a:rPr>
              <a:t>O'ylab ko'ring... javobingizni chatga yozing!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2743200" cy="50292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✅ JAVOB #2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C8C8E8"/>
                </a:solidFill>
                <a:latin typeface="Segoe UI"/>
              </a:rPr>
              <a:t>Quyidagilardan qaysi biri TO'G'RI?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331720"/>
            <a:ext cx="11064240" cy="658368"/>
          </a:xfrm>
          <a:prstGeom prst="roundRect">
            <a:avLst/>
          </a:prstGeom>
          <a:solidFill>
            <a:srgbClr val="2B2763"/>
          </a:solidFill>
          <a:ln w="12700"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2441448"/>
            <a:ext cx="420624" cy="420624"/>
          </a:xfrm>
          <a:prstGeom prst="ellipse">
            <a:avLst/>
          </a:prstGeom>
          <a:solidFill>
            <a:srgbClr val="555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331720"/>
            <a:ext cx="10058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C8C8E8"/>
                </a:solidFill>
                <a:latin typeface="Segoe UI"/>
              </a:rPr>
              <a:t>yosh = 20;  — bu solishtirish amali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81528"/>
            <a:ext cx="11064240" cy="658368"/>
          </a:xfrm>
          <a:prstGeom prst="roundRect">
            <a:avLst/>
          </a:prstGeom>
          <a:solidFill>
            <a:srgbClr val="2B2763"/>
          </a:solidFill>
          <a:ln w="12700"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9808" y="3191256"/>
            <a:ext cx="420624" cy="420624"/>
          </a:xfrm>
          <a:prstGeom prst="ellipse">
            <a:avLst/>
          </a:prstGeom>
          <a:solidFill>
            <a:srgbClr val="555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3081528"/>
            <a:ext cx="10058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C8C8E8"/>
                </a:solidFill>
                <a:latin typeface="Segoe UI"/>
              </a:rPr>
              <a:t>yosh == 20  — bu qiymat berish amali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831336"/>
            <a:ext cx="11064240" cy="658368"/>
          </a:xfrm>
          <a:prstGeom prst="roundRect">
            <a:avLst/>
          </a:prstGeom>
          <a:solidFill>
            <a:srgbClr val="E3F2E1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49808" y="3941064"/>
            <a:ext cx="420624" cy="42062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831336"/>
            <a:ext cx="10058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B5E20"/>
                </a:solidFill>
                <a:latin typeface="Segoe UI"/>
              </a:rPr>
              <a:t>yosh == 20  — bu solishtirish amali, natijasi true yoki false bo'ladi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581144"/>
            <a:ext cx="11064240" cy="658368"/>
          </a:xfrm>
          <a:prstGeom prst="roundRect">
            <a:avLst/>
          </a:prstGeom>
          <a:solidFill>
            <a:srgbClr val="2B2763"/>
          </a:solidFill>
          <a:ln w="12700"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4690872"/>
            <a:ext cx="420624" cy="420624"/>
          </a:xfrm>
          <a:prstGeom prst="ellipse">
            <a:avLst/>
          </a:prstGeom>
          <a:solidFill>
            <a:srgbClr val="555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581144"/>
            <a:ext cx="10058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C8C8E8"/>
                </a:solidFill>
                <a:latin typeface="Segoe UI"/>
              </a:rPr>
              <a:t>Ikkalasi ham bir xil ma'noga ega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422392"/>
            <a:ext cx="11064240" cy="960120"/>
          </a:xfrm>
          <a:prstGeom prst="roundRect">
            <a:avLst/>
          </a:prstGeom>
          <a:solidFill>
            <a:srgbClr val="2B2763"/>
          </a:solidFill>
          <a:ln w="12700">
            <a:solidFill>
              <a:srgbClr val="00B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400">
                <a:solidFill>
                  <a:srgbClr val="E0E0F5"/>
                </a:solidFill>
                <a:latin typeface="Segoe UI"/>
              </a:rPr>
              <a:t>💡 Izoh: == (ikkita teng belgi) — solishtirish amali, natija true yoki false. = (bitta) — qiymat berish amali, o'zgaruvchiga yangi qiymat yozadi.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" y="2103120"/>
            <a:ext cx="1828800" cy="1828800"/>
          </a:xfrm>
          <a:prstGeom prst="ellipse">
            <a:avLst/>
          </a:prstGeom>
          <a:solidFill>
            <a:srgbClr val="1E1B4B"/>
          </a:solidFill>
          <a:ln w="31750">
            <a:solidFill>
              <a:srgbClr val="00B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400" b="1">
                <a:solidFill>
                  <a:srgbClr val="FFFFFF"/>
                </a:solidFill>
              </a:rPr>
              <a:t>III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331720"/>
            <a:ext cx="8503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E8DCFF"/>
                </a:solidFill>
                <a:latin typeface="Segoe UI"/>
              </a:rPr>
              <a:t>3-BO'LIM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2743200"/>
            <a:ext cx="85039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Segoe UI"/>
              </a:rPr>
              <a:t>Qiymat berish, turga
keltirish va shartli amal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3794760"/>
            <a:ext cx="8503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E8DCFF"/>
                </a:solidFill>
                <a:latin typeface="Segoe UI"/>
              </a:rPr>
              <a:t>Ifodalarni qisqa yozish va turlar orasida o'tish usullari.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III-BO'LIM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Qiymat berish amali va qisqartirilgan shakllari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508760"/>
          <a:ext cx="1088136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5029200"/>
                <a:gridCol w="4389120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Segoe UI"/>
                        </a:rPr>
                        <a:t>Amal</a:t>
                      </a:r>
                    </a:p>
                  </a:txBody>
                  <a:tcPr anchor="ctr">
                    <a:solidFill>
                      <a:srgbClr val="1E1B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Segoe UI"/>
                        </a:rPr>
                        <a:t>To'liq yozilishi</a:t>
                      </a:r>
                    </a:p>
                  </a:txBody>
                  <a:tcPr anchor="ctr">
                    <a:solidFill>
                      <a:srgbClr val="1E1B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Segoe UI"/>
                        </a:rPr>
                        <a:t>Qisqa yozilishi</a:t>
                      </a:r>
                    </a:p>
                  </a:txBody>
                  <a:tcPr anchor="ctr">
                    <a:solidFill>
                      <a:srgbClr val="1E1B4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3232B"/>
                          </a:solidFill>
                          <a:latin typeface="Segoe UI"/>
                        </a:rPr>
                        <a:t>=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Oddiy qiymat berish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yosh = 20;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3232B"/>
                          </a:solidFill>
                          <a:latin typeface="Segoe UI"/>
                        </a:rPr>
                        <a:t>+=</a:t>
                      </a:r>
                    </a:p>
                  </a:txBody>
                  <a:tcPr anchor="ctr" marL="109728">
                    <a:solidFill>
                      <a:srgbClr val="F0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yosh = yosh + 5;</a:t>
                      </a:r>
                    </a:p>
                  </a:txBody>
                  <a:tcPr anchor="ctr" marL="109728">
                    <a:solidFill>
                      <a:srgbClr val="F0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yosh += 5;</a:t>
                      </a:r>
                    </a:p>
                  </a:txBody>
                  <a:tcPr anchor="ctr" marL="109728">
                    <a:solidFill>
                      <a:srgbClr val="F0EFF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3232B"/>
                          </a:solidFill>
                          <a:latin typeface="Segoe UI"/>
                        </a:rPr>
                        <a:t>-=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yosh = yosh - 5;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yosh -= 5;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3232B"/>
                          </a:solidFill>
                          <a:latin typeface="Segoe UI"/>
                        </a:rPr>
                        <a:t>*=</a:t>
                      </a:r>
                    </a:p>
                  </a:txBody>
                  <a:tcPr anchor="ctr" marL="109728">
                    <a:solidFill>
                      <a:srgbClr val="F0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narx = narx * 2;</a:t>
                      </a:r>
                    </a:p>
                  </a:txBody>
                  <a:tcPr anchor="ctr" marL="109728">
                    <a:solidFill>
                      <a:srgbClr val="F0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narx *= 2;</a:t>
                      </a:r>
                    </a:p>
                  </a:txBody>
                  <a:tcPr anchor="ctr" marL="109728">
                    <a:solidFill>
                      <a:srgbClr val="F0EFF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3232B"/>
                          </a:solidFill>
                          <a:latin typeface="Segoe UI"/>
                        </a:rPr>
                        <a:t>/=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narx = narx / 2;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narx /= 2;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3232B"/>
                          </a:solidFill>
                          <a:latin typeface="Segoe UI"/>
                        </a:rPr>
                        <a:t>%=</a:t>
                      </a:r>
                    </a:p>
                  </a:txBody>
                  <a:tcPr anchor="ctr" marL="109728">
                    <a:solidFill>
                      <a:srgbClr val="F0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son = son % 3;</a:t>
                      </a:r>
                    </a:p>
                  </a:txBody>
                  <a:tcPr anchor="ctr" marL="109728">
                    <a:solidFill>
                      <a:srgbClr val="F0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son %= 3;</a:t>
                      </a:r>
                    </a:p>
                  </a:txBody>
                  <a:tcPr anchor="ctr" marL="109728">
                    <a:solidFill>
                      <a:srgbClr val="F0EF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3-Ma'ruza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III-BO'LIM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Misol: qisqartirilgan qiymat berish amallari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881360" cy="206248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solidFill>
              <a:srgbClr val="3C3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411480" rIns="182880"/>
          <a:lstStyle/>
          <a:p>
            <a:pPr algn="ctr">
              <a:lnSpc>
                <a:spcPct val="122000"/>
              </a:lnSpc>
            </a:pPr>
            <a:r>
              <a:rPr sz="1600">
                <a:solidFill>
                  <a:srgbClr val="569CD6"/>
                </a:solidFill>
                <a:latin typeface="Consolas"/>
              </a:rPr>
              <a:t>int</a:t>
            </a:r>
            <a:r>
              <a:rPr sz="1600">
                <a:solidFill>
                  <a:srgbClr val="D4D4D4"/>
                </a:solidFill>
                <a:latin typeface="Consolas"/>
              </a:rPr>
              <a:t> ball</a:t>
            </a:r>
            <a:r>
              <a:rPr sz="1600">
                <a:solidFill>
                  <a:srgbClr val="D4D4D4"/>
                </a:solidFill>
                <a:latin typeface="Consolas"/>
              </a:rPr>
              <a:t> = </a:t>
            </a:r>
            <a:r>
              <a:rPr sz="1600">
                <a:solidFill>
                  <a:srgbClr val="CE9178"/>
                </a:solidFill>
                <a:latin typeface="Consolas"/>
              </a:rPr>
              <a:t>70</a:t>
            </a:r>
            <a:r>
              <a:rPr sz="16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ball</a:t>
            </a:r>
            <a:r>
              <a:rPr sz="1600">
                <a:solidFill>
                  <a:srgbClr val="D4D4D4"/>
                </a:solidFill>
                <a:latin typeface="Consolas"/>
              </a:rPr>
              <a:t> += </a:t>
            </a:r>
            <a:r>
              <a:rPr sz="1600">
                <a:solidFill>
                  <a:srgbClr val="CE9178"/>
                </a:solidFill>
                <a:latin typeface="Consolas"/>
              </a:rPr>
              <a:t>15</a:t>
            </a:r>
            <a:r>
              <a:rPr sz="1600">
                <a:solidFill>
                  <a:srgbClr val="D4D4D4"/>
                </a:solidFill>
                <a:latin typeface="Consolas"/>
              </a:rPr>
              <a:t>;</a:t>
            </a:r>
            <a:r>
              <a:rPr sz="1600">
                <a:solidFill>
                  <a:srgbClr val="D4D4D4"/>
                </a:solidFill>
                <a:latin typeface="Consolas"/>
              </a:rPr>
              <a:t>  </a:t>
            </a:r>
            <a:r>
              <a:rPr sz="1600">
                <a:solidFill>
                  <a:srgbClr val="6A9955"/>
                </a:solidFill>
                <a:latin typeface="Consolas"/>
              </a:rPr>
              <a:t>// ball = ball + 15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4EC9B0"/>
                </a:solidFill>
                <a:latin typeface="Consolas"/>
              </a:rPr>
              <a:t>Console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DCDCAA"/>
                </a:solidFill>
                <a:latin typeface="Consolas"/>
              </a:rPr>
              <a:t>WriteLine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D4D4D4"/>
                </a:solidFill>
                <a:latin typeface="Consolas"/>
              </a:rPr>
              <a:t>ball</a:t>
            </a:r>
            <a:r>
              <a:rPr sz="1600">
                <a:solidFill>
                  <a:srgbClr val="D4D4D4"/>
                </a:solidFill>
                <a:latin typeface="Consolas"/>
              </a:rPr>
              <a:t>);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ball</a:t>
            </a:r>
            <a:r>
              <a:rPr sz="1600">
                <a:solidFill>
                  <a:srgbClr val="D4D4D4"/>
                </a:solidFill>
                <a:latin typeface="Consolas"/>
              </a:rPr>
              <a:t> -= </a:t>
            </a:r>
            <a:r>
              <a:rPr sz="1600">
                <a:solidFill>
                  <a:srgbClr val="CE9178"/>
                </a:solidFill>
                <a:latin typeface="Consolas"/>
              </a:rPr>
              <a:t>5</a:t>
            </a:r>
            <a:r>
              <a:rPr sz="16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4EC9B0"/>
                </a:solidFill>
                <a:latin typeface="Consolas"/>
              </a:rPr>
              <a:t>Console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DCDCAA"/>
                </a:solidFill>
                <a:latin typeface="Consolas"/>
              </a:rPr>
              <a:t>WriteLine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D4D4D4"/>
                </a:solidFill>
                <a:latin typeface="Consolas"/>
              </a:rPr>
              <a:t>ball</a:t>
            </a:r>
            <a:r>
              <a:rPr sz="1600">
                <a:solidFill>
                  <a:srgbClr val="D4D4D4"/>
                </a:solidFill>
                <a:latin typeface="Consolas"/>
              </a:rPr>
              <a:t>);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1554480"/>
            <a:ext cx="146304" cy="14630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8992" y="1554480"/>
            <a:ext cx="146304" cy="146304"/>
          </a:xfrm>
          <a:prstGeom prst="ellipse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35024" y="1554480"/>
            <a:ext cx="146304" cy="14630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3616960"/>
            <a:ext cx="10881360" cy="859536"/>
          </a:xfrm>
          <a:prstGeom prst="roundRect">
            <a:avLst/>
          </a:prstGeom>
          <a:solidFill>
            <a:srgbClr val="F0F0F0"/>
          </a:solidFill>
          <a:ln>
            <a:solidFill>
              <a:srgbClr val="C0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73152"/>
          <a:lstStyle/>
          <a:p>
            <a:pPr algn="ctr"/>
            <a:r>
              <a:rPr b="1" sz="1200">
                <a:solidFill>
                  <a:srgbClr val="606070"/>
                </a:solidFill>
                <a:latin typeface="Segoe UI"/>
              </a:rPr>
              <a:t>► NATIJA (Console chiqishi):</a:t>
            </a:r>
          </a:p>
          <a:p>
            <a:r>
              <a:rPr sz="1500">
                <a:solidFill>
                  <a:srgbClr val="1B5E20"/>
                </a:solidFill>
                <a:latin typeface="Consolas"/>
              </a:rPr>
              <a:t>85</a:t>
            </a:r>
          </a:p>
          <a:p>
            <a:r>
              <a:rPr sz="1500">
                <a:solidFill>
                  <a:srgbClr val="1B5E20"/>
                </a:solidFill>
                <a:latin typeface="Consolas"/>
              </a:rPr>
              <a:t>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3-Ma'ruza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III-BO'LIM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Turlarga oshkor keltirish (explicit casting)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Ba'zan bir turdagi qiymatni boshqa turga o'girish (keltirish) kerak bo'ladi — bu "casting" deb ataladi.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OSHKOR (explicit) keltirish qavs ichida yozilib ko'rsatiladi:  (double)son,  (int)narx.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int → double: xavfsiz, ma'lumot yo'qolmaydi:  double d = (double)5;  → 5.0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double → int: XAVFLI, kasr qismi TASHLAB YUBORILADI (yaxlitlanmaydi!):  int x = (int)7.9;  → 7 (8 emas!)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Ba'zi keltirishlar AVTOMATIK (implicit) amalga oshadi — masalan int qiymat double o'zgaruvchiga to'g'ridan-to'g'ri berilishi mumkin, chunki ma'lumot yo'qolish xavfi yo'q.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3-Ma'ruza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III-BO'LIM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Misol: oshkor va avtomatik turga keltirish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881360" cy="2310384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solidFill>
              <a:srgbClr val="3C3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411480" rIns="182880"/>
          <a:lstStyle/>
          <a:p>
            <a:pPr algn="ctr">
              <a:lnSpc>
                <a:spcPct val="122000"/>
              </a:lnSpc>
            </a:pPr>
            <a:r>
              <a:rPr sz="1600">
                <a:solidFill>
                  <a:srgbClr val="569CD6"/>
                </a:solidFill>
                <a:latin typeface="Consolas"/>
              </a:rPr>
              <a:t>double</a:t>
            </a:r>
            <a:r>
              <a:rPr sz="1600">
                <a:solidFill>
                  <a:srgbClr val="D4D4D4"/>
                </a:solidFill>
                <a:latin typeface="Consolas"/>
              </a:rPr>
              <a:t> narx</a:t>
            </a:r>
            <a:r>
              <a:rPr sz="1600">
                <a:solidFill>
                  <a:srgbClr val="D4D4D4"/>
                </a:solidFill>
                <a:latin typeface="Consolas"/>
              </a:rPr>
              <a:t> = </a:t>
            </a:r>
            <a:r>
              <a:rPr sz="1600">
                <a:solidFill>
                  <a:srgbClr val="CE9178"/>
                </a:solidFill>
                <a:latin typeface="Consolas"/>
              </a:rPr>
              <a:t>7.9</a:t>
            </a:r>
            <a:r>
              <a:rPr sz="16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569CD6"/>
                </a:solidFill>
                <a:latin typeface="Consolas"/>
              </a:rPr>
              <a:t>int</a:t>
            </a:r>
            <a:r>
              <a:rPr sz="1600">
                <a:solidFill>
                  <a:srgbClr val="D4D4D4"/>
                </a:solidFill>
                <a:latin typeface="Consolas"/>
              </a:rPr>
              <a:t> butun</a:t>
            </a:r>
            <a:r>
              <a:rPr sz="1600">
                <a:solidFill>
                  <a:srgbClr val="D4D4D4"/>
                </a:solidFill>
                <a:latin typeface="Consolas"/>
              </a:rPr>
              <a:t> = 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569CD6"/>
                </a:solidFill>
                <a:latin typeface="Consolas"/>
              </a:rPr>
              <a:t>int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  <a:r>
              <a:rPr sz="1600">
                <a:solidFill>
                  <a:srgbClr val="D4D4D4"/>
                </a:solidFill>
                <a:latin typeface="Consolas"/>
              </a:rPr>
              <a:t>narx</a:t>
            </a:r>
            <a:r>
              <a:rPr sz="1600">
                <a:solidFill>
                  <a:srgbClr val="D4D4D4"/>
                </a:solidFill>
                <a:latin typeface="Consolas"/>
              </a:rPr>
              <a:t>;</a:t>
            </a:r>
            <a:r>
              <a:rPr sz="1600">
                <a:solidFill>
                  <a:srgbClr val="D4D4D4"/>
                </a:solidFill>
                <a:latin typeface="Consolas"/>
              </a:rPr>
              <a:t>  </a:t>
            </a:r>
            <a:r>
              <a:rPr sz="1600">
                <a:solidFill>
                  <a:srgbClr val="6A9955"/>
                </a:solidFill>
                <a:latin typeface="Consolas"/>
              </a:rPr>
              <a:t>// kasr qismi tashlanadi, YAXLITLANMAYDI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4EC9B0"/>
                </a:solidFill>
                <a:latin typeface="Consolas"/>
              </a:rPr>
              <a:t>Console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DCDCAA"/>
                </a:solidFill>
                <a:latin typeface="Consolas"/>
              </a:rPr>
              <a:t>WriteLine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D4D4D4"/>
                </a:solidFill>
                <a:latin typeface="Consolas"/>
              </a:rPr>
              <a:t>butun</a:t>
            </a:r>
            <a:r>
              <a:rPr sz="1600">
                <a:solidFill>
                  <a:srgbClr val="D4D4D4"/>
                </a:solidFill>
                <a:latin typeface="Consolas"/>
              </a:rPr>
              <a:t>);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569CD6"/>
                </a:solidFill>
                <a:latin typeface="Consolas"/>
              </a:rPr>
              <a:t>int</a:t>
            </a:r>
            <a:r>
              <a:rPr sz="1600">
                <a:solidFill>
                  <a:srgbClr val="D4D4D4"/>
                </a:solidFill>
                <a:latin typeface="Consolas"/>
              </a:rPr>
              <a:t> son</a:t>
            </a:r>
            <a:r>
              <a:rPr sz="1600">
                <a:solidFill>
                  <a:srgbClr val="D4D4D4"/>
                </a:solidFill>
                <a:latin typeface="Consolas"/>
              </a:rPr>
              <a:t> = </a:t>
            </a:r>
            <a:r>
              <a:rPr sz="1600">
                <a:solidFill>
                  <a:srgbClr val="CE9178"/>
                </a:solidFill>
                <a:latin typeface="Consolas"/>
              </a:rPr>
              <a:t>5</a:t>
            </a:r>
            <a:r>
              <a:rPr sz="16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569CD6"/>
                </a:solidFill>
                <a:latin typeface="Consolas"/>
              </a:rPr>
              <a:t>double</a:t>
            </a:r>
            <a:r>
              <a:rPr sz="1600">
                <a:solidFill>
                  <a:srgbClr val="D4D4D4"/>
                </a:solidFill>
                <a:latin typeface="Consolas"/>
              </a:rPr>
              <a:t> avtomatik</a:t>
            </a:r>
            <a:r>
              <a:rPr sz="1600">
                <a:solidFill>
                  <a:srgbClr val="D4D4D4"/>
                </a:solidFill>
                <a:latin typeface="Consolas"/>
              </a:rPr>
              <a:t> = </a:t>
            </a:r>
            <a:r>
              <a:rPr sz="1600">
                <a:solidFill>
                  <a:srgbClr val="D4D4D4"/>
                </a:solidFill>
                <a:latin typeface="Consolas"/>
              </a:rPr>
              <a:t>son</a:t>
            </a:r>
            <a:r>
              <a:rPr sz="1600">
                <a:solidFill>
                  <a:srgbClr val="D4D4D4"/>
                </a:solidFill>
                <a:latin typeface="Consolas"/>
              </a:rPr>
              <a:t>;</a:t>
            </a:r>
            <a:r>
              <a:rPr sz="1600">
                <a:solidFill>
                  <a:srgbClr val="D4D4D4"/>
                </a:solidFill>
                <a:latin typeface="Consolas"/>
              </a:rPr>
              <a:t>  </a:t>
            </a:r>
            <a:r>
              <a:rPr sz="1600">
                <a:solidFill>
                  <a:srgbClr val="6A9955"/>
                </a:solidFill>
                <a:latin typeface="Consolas"/>
              </a:rPr>
              <a:t>// implicit -- avtomatik, xavfsiz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4EC9B0"/>
                </a:solidFill>
                <a:latin typeface="Consolas"/>
              </a:rPr>
              <a:t>Console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DCDCAA"/>
                </a:solidFill>
                <a:latin typeface="Consolas"/>
              </a:rPr>
              <a:t>WriteLine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D4D4D4"/>
                </a:solidFill>
                <a:latin typeface="Consolas"/>
              </a:rPr>
              <a:t>avtomatik</a:t>
            </a:r>
            <a:r>
              <a:rPr sz="1600">
                <a:solidFill>
                  <a:srgbClr val="D4D4D4"/>
                </a:solidFill>
                <a:latin typeface="Consolas"/>
              </a:rPr>
              <a:t>);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1554480"/>
            <a:ext cx="146304" cy="14630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8992" y="1554480"/>
            <a:ext cx="146304" cy="146304"/>
          </a:xfrm>
          <a:prstGeom prst="ellipse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35024" y="1554480"/>
            <a:ext cx="146304" cy="14630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3864864"/>
            <a:ext cx="10881360" cy="859536"/>
          </a:xfrm>
          <a:prstGeom prst="roundRect">
            <a:avLst/>
          </a:prstGeom>
          <a:solidFill>
            <a:srgbClr val="F0F0F0"/>
          </a:solidFill>
          <a:ln>
            <a:solidFill>
              <a:srgbClr val="C0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73152"/>
          <a:lstStyle/>
          <a:p>
            <a:pPr algn="ctr"/>
            <a:r>
              <a:rPr b="1" sz="1200">
                <a:solidFill>
                  <a:srgbClr val="606070"/>
                </a:solidFill>
                <a:latin typeface="Segoe UI"/>
              </a:rPr>
              <a:t>► NATIJA (Console chiqishi):</a:t>
            </a:r>
          </a:p>
          <a:p>
            <a:r>
              <a:rPr sz="1500">
                <a:solidFill>
                  <a:srgbClr val="1B5E20"/>
                </a:solidFill>
                <a:latin typeface="Consolas"/>
              </a:rPr>
              <a:t>7</a:t>
            </a:r>
          </a:p>
          <a:p>
            <a:r>
              <a:rPr sz="1500">
                <a:solidFill>
                  <a:srgbClr val="1B5E20"/>
                </a:solidFill>
                <a:latin typeface="Consolas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83412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06070"/>
                </a:solidFill>
                <a:latin typeface="Segoe UI"/>
              </a:rPr>
              <a:t>7.9 ni (int)ga keltirganda 8 emas, 7 chiqadi — yaxlitlash emas, kesish sodir bo'ladi.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3-Ma'ruza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2743200" cy="502920"/>
          </a:xfrm>
          <a:prstGeom prst="round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1E1B4B"/>
                </a:solidFill>
              </a:rPr>
              <a:t>🧠 VIKTORINA #3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64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int x = (int)7.9;  — x ning qiymati nechaga teng bo'ladi?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788920"/>
            <a:ext cx="11064240" cy="749808"/>
          </a:xfrm>
          <a:prstGeom prst="roundRect">
            <a:avLst/>
          </a:prstGeom>
          <a:solidFill>
            <a:srgbClr val="2B2763"/>
          </a:solidFill>
          <a:ln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2935224"/>
            <a:ext cx="457200" cy="457200"/>
          </a:xfrm>
          <a:prstGeom prst="ellipse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1E1B4B"/>
                </a:solidFill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788920"/>
            <a:ext cx="10058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"/>
              </a:rPr>
              <a:t>8, chunki C# avtomatik yaxlitlaydi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657600"/>
            <a:ext cx="11064240" cy="749808"/>
          </a:xfrm>
          <a:prstGeom prst="roundRect">
            <a:avLst/>
          </a:prstGeom>
          <a:solidFill>
            <a:srgbClr val="2B2763"/>
          </a:solidFill>
          <a:ln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3803904"/>
            <a:ext cx="457200" cy="457200"/>
          </a:xfrm>
          <a:prstGeom prst="ellipse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1E1B4B"/>
                </a:solidFill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657600"/>
            <a:ext cx="10058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"/>
              </a:rPr>
              <a:t>7, chunki (int) ga keltirishda kasr qismi shunchaki tashlab yuboriladi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526280"/>
            <a:ext cx="11064240" cy="749808"/>
          </a:xfrm>
          <a:prstGeom prst="roundRect">
            <a:avLst/>
          </a:prstGeom>
          <a:solidFill>
            <a:srgbClr val="2B2763"/>
          </a:solidFill>
          <a:ln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" y="4672584"/>
            <a:ext cx="457200" cy="457200"/>
          </a:xfrm>
          <a:prstGeom prst="ellipse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1E1B4B"/>
                </a:solidFill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4526280"/>
            <a:ext cx="10058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"/>
              </a:rPr>
              <a:t>7.9, o'zgarishsiz qoladi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394960"/>
            <a:ext cx="11064240" cy="749808"/>
          </a:xfrm>
          <a:prstGeom prst="roundRect">
            <a:avLst/>
          </a:prstGeom>
          <a:solidFill>
            <a:srgbClr val="2B2763"/>
          </a:solidFill>
          <a:ln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77240" y="5541264"/>
            <a:ext cx="457200" cy="457200"/>
          </a:xfrm>
          <a:prstGeom prst="ellipse">
            <a:avLst/>
          </a:prstGeom>
          <a:solidFill>
            <a:srgbClr val="8BC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1E1B4B"/>
                </a:solidFill>
              </a:rPr>
              <a:t>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5394960"/>
            <a:ext cx="10058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"/>
              </a:rPr>
              <a:t>Xato beradi, kompilyatsiya bo'lmaydi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550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A09CD8"/>
                </a:solidFill>
                <a:latin typeface="Segoe UI"/>
              </a:rPr>
              <a:t>O'ylab ko'ring... javobingizni chatga yozing!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2743200" cy="50292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✅ JAVOB #3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C8C8E8"/>
                </a:solidFill>
                <a:latin typeface="Segoe UI"/>
              </a:rPr>
              <a:t>int x = (int)7.9;  — x ning qiymati nechaga teng bo'ladi?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331720"/>
            <a:ext cx="11064240" cy="658368"/>
          </a:xfrm>
          <a:prstGeom prst="roundRect">
            <a:avLst/>
          </a:prstGeom>
          <a:solidFill>
            <a:srgbClr val="2B2763"/>
          </a:solidFill>
          <a:ln w="12700"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2441448"/>
            <a:ext cx="420624" cy="420624"/>
          </a:xfrm>
          <a:prstGeom prst="ellipse">
            <a:avLst/>
          </a:prstGeom>
          <a:solidFill>
            <a:srgbClr val="555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331720"/>
            <a:ext cx="10058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C8C8E8"/>
                </a:solidFill>
                <a:latin typeface="Segoe UI"/>
              </a:rPr>
              <a:t>8, chunki C# avtomatik yaxlitlaydi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81528"/>
            <a:ext cx="11064240" cy="658368"/>
          </a:xfrm>
          <a:prstGeom prst="roundRect">
            <a:avLst/>
          </a:prstGeom>
          <a:solidFill>
            <a:srgbClr val="E3F2E1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9808" y="3191256"/>
            <a:ext cx="420624" cy="42062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3081528"/>
            <a:ext cx="10058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B5E20"/>
                </a:solidFill>
                <a:latin typeface="Segoe UI"/>
              </a:rPr>
              <a:t>7, chunki (int) ga keltirishda kasr qismi shunchaki tashlab yuboriladi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831336"/>
            <a:ext cx="11064240" cy="658368"/>
          </a:xfrm>
          <a:prstGeom prst="roundRect">
            <a:avLst/>
          </a:prstGeom>
          <a:solidFill>
            <a:srgbClr val="2B2763"/>
          </a:solidFill>
          <a:ln w="12700"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49808" y="3941064"/>
            <a:ext cx="420624" cy="420624"/>
          </a:xfrm>
          <a:prstGeom prst="ellipse">
            <a:avLst/>
          </a:prstGeom>
          <a:solidFill>
            <a:srgbClr val="555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831336"/>
            <a:ext cx="10058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C8C8E8"/>
                </a:solidFill>
                <a:latin typeface="Segoe UI"/>
              </a:rPr>
              <a:t>7.9, o'zgarishsiz qoladi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581144"/>
            <a:ext cx="11064240" cy="658368"/>
          </a:xfrm>
          <a:prstGeom prst="roundRect">
            <a:avLst/>
          </a:prstGeom>
          <a:solidFill>
            <a:srgbClr val="2B2763"/>
          </a:solidFill>
          <a:ln w="12700"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4690872"/>
            <a:ext cx="420624" cy="420624"/>
          </a:xfrm>
          <a:prstGeom prst="ellipse">
            <a:avLst/>
          </a:prstGeom>
          <a:solidFill>
            <a:srgbClr val="555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581144"/>
            <a:ext cx="10058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C8C8E8"/>
                </a:solidFill>
                <a:latin typeface="Segoe UI"/>
              </a:rPr>
              <a:t>Xato beradi, kompilyatsiya bo'lmaydi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422392"/>
            <a:ext cx="11064240" cy="960120"/>
          </a:xfrm>
          <a:prstGeom prst="roundRect">
            <a:avLst/>
          </a:prstGeom>
          <a:solidFill>
            <a:srgbClr val="2B2763"/>
          </a:solidFill>
          <a:ln w="12700">
            <a:solidFill>
              <a:srgbClr val="00B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400">
                <a:solidFill>
                  <a:srgbClr val="E0E0F5"/>
                </a:solidFill>
                <a:latin typeface="Segoe UI"/>
              </a:rPr>
              <a:t>💡 Izoh: (int) ga oshkor keltirishda C# sonni YAXLITLAMAYDI, balki kasr qismini shunchaki KESIB TASHLAYDI, shuning uchun natija 7 bo'ladi.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III-BO'LIM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Shartli amal (ternary operator)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Shartli amal — bitta qatorda oddiy if-else vazifasini bajaradigan qisqa yozuv.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Sintaksisi:   shart ? qiymat1 : qiymat2;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Agar shart TRUE bo'lsa — qiymat1 qaytariladi, aks holda (FALSE bo'lsa) — qiymat2 qaytariladi.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Bu — C# dagi YAGONA amal bo'lib, UCHTA operand bilan ishlaydi (shuning uchun uni ba'zan "ternar" ya'ni "uchlik" amal deb ataladi).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3-Ma'ruza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III-BO'LIM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Misol: shartli (ternary) amal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881360" cy="206248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solidFill>
              <a:srgbClr val="3C3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411480" rIns="182880"/>
          <a:lstStyle/>
          <a:p>
            <a:pPr algn="ctr">
              <a:lnSpc>
                <a:spcPct val="122000"/>
              </a:lnSpc>
            </a:pPr>
            <a:r>
              <a:rPr sz="1600">
                <a:solidFill>
                  <a:srgbClr val="569CD6"/>
                </a:solidFill>
                <a:latin typeface="Consolas"/>
              </a:rPr>
              <a:t>int</a:t>
            </a:r>
            <a:r>
              <a:rPr sz="1600">
                <a:solidFill>
                  <a:srgbClr val="D4D4D4"/>
                </a:solidFill>
                <a:latin typeface="Consolas"/>
              </a:rPr>
              <a:t> yosh</a:t>
            </a:r>
            <a:r>
              <a:rPr sz="1600">
                <a:solidFill>
                  <a:srgbClr val="D4D4D4"/>
                </a:solidFill>
                <a:latin typeface="Consolas"/>
              </a:rPr>
              <a:t> = </a:t>
            </a:r>
            <a:r>
              <a:rPr sz="1600">
                <a:solidFill>
                  <a:srgbClr val="CE9178"/>
                </a:solidFill>
                <a:latin typeface="Consolas"/>
              </a:rPr>
              <a:t>16</a:t>
            </a:r>
            <a:r>
              <a:rPr sz="16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569CD6"/>
                </a:solidFill>
                <a:latin typeface="Consolas"/>
              </a:rPr>
              <a:t>string</a:t>
            </a:r>
            <a:r>
              <a:rPr sz="1600">
                <a:solidFill>
                  <a:srgbClr val="D4D4D4"/>
                </a:solidFill>
                <a:latin typeface="Consolas"/>
              </a:rPr>
              <a:t> natija</a:t>
            </a:r>
            <a:r>
              <a:rPr sz="1600">
                <a:solidFill>
                  <a:srgbClr val="D4D4D4"/>
                </a:solidFill>
                <a:latin typeface="Consolas"/>
              </a:rPr>
              <a:t> = 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D4D4D4"/>
                </a:solidFill>
                <a:latin typeface="Consolas"/>
              </a:rPr>
              <a:t>yosh</a:t>
            </a:r>
            <a:r>
              <a:rPr sz="1600">
                <a:solidFill>
                  <a:srgbClr val="D4D4D4"/>
                </a:solidFill>
                <a:latin typeface="Consolas"/>
              </a:rPr>
              <a:t> &gt;= </a:t>
            </a:r>
            <a:r>
              <a:rPr sz="1600">
                <a:solidFill>
                  <a:srgbClr val="CE9178"/>
                </a:solidFill>
                <a:latin typeface="Consolas"/>
              </a:rPr>
              <a:t>18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    </a:t>
            </a:r>
            <a:r>
              <a:rPr sz="1600">
                <a:solidFill>
                  <a:srgbClr val="D4D4D4"/>
                </a:solidFill>
                <a:latin typeface="Consolas"/>
              </a:rPr>
              <a:t>? </a:t>
            </a:r>
            <a:r>
              <a:rPr sz="1600">
                <a:solidFill>
                  <a:srgbClr val="CE9178"/>
                </a:solidFill>
                <a:latin typeface="Consolas"/>
              </a:rPr>
              <a:t>"Kattalar"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D4D4D4"/>
                </a:solidFill>
                <a:latin typeface="Consolas"/>
              </a:rPr>
              <a:t>    </a:t>
            </a:r>
            <a:r>
              <a:rPr sz="1600">
                <a:solidFill>
                  <a:srgbClr val="D4D4D4"/>
                </a:solidFill>
                <a:latin typeface="Consolas"/>
              </a:rPr>
              <a:t>: </a:t>
            </a:r>
            <a:r>
              <a:rPr sz="1600">
                <a:solidFill>
                  <a:srgbClr val="CE9178"/>
                </a:solidFill>
                <a:latin typeface="Consolas"/>
              </a:rPr>
              <a:t>"Voyaga yetmagan"</a:t>
            </a:r>
            <a:r>
              <a:rPr sz="16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4EC9B0"/>
                </a:solidFill>
                <a:latin typeface="Consolas"/>
              </a:rPr>
              <a:t>Console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DCDCAA"/>
                </a:solidFill>
                <a:latin typeface="Consolas"/>
              </a:rPr>
              <a:t>WriteLine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D4D4D4"/>
                </a:solidFill>
                <a:latin typeface="Consolas"/>
              </a:rPr>
              <a:t>natija</a:t>
            </a:r>
            <a:r>
              <a:rPr sz="1600">
                <a:solidFill>
                  <a:srgbClr val="D4D4D4"/>
                </a:solidFill>
                <a:latin typeface="Consolas"/>
              </a:rPr>
              <a:t>);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1554480"/>
            <a:ext cx="146304" cy="14630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8992" y="1554480"/>
            <a:ext cx="146304" cy="146304"/>
          </a:xfrm>
          <a:prstGeom prst="ellipse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35024" y="1554480"/>
            <a:ext cx="146304" cy="14630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3616960"/>
            <a:ext cx="10881360" cy="621792"/>
          </a:xfrm>
          <a:prstGeom prst="roundRect">
            <a:avLst/>
          </a:prstGeom>
          <a:solidFill>
            <a:srgbClr val="F0F0F0"/>
          </a:solidFill>
          <a:ln>
            <a:solidFill>
              <a:srgbClr val="C0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73152"/>
          <a:lstStyle/>
          <a:p>
            <a:pPr algn="ctr"/>
            <a:r>
              <a:rPr b="1" sz="1200">
                <a:solidFill>
                  <a:srgbClr val="606070"/>
                </a:solidFill>
                <a:latin typeface="Segoe UI"/>
              </a:rPr>
              <a:t>► NATIJA (Console chiqishi):</a:t>
            </a:r>
          </a:p>
          <a:p>
            <a:r>
              <a:rPr sz="1500">
                <a:solidFill>
                  <a:srgbClr val="1B5E20"/>
                </a:solidFill>
                <a:latin typeface="Consolas"/>
              </a:rPr>
              <a:t>Voyaga yetmagan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34848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06070"/>
                </a:solidFill>
                <a:latin typeface="Segoe UI"/>
              </a:rPr>
              <a:t>Bu kod xuddi if (yosh &gt;= 18) natija = "Kattalar"; else natija = "Voyaga yetmagan"; bilan bir xil natija beradi.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3-Ma'ruza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III-BO'LIM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Amallarning ustuvorligi (precedence)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508760"/>
          <a:ext cx="1088136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200400"/>
                <a:gridCol w="5486400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Segoe UI"/>
                        </a:rPr>
                        <a:t>Daraja</a:t>
                      </a:r>
                    </a:p>
                  </a:txBody>
                  <a:tcPr anchor="ctr">
                    <a:solidFill>
                      <a:srgbClr val="1E1B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Segoe UI"/>
                        </a:rPr>
                        <a:t>Amallar</a:t>
                      </a:r>
                    </a:p>
                  </a:txBody>
                  <a:tcPr anchor="ctr">
                    <a:solidFill>
                      <a:srgbClr val="1E1B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Segoe UI"/>
                        </a:rPr>
                        <a:t>Izoh</a:t>
                      </a:r>
                    </a:p>
                  </a:txBody>
                  <a:tcPr anchor="ctr">
                    <a:solidFill>
                      <a:srgbClr val="1E1B4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3232B"/>
                          </a:solidFill>
                          <a:latin typeface="Segoe UI"/>
                        </a:rPr>
                        <a:t>1 (eng yuqori)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( )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Qavs ichidagi amal HAR DOIM birinchi bajariladi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3232B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anchor="ctr" marL="109728">
                    <a:solidFill>
                      <a:srgbClr val="F0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++ , -- , (tur)</a:t>
                      </a:r>
                    </a:p>
                  </a:txBody>
                  <a:tcPr anchor="ctr" marL="109728">
                    <a:solidFill>
                      <a:srgbClr val="F0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Unar amallar va turga keltirish</a:t>
                      </a:r>
                    </a:p>
                  </a:txBody>
                  <a:tcPr anchor="ctr" marL="109728">
                    <a:solidFill>
                      <a:srgbClr val="F0EFF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3232B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* , / , %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Ko'paytirish, bo'lish, qoldiq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3232B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anchor="ctr" marL="109728">
                    <a:solidFill>
                      <a:srgbClr val="F0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+ , -</a:t>
                      </a:r>
                    </a:p>
                  </a:txBody>
                  <a:tcPr anchor="ctr" marL="109728">
                    <a:solidFill>
                      <a:srgbClr val="F0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Qo'shish, ayirish</a:t>
                      </a:r>
                    </a:p>
                  </a:txBody>
                  <a:tcPr anchor="ctr" marL="109728">
                    <a:solidFill>
                      <a:srgbClr val="F0EFF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3232B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&lt; , &gt; , &lt;= , &gt;=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Solishtirish amallari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3232B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anchor="ctr" marL="109728">
                    <a:solidFill>
                      <a:srgbClr val="F0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== , !=</a:t>
                      </a:r>
                    </a:p>
                  </a:txBody>
                  <a:tcPr anchor="ctr" marL="109728">
                    <a:solidFill>
                      <a:srgbClr val="F0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Tenglik amallari</a:t>
                      </a:r>
                    </a:p>
                  </a:txBody>
                  <a:tcPr anchor="ctr" marL="109728">
                    <a:solidFill>
                      <a:srgbClr val="F0EFF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3232B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&amp;&amp; , || 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Mantiqiy amallar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3232B"/>
                          </a:solidFill>
                          <a:latin typeface="Segoe UI"/>
                        </a:rPr>
                        <a:t>8 (eng past)</a:t>
                      </a:r>
                    </a:p>
                  </a:txBody>
                  <a:tcPr anchor="ctr" marL="109728">
                    <a:solidFill>
                      <a:srgbClr val="F0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= , += , -= va h.k.</a:t>
                      </a:r>
                    </a:p>
                  </a:txBody>
                  <a:tcPr anchor="ctr" marL="109728">
                    <a:solidFill>
                      <a:srgbClr val="F0EF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3232B"/>
                          </a:solidFill>
                          <a:latin typeface="Segoe UI"/>
                        </a:rPr>
                        <a:t>Qiymat berish amallari</a:t>
                      </a:r>
                    </a:p>
                  </a:txBody>
                  <a:tcPr anchor="ctr" marL="109728">
                    <a:solidFill>
                      <a:srgbClr val="F0EFF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3-Ma'ruza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05332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1">
                <a:solidFill>
                  <a:srgbClr val="606070"/>
                </a:solidFill>
                <a:latin typeface="Segoe UI"/>
              </a:rPr>
              <a:t>💡 Aniq va xatosiz kod uchun eng ishonchli usul — kerakli joylarda QAVSDAN foydalaning!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III-BO'LIM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Misol: qavslar natijani qanday o'zgartiradi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881360" cy="1814575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solidFill>
              <a:srgbClr val="3C3C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411480" rIns="182880"/>
          <a:lstStyle/>
          <a:p>
            <a:pPr algn="ctr">
              <a:lnSpc>
                <a:spcPct val="122000"/>
              </a:lnSpc>
            </a:pPr>
            <a:r>
              <a:rPr sz="1600">
                <a:solidFill>
                  <a:srgbClr val="569CD6"/>
                </a:solidFill>
                <a:latin typeface="Consolas"/>
              </a:rPr>
              <a:t>int</a:t>
            </a:r>
            <a:r>
              <a:rPr sz="1600">
                <a:solidFill>
                  <a:srgbClr val="D4D4D4"/>
                </a:solidFill>
                <a:latin typeface="Consolas"/>
              </a:rPr>
              <a:t> natija1</a:t>
            </a:r>
            <a:r>
              <a:rPr sz="1600">
                <a:solidFill>
                  <a:srgbClr val="D4D4D4"/>
                </a:solidFill>
                <a:latin typeface="Consolas"/>
              </a:rPr>
              <a:t> = </a:t>
            </a:r>
            <a:r>
              <a:rPr sz="1600">
                <a:solidFill>
                  <a:srgbClr val="CE9178"/>
                </a:solidFill>
                <a:latin typeface="Consolas"/>
              </a:rPr>
              <a:t>2</a:t>
            </a:r>
            <a:r>
              <a:rPr sz="1600">
                <a:solidFill>
                  <a:srgbClr val="D4D4D4"/>
                </a:solidFill>
                <a:latin typeface="Consolas"/>
              </a:rPr>
              <a:t> + </a:t>
            </a:r>
            <a:r>
              <a:rPr sz="1600">
                <a:solidFill>
                  <a:srgbClr val="CE9178"/>
                </a:solidFill>
                <a:latin typeface="Consolas"/>
              </a:rPr>
              <a:t>3</a:t>
            </a:r>
            <a:r>
              <a:rPr sz="1600">
                <a:solidFill>
                  <a:srgbClr val="D4D4D4"/>
                </a:solidFill>
                <a:latin typeface="Consolas"/>
              </a:rPr>
              <a:t> * </a:t>
            </a:r>
            <a:r>
              <a:rPr sz="1600">
                <a:solidFill>
                  <a:srgbClr val="CE9178"/>
                </a:solidFill>
                <a:latin typeface="Consolas"/>
              </a:rPr>
              <a:t>4</a:t>
            </a:r>
            <a:r>
              <a:rPr sz="1600">
                <a:solidFill>
                  <a:srgbClr val="D4D4D4"/>
                </a:solidFill>
                <a:latin typeface="Consolas"/>
              </a:rPr>
              <a:t>;</a:t>
            </a:r>
            <a:r>
              <a:rPr sz="1600">
                <a:solidFill>
                  <a:srgbClr val="D4D4D4"/>
                </a:solidFill>
                <a:latin typeface="Consolas"/>
              </a:rPr>
              <a:t>   </a:t>
            </a:r>
            <a:r>
              <a:rPr sz="1600">
                <a:solidFill>
                  <a:srgbClr val="6A9955"/>
                </a:solidFill>
                <a:latin typeface="Consolas"/>
              </a:rPr>
              <a:t>// avval 3*4=12, keyin 2+12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4EC9B0"/>
                </a:solidFill>
                <a:latin typeface="Consolas"/>
              </a:rPr>
              <a:t>Console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DCDCAA"/>
                </a:solidFill>
                <a:latin typeface="Consolas"/>
              </a:rPr>
              <a:t>WriteLine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D4D4D4"/>
                </a:solidFill>
                <a:latin typeface="Consolas"/>
              </a:rPr>
              <a:t>natija1</a:t>
            </a:r>
            <a:r>
              <a:rPr sz="1600">
                <a:solidFill>
                  <a:srgbClr val="D4D4D4"/>
                </a:solidFill>
                <a:latin typeface="Consolas"/>
              </a:rPr>
              <a:t>);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569CD6"/>
                </a:solidFill>
                <a:latin typeface="Consolas"/>
              </a:rPr>
              <a:t>int</a:t>
            </a:r>
            <a:r>
              <a:rPr sz="1600">
                <a:solidFill>
                  <a:srgbClr val="D4D4D4"/>
                </a:solidFill>
                <a:latin typeface="Consolas"/>
              </a:rPr>
              <a:t> natija2</a:t>
            </a:r>
            <a:r>
              <a:rPr sz="1600">
                <a:solidFill>
                  <a:srgbClr val="D4D4D4"/>
                </a:solidFill>
                <a:latin typeface="Consolas"/>
              </a:rPr>
              <a:t> = 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CE9178"/>
                </a:solidFill>
                <a:latin typeface="Consolas"/>
              </a:rPr>
              <a:t>2</a:t>
            </a:r>
            <a:r>
              <a:rPr sz="1600">
                <a:solidFill>
                  <a:srgbClr val="D4D4D4"/>
                </a:solidFill>
                <a:latin typeface="Consolas"/>
              </a:rPr>
              <a:t> + </a:t>
            </a:r>
            <a:r>
              <a:rPr sz="1600">
                <a:solidFill>
                  <a:srgbClr val="CE9178"/>
                </a:solidFill>
                <a:latin typeface="Consolas"/>
              </a:rPr>
              <a:t>3</a:t>
            </a:r>
            <a:r>
              <a:rPr sz="1600">
                <a:solidFill>
                  <a:srgbClr val="D4D4D4"/>
                </a:solidFill>
                <a:latin typeface="Consolas"/>
              </a:rPr>
              <a:t>)</a:t>
            </a:r>
            <a:r>
              <a:rPr sz="1600">
                <a:solidFill>
                  <a:srgbClr val="D4D4D4"/>
                </a:solidFill>
                <a:latin typeface="Consolas"/>
              </a:rPr>
              <a:t> * </a:t>
            </a:r>
            <a:r>
              <a:rPr sz="1600">
                <a:solidFill>
                  <a:srgbClr val="CE9178"/>
                </a:solidFill>
                <a:latin typeface="Consolas"/>
              </a:rPr>
              <a:t>4</a:t>
            </a:r>
            <a:r>
              <a:rPr sz="1600">
                <a:solidFill>
                  <a:srgbClr val="D4D4D4"/>
                </a:solidFill>
                <a:latin typeface="Consolas"/>
              </a:rPr>
              <a:t>;</a:t>
            </a:r>
            <a:r>
              <a:rPr sz="1600">
                <a:solidFill>
                  <a:srgbClr val="D4D4D4"/>
                </a:solidFill>
                <a:latin typeface="Consolas"/>
              </a:rPr>
              <a:t>  </a:t>
            </a:r>
            <a:r>
              <a:rPr sz="1600">
                <a:solidFill>
                  <a:srgbClr val="6A9955"/>
                </a:solidFill>
                <a:latin typeface="Consolas"/>
              </a:rPr>
              <a:t>// avval qavs: 2+3=5, keyin 5*4</a:t>
            </a:r>
          </a:p>
          <a:p>
            <a:pPr>
              <a:lnSpc>
                <a:spcPct val="122000"/>
              </a:lnSpc>
            </a:pPr>
            <a:r>
              <a:rPr sz="1600">
                <a:solidFill>
                  <a:srgbClr val="4EC9B0"/>
                </a:solidFill>
                <a:latin typeface="Consolas"/>
              </a:rPr>
              <a:t>Console</a:t>
            </a:r>
            <a:r>
              <a:rPr sz="1600">
                <a:solidFill>
                  <a:srgbClr val="D4D4D4"/>
                </a:solidFill>
                <a:latin typeface="Consolas"/>
              </a:rPr>
              <a:t>.</a:t>
            </a:r>
            <a:r>
              <a:rPr sz="1600">
                <a:solidFill>
                  <a:srgbClr val="DCDCAA"/>
                </a:solidFill>
                <a:latin typeface="Consolas"/>
              </a:rPr>
              <a:t>WriteLine</a:t>
            </a:r>
            <a:r>
              <a:rPr sz="1600">
                <a:solidFill>
                  <a:srgbClr val="D4D4D4"/>
                </a:solidFill>
                <a:latin typeface="Consolas"/>
              </a:rPr>
              <a:t>(</a:t>
            </a:r>
            <a:r>
              <a:rPr sz="1600">
                <a:solidFill>
                  <a:srgbClr val="D4D4D4"/>
                </a:solidFill>
                <a:latin typeface="Consolas"/>
              </a:rPr>
              <a:t>natija2</a:t>
            </a:r>
            <a:r>
              <a:rPr sz="1600">
                <a:solidFill>
                  <a:srgbClr val="D4D4D4"/>
                </a:solidFill>
                <a:latin typeface="Consolas"/>
              </a:rPr>
              <a:t>);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1554480"/>
            <a:ext cx="146304" cy="146304"/>
          </a:xfrm>
          <a:prstGeom prst="ellipse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8992" y="1554480"/>
            <a:ext cx="146304" cy="146304"/>
          </a:xfrm>
          <a:prstGeom prst="ellipse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35024" y="1554480"/>
            <a:ext cx="146304" cy="14630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3369055"/>
            <a:ext cx="10881360" cy="859536"/>
          </a:xfrm>
          <a:prstGeom prst="roundRect">
            <a:avLst/>
          </a:prstGeom>
          <a:solidFill>
            <a:srgbClr val="F0F0F0"/>
          </a:solidFill>
          <a:ln>
            <a:solidFill>
              <a:srgbClr val="C0C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73152"/>
          <a:lstStyle/>
          <a:p>
            <a:pPr algn="ctr"/>
            <a:r>
              <a:rPr b="1" sz="1200">
                <a:solidFill>
                  <a:srgbClr val="606070"/>
                </a:solidFill>
                <a:latin typeface="Segoe UI"/>
              </a:rPr>
              <a:t>► NATIJA (Console chiqishi):</a:t>
            </a:r>
          </a:p>
          <a:p>
            <a:r>
              <a:rPr sz="1500">
                <a:solidFill>
                  <a:srgbClr val="1B5E20"/>
                </a:solidFill>
                <a:latin typeface="Consolas"/>
              </a:rPr>
              <a:t>14</a:t>
            </a:r>
          </a:p>
          <a:p>
            <a:r>
              <a:rPr sz="1500">
                <a:solidFill>
                  <a:srgbClr val="1B5E20"/>
                </a:solidFill>
                <a:latin typeface="Consolas"/>
              </a:rPr>
              <a:t>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3-Ma'ruza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2743200" cy="502920"/>
          </a:xfrm>
          <a:prstGeom prst="round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1E1B4B"/>
                </a:solidFill>
              </a:rPr>
              <a:t>🧠 VIKTORINA #4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64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Console.WriteLine(2 + 3 * 4);  nima chiqaradi?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788920"/>
            <a:ext cx="11064240" cy="749808"/>
          </a:xfrm>
          <a:prstGeom prst="roundRect">
            <a:avLst/>
          </a:prstGeom>
          <a:solidFill>
            <a:srgbClr val="2B2763"/>
          </a:solidFill>
          <a:ln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2935224"/>
            <a:ext cx="457200" cy="457200"/>
          </a:xfrm>
          <a:prstGeom prst="ellipse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1E1B4B"/>
                </a:solidFill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788920"/>
            <a:ext cx="10058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"/>
              </a:rPr>
              <a:t>20, chunki C# chapdan o'ngga hisoblaydi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657600"/>
            <a:ext cx="11064240" cy="749808"/>
          </a:xfrm>
          <a:prstGeom prst="roundRect">
            <a:avLst/>
          </a:prstGeom>
          <a:solidFill>
            <a:srgbClr val="2B2763"/>
          </a:solidFill>
          <a:ln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3803904"/>
            <a:ext cx="457200" cy="457200"/>
          </a:xfrm>
          <a:prstGeom prst="ellipse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1E1B4B"/>
                </a:solidFill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657600"/>
            <a:ext cx="10058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"/>
              </a:rPr>
              <a:t>14, chunki ko'paytirish (*) qo'shishdan (+) OLDIN bajariladi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526280"/>
            <a:ext cx="11064240" cy="749808"/>
          </a:xfrm>
          <a:prstGeom prst="roundRect">
            <a:avLst/>
          </a:prstGeom>
          <a:solidFill>
            <a:srgbClr val="2B2763"/>
          </a:solidFill>
          <a:ln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77240" y="4672584"/>
            <a:ext cx="457200" cy="457200"/>
          </a:xfrm>
          <a:prstGeom prst="ellipse">
            <a:avLst/>
          </a:prstGeom>
          <a:solidFill>
            <a:srgbClr val="F5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1E1B4B"/>
                </a:solidFill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4526280"/>
            <a:ext cx="10058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"/>
              </a:rPr>
              <a:t>9, chunki avval 2+3 keyin *4/2 kabi hisoblanadi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394960"/>
            <a:ext cx="11064240" cy="749808"/>
          </a:xfrm>
          <a:prstGeom prst="roundRect">
            <a:avLst/>
          </a:prstGeom>
          <a:solidFill>
            <a:srgbClr val="2B2763"/>
          </a:solidFill>
          <a:ln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77240" y="5541264"/>
            <a:ext cx="457200" cy="457200"/>
          </a:xfrm>
          <a:prstGeom prst="ellipse">
            <a:avLst/>
          </a:prstGeom>
          <a:solidFill>
            <a:srgbClr val="8BC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1E1B4B"/>
                </a:solidFill>
              </a:rPr>
              <a:t>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5394960"/>
            <a:ext cx="10058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FFFFFF"/>
                </a:solidFill>
                <a:latin typeface="Segoe UI"/>
              </a:rPr>
              <a:t>Xato, qavssiz ifoda yozib bo'lmaydi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550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A09CD8"/>
                </a:solidFill>
                <a:latin typeface="Segoe UI"/>
              </a:rPr>
              <a:t>O'ylab ko'ring... javobingizni chatga yozing!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2743200" cy="50292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✅ JAVOB #4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C8C8E8"/>
                </a:solidFill>
                <a:latin typeface="Segoe UI"/>
              </a:rPr>
              <a:t>Console.WriteLine(2 + 3 * 4);  nima chiqaradi?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331720"/>
            <a:ext cx="11064240" cy="658368"/>
          </a:xfrm>
          <a:prstGeom prst="roundRect">
            <a:avLst/>
          </a:prstGeom>
          <a:solidFill>
            <a:srgbClr val="2B2763"/>
          </a:solidFill>
          <a:ln w="12700"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2441448"/>
            <a:ext cx="420624" cy="420624"/>
          </a:xfrm>
          <a:prstGeom prst="ellipse">
            <a:avLst/>
          </a:prstGeom>
          <a:solidFill>
            <a:srgbClr val="555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331720"/>
            <a:ext cx="10058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C8C8E8"/>
                </a:solidFill>
                <a:latin typeface="Segoe UI"/>
              </a:rPr>
              <a:t>20, chunki C# chapdan o'ngga hisoblaydi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81528"/>
            <a:ext cx="11064240" cy="658368"/>
          </a:xfrm>
          <a:prstGeom prst="roundRect">
            <a:avLst/>
          </a:prstGeom>
          <a:solidFill>
            <a:srgbClr val="E3F2E1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9808" y="3191256"/>
            <a:ext cx="420624" cy="420624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3081528"/>
            <a:ext cx="10058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 i="0">
                <a:solidFill>
                  <a:srgbClr val="1B5E20"/>
                </a:solidFill>
                <a:latin typeface="Segoe UI"/>
              </a:rPr>
              <a:t>14, chunki ko'paytirish (*) qo'shishdan (+) OLDIN bajariladi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831336"/>
            <a:ext cx="11064240" cy="658368"/>
          </a:xfrm>
          <a:prstGeom prst="roundRect">
            <a:avLst/>
          </a:prstGeom>
          <a:solidFill>
            <a:srgbClr val="2B2763"/>
          </a:solidFill>
          <a:ln w="12700"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49808" y="3941064"/>
            <a:ext cx="420624" cy="420624"/>
          </a:xfrm>
          <a:prstGeom prst="ellipse">
            <a:avLst/>
          </a:prstGeom>
          <a:solidFill>
            <a:srgbClr val="555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831336"/>
            <a:ext cx="10058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C8C8E8"/>
                </a:solidFill>
                <a:latin typeface="Segoe UI"/>
              </a:rPr>
              <a:t>9, chunki avval 2+3 keyin *4/2 kabi hisoblanadi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581144"/>
            <a:ext cx="11064240" cy="658368"/>
          </a:xfrm>
          <a:prstGeom prst="roundRect">
            <a:avLst/>
          </a:prstGeom>
          <a:solidFill>
            <a:srgbClr val="2B2763"/>
          </a:solidFill>
          <a:ln w="12700">
            <a:solidFill>
              <a:srgbClr val="4540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4690872"/>
            <a:ext cx="420624" cy="420624"/>
          </a:xfrm>
          <a:prstGeom prst="ellipse">
            <a:avLst/>
          </a:prstGeom>
          <a:solidFill>
            <a:srgbClr val="555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581144"/>
            <a:ext cx="100584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0">
                <a:solidFill>
                  <a:srgbClr val="C8C8E8"/>
                </a:solidFill>
                <a:latin typeface="Segoe UI"/>
              </a:rPr>
              <a:t>Xato, qavssiz ifoda yozib bo'lmaydi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422392"/>
            <a:ext cx="11064240" cy="960120"/>
          </a:xfrm>
          <a:prstGeom prst="roundRect">
            <a:avLst/>
          </a:prstGeom>
          <a:solidFill>
            <a:srgbClr val="2B2763"/>
          </a:solidFill>
          <a:ln w="12700">
            <a:solidFill>
              <a:srgbClr val="00B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400">
                <a:solidFill>
                  <a:srgbClr val="E0E0F5"/>
                </a:solidFill>
                <a:latin typeface="Segoe UI"/>
              </a:rPr>
              <a:t>💡 Izoh: Amallar ustuvorligiga ko'ra ko'paytirish (*) qo'shishdan (+) oldin bajariladi: avval 3*4=12, so'ng 2+12=14.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DIQQAT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Yangi boshlovchilar ko'p qiladigan xatolar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int / int ifodasidan kasr natija kutish — natija har doim butun songacha kesiladi.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== o'rniga = yozib qo'yish — = qiymat beradi, shart tekshirmaydi (bu C# da alohida xato sifatida ko'p sinflarda tutilmaydi, ehtiyot bo'ling).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(int) ga keltirishda YAXLITLANADI deb o'ylash — aslida kasr qismi shunchaki KESILADI.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Amallar ustuvorligini unutib, kutilmagan natija olish — noaniq bo'lsa har doim QAVS qo'ying.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Prefiks (++yosh) va postfiks (yosh++) natijasini bir xil deb o'ylash — ular ifodada ISHLATILISH TARTIBI bilan farq qiladi.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3-Ma'ruza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AMALIYOT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Mustaqil bajarish uchun topshiriq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1-topshiriq: Ikkita butun son kiritib (yoki e'lon qilib), ularning yig'indisi, ayirmasi, ko'paytmasi, bo'linmasi va qoldig'ini chiqaring.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2-topshiriq: Bitta sonni kiritib, uni (double) ga keltirib, natijani chiqaring — farqini tushuntiring.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3-topshiriq: Shartli (ternary) amal yordamida biror sonning juft yoki toqligini aniqlab chiqaruvchi kod yozing.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4-topshiriq (qo'shimcha): 2 + 3 * 4 - 1 kabi kamida 4 ta amaldan iborat ifoda tuzib, uning natijasini qo'lda hisoblab, so'ng dastur orqali tekshiring.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678424"/>
            <a:ext cx="10881360" cy="585216"/>
          </a:xfrm>
          <a:prstGeom prst="roundRect">
            <a:avLst>
              <a:gd name="adj" fmla="val 15000"/>
            </a:avLst>
          </a:prstGeom>
          <a:solidFill>
            <a:srgbClr val="FFF3D6"/>
          </a:solidFill>
          <a:ln w="12700">
            <a:solidFill>
              <a:srgbClr val="F57C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36576" bIns="36576"/>
          <a:lstStyle/>
          <a:p>
            <a:pPr algn="ctr">
              <a:lnSpc>
                <a:spcPct val="110000"/>
              </a:lnSpc>
            </a:pPr>
            <a:r>
              <a:rPr sz="1400" i="1">
                <a:solidFill>
                  <a:srgbClr val="7A5400"/>
                </a:solidFill>
                <a:latin typeface="Segoe UI"/>
              </a:rPr>
              <a:t>💡 Ustuvorlik jadvalidan foydalanib, natijani DASTURDAN OLDIN qo'lda hisoblashga harakat qiling!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3-Ma'ruza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XULOSA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Bugungi dars xulosasi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Amal — operandlar ustida harakat bajaruvchi belgi; unar (1 operand) va binar (2 operand) turlarga bo'linadi.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int/int bo'linishda natija BUTUN SONGACHA KESILADI, kasr kerak bo'lsa kamida bitta operand double bo'lishi shart.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== — solishtirish, = — qiymat berish; ularni chalkashtirmang.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&amp;&amp;, ||, ! — mantiqiy amallar; shartlarni birlashtirish uchun ishlatiladi.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(tur) — oshkor keltirish, kasr qismini KESADI, YAXLITLAMAYDI.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shart ? a : b — shartli (ternary) amal; amallar bajarilish tartibi USTUVORLIK jadvaliga bog'liq, shubha bo'lsa qavsdan foydalaning.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3-Ma'ruza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KEYINGI DARS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4-Ma'ruza: Operatorlar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Oddiy va qo'shma shart operatori (if, if-else).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Tanlash operatori (switch-case).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Takrorlash operatorlari: for sikli bilan tanishuv.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800">
                <a:solidFill>
                  <a:srgbClr val="23232B"/>
                </a:solidFill>
                <a:latin typeface="Segoe UI"/>
              </a:rPr>
              <a:t>•  Bugungi amaliy topshiriqni bajarib kelishni unutmang — ustuvorlik va amallar keyingi darsda ham kerak bo'ladi!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3-Ma'ruza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CD4"/>
                </a:solidFill>
                <a:latin typeface="Segoe UI"/>
              </a:rPr>
              <a:t>MANBALAR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20624"/>
            <a:ext cx="11155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Foydali adabiyotlar va havolalar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21208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5212080" cy="548640"/>
          </a:xfrm>
          <a:prstGeom prst="roundRect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Darsliklar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466344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23232B"/>
                </a:solidFill>
                <a:latin typeface="Segoe UI"/>
              </a:rPr>
              <a:t>•  Adambayev U.E. va b. "Algoritmik tillar va dasturlash. C# tilida dasturlash asoslari" (2023)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23232B"/>
                </a:solidFill>
                <a:latin typeface="Segoe UI"/>
              </a:rPr>
              <a:t>•  Mo'minov B.B. "Dasturlash 1" (2021)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23232B"/>
                </a:solidFill>
                <a:latin typeface="Segoe UI"/>
              </a:rPr>
              <a:t>•  Albahari B. "C# 7.0. Справочник" (2018)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21208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9360" y="1417320"/>
            <a:ext cx="5212080" cy="548640"/>
          </a:xfrm>
          <a:prstGeom prst="round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Onlayn manbalar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148840"/>
            <a:ext cx="466344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23232B"/>
                </a:solidFill>
                <a:latin typeface="Segoe UI"/>
              </a:rPr>
              <a:t>•  metanit.com/sharp/tutorial — Amallar va ifodalar bo'limi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23232B"/>
                </a:solidFill>
                <a:latin typeface="Segoe UI"/>
              </a:rPr>
              <a:t>•  learn.microsoft.com/dotnet/csharp/language-reference/operators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23232B"/>
                </a:solidFill>
                <a:latin typeface="Segoe UI"/>
              </a:rPr>
              <a:t>•  www.dastur.uz — o'zbek tilida dasturlash sayti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Dasturlash 1 | 3-Ma'ruza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98480" y="457200"/>
            <a:ext cx="1188720" cy="1188720"/>
          </a:xfrm>
          <a:prstGeom prst="ellipse">
            <a:avLst/>
          </a:prstGeom>
          <a:solidFill>
            <a:srgbClr val="683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" y="5852160"/>
            <a:ext cx="822960" cy="822960"/>
          </a:xfrm>
          <a:prstGeom prst="ellipse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Segoe UI"/>
              </a:rPr>
              <a:t>Rahmat! Savollaringiz bormi?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474720"/>
            <a:ext cx="100584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>
                <a:solidFill>
                  <a:srgbClr val="D8D8F0"/>
                </a:solidFill>
                <a:latin typeface="Segoe UI"/>
              </a:rPr>
              <a:t>•  📧 Aloqa uchun: (o'qituvchi email/telefon — dars vaqtida beriladi)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>
                <a:solidFill>
                  <a:srgbClr val="D8D8F0"/>
                </a:solidFill>
                <a:latin typeface="Segoe UI"/>
              </a:rPr>
              <a:t>•  📝 Amaliy topshiriq va mashg'ulotlar — TA bilan davom etadi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>
                <a:solidFill>
                  <a:srgbClr val="D8D8F0"/>
                </a:solidFill>
                <a:latin typeface="Segoe UI"/>
              </a:rPr>
              <a:t>•  📅 Keyingi ma'ruza: Operatorlar (if, switch, for)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700">
                <a:solidFill>
                  <a:srgbClr val="D8D8F0"/>
                </a:solidFill>
                <a:latin typeface="Segoe UI"/>
              </a:rPr>
              <a:t>•  🎯 Faol qatnashganingiz uchun rahmat!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465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606070"/>
                </a:solidFill>
                <a:latin typeface="Segoe UI"/>
              </a:rPr>
              <a:t>38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
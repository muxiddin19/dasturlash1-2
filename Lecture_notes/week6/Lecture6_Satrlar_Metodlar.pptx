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6-Ma'ruza: Belgi, Satrlar va Metodlar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Belgi (char) va satr (string) bilan ishlash, formatlash. Metodlar:
e'lon qilish, parametrlar, params, rekursiya, ref/out.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B8B8E0"/>
                </a:solidFill>
                <a:latin typeface="Segoe UI"/>
              </a:rPr>
              <a:t>O'qituvchi</a:t>
            </a:r>
            <a:r>
              <a:rPr sz="1400" b="0" i="0" dirty="0">
                <a:solidFill>
                  <a:srgbClr val="B8B8E0"/>
                </a:solidFill>
                <a:latin typeface="Segoe UI"/>
              </a:rPr>
              <a:t>: Toshp</a:t>
            </a:r>
            <a:r>
              <a:rPr lang="en-US" sz="1400" b="0" i="0" dirty="0">
                <a:solidFill>
                  <a:srgbClr val="B8B8E0"/>
                </a:solidFill>
                <a:latin typeface="Segoe UI"/>
              </a:rPr>
              <a:t>u</a:t>
            </a:r>
            <a:r>
              <a:rPr sz="1400" b="0" i="0" dirty="0">
                <a:solidFill>
                  <a:srgbClr val="B8B8E0"/>
                </a:solidFill>
                <a:latin typeface="Segoe UI"/>
              </a:rPr>
              <a:t>latov </a:t>
            </a:r>
            <a:r>
              <a:rPr sz="1400" b="0" i="0" dirty="0" err="1">
                <a:solidFill>
                  <a:srgbClr val="B8B8E0"/>
                </a:solidFill>
                <a:latin typeface="Segoe UI"/>
              </a:rPr>
              <a:t>Mu</a:t>
            </a:r>
            <a:r>
              <a:rPr lang="en-US" sz="1400" b="0" i="0" dirty="0" err="1">
                <a:solidFill>
                  <a:srgbClr val="B8B8E0"/>
                </a:solidFill>
                <a:latin typeface="Segoe UI"/>
              </a:rPr>
              <a:t>h</a:t>
            </a:r>
            <a:r>
              <a:rPr sz="1400" b="0" i="0" dirty="0" err="1">
                <a:solidFill>
                  <a:srgbClr val="B8B8E0"/>
                </a:solidFill>
                <a:latin typeface="Segoe UI"/>
              </a:rPr>
              <a:t>iddin</a:t>
            </a:r>
            <a:r>
              <a:rPr sz="1400" b="0" i="0" dirty="0">
                <a:solidFill>
                  <a:srgbClr val="B8B8E0"/>
                </a:solidFill>
                <a:latin typeface="Segoe UI"/>
              </a:rPr>
              <a:t>, PhD, </a:t>
            </a:r>
            <a:r>
              <a:rPr sz="1400" b="0" i="0" dirty="0" err="1">
                <a:solidFill>
                  <a:srgbClr val="B8B8E0"/>
                </a:solidFill>
                <a:latin typeface="Segoe UI"/>
              </a:rPr>
              <a:t>dotsent</a:t>
            </a:r>
            <a:r>
              <a:rPr sz="1400" b="0" i="0" dirty="0">
                <a:solidFill>
                  <a:srgbClr val="B8B8E0"/>
                </a:solidFill>
                <a:latin typeface="Segoe UI"/>
              </a:rPr>
              <a:t>  |  2025/2026-o'quv </a:t>
            </a:r>
            <a:r>
              <a:rPr sz="1400" b="0" i="0" dirty="0" err="1">
                <a:solidFill>
                  <a:srgbClr val="B8B8E0"/>
                </a:solidFill>
                <a:latin typeface="Segoe UI"/>
              </a:rPr>
              <a:t>yili</a:t>
            </a:r>
            <a:endParaRPr sz="1400" b="0" i="0" dirty="0">
              <a:solidFill>
                <a:srgbClr val="B8B8E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O'tgan darsni eslaymiz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— bir xil turdagi bir nechta qiymatni BITTA nom ostida saqlovchi tuzilma; indekslar 0 dan boshlanadi.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foreach — massiv elementlarini indekssiz, ketma-ket o'qish uchun qulay.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Random klassi yordamida massivni tasodifiy sonlar bilan to'ldirish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 ikkita katta mavzuni ko'ramiz: BELGI/SATRLAR bilan ishlash va o'z METODLARIMIZNI yozish — bular bilan kod ancha tartibli va qayta ishlatiladigan bo'ladi.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darsning rejasi (katta hajmli dars!)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I-BO'LIM: Belgi (char) turi va funksiyalari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II-BO'LIM: Belgilar massivi va satrlar ustida amallar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III-BO'LIM: Satrlarni formatlash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IV-BO'LIM: Metodlar bilan ishlash — e'lon qilish, parametrlar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V-BO'LIM: Metodlarning qo'shimcha imkoniyatlari — params, rekursiya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VI-BO'LIM: Qiymat/havola turlari, ref va out kalit so'zlari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Dars yakunida siz nimalarga erishasiz?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 turi ustida funksiyalardan (IsDigit, IsLetter, ToUpper va h.k.) foydalana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Satrlar (string) ustida asosiy amallarni (Length, Substring, Split, Replace) bajara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Sonlar va satrlarni formatlab chiqara olasiz (string interpolation, format specifiers).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 metodlaringizni parametrlar va qaytariladigan qiymat bilan yoza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params, metodlarni qayta yuklash, rekursiya va ref/out kalit so'zlaridan foydalana olasiz.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1-BO'LIM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Belgi (char) turi va
funksiyalari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Bitta belgi ustida nimalar qila olishimizni ko'ramiz.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char turi ustidagi foydali funksiyalar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 — bitta belgini saqlovchi tur edi (o'tgan darslarda ko'rgan edik); C# unga tayyor FUNKSIYALAR (metodlar) bilan birga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char.IsDigit(belgi) — belgi raqam (0-9) bo'lsa true qaytaradi.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char.IsLetter(belgi) — belgi harf bo'lsa true qaytaradi.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char.IsUpper(belgi) / char.IsLower(belgi) — belgi katta/kichik harf ekanini tekshiradi.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char.ToUpper(belgi) / char.ToLower(belgi) — belgini katta/kichik harfga o'giradi.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char funksiyalari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char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belgi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'a'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4EC9B0"/>
                </a:solidFill>
                <a:latin typeface="Consolas"/>
              </a:rPr>
              <a:t>char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IsLetter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belgi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4EC9B0"/>
                </a:solidFill>
                <a:latin typeface="Consolas"/>
              </a:rPr>
              <a:t>char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IsDigit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belgi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4EC9B0"/>
                </a:solidFill>
                <a:latin typeface="Consolas"/>
              </a:rPr>
              <a:t>char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ToUpper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belgi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True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False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char.IsDigit('5') chaqirilsa, natija qanday bo'ladi?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char.IsDigit('5') — true qaytaradi, chunki '5' raqam belgisi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01699"/>
            <a:ext cx="1005840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 err="1">
                <a:solidFill>
                  <a:srgbClr val="FFFFFF"/>
                </a:solidFill>
                <a:latin typeface="Segoe UI"/>
              </a:rPr>
              <a:t>char.IsDigit</a:t>
            </a:r>
            <a:r>
              <a:rPr sz="1700" b="0" i="0" dirty="0">
                <a:solidFill>
                  <a:srgbClr val="FFFFFF"/>
                </a:solidFill>
                <a:latin typeface="Segoe UI"/>
              </a:rPr>
              <a:t>('5') — false </a:t>
            </a:r>
            <a:r>
              <a:rPr sz="1700" b="0" i="0" dirty="0" err="1">
                <a:solidFill>
                  <a:srgbClr val="FFFFFF"/>
                </a:solidFill>
                <a:latin typeface="Segoe UI"/>
              </a:rPr>
              <a:t>qaytaradi</a:t>
            </a:r>
            <a:r>
              <a:rPr sz="17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700" b="0" i="0" dirty="0" err="1">
                <a:solidFill>
                  <a:srgbClr val="FFFFFF"/>
                </a:solidFill>
                <a:latin typeface="Segoe UI"/>
              </a:rPr>
              <a:t>chunki</a:t>
            </a:r>
            <a:r>
              <a:rPr sz="1700" b="0" i="0" dirty="0">
                <a:solidFill>
                  <a:srgbClr val="FFFFFF"/>
                </a:solidFill>
                <a:latin typeface="Segoe UI"/>
              </a:rPr>
              <a:t> '5' </a:t>
            </a:r>
            <a:r>
              <a:rPr sz="1700" b="0" i="0" dirty="0" err="1">
                <a:solidFill>
                  <a:srgbClr val="FFFFFF"/>
                </a:solidFill>
                <a:latin typeface="Segoe UI"/>
              </a:rPr>
              <a:t>satr</a:t>
            </a:r>
            <a:r>
              <a:rPr lang="en-US" sz="1700" b="0" i="0" dirty="0" err="1">
                <a:solidFill>
                  <a:srgbClr val="FFFFFF"/>
                </a:solidFill>
                <a:latin typeface="Segoe UI"/>
              </a:rPr>
              <a:t>li</a:t>
            </a:r>
            <a:r>
              <a:rPr lang="en-US" sz="1700" b="0" i="0" dirty="0">
                <a:solidFill>
                  <a:srgbClr val="FFFFFF"/>
                </a:solidFill>
                <a:latin typeface="Segoe UI"/>
              </a:rPr>
              <a:t>(char </a:t>
            </a:r>
            <a:r>
              <a:rPr lang="en-US" sz="1700" b="0" i="0" dirty="0" err="1">
                <a:solidFill>
                  <a:srgbClr val="FFFFFF"/>
                </a:solidFill>
                <a:latin typeface="Segoe UI"/>
              </a:rPr>
              <a:t>turidagi</a:t>
            </a:r>
            <a:r>
              <a:rPr lang="en-US" sz="1700" b="0" i="0" dirty="0">
                <a:solidFill>
                  <a:srgbClr val="FFFFFF"/>
                </a:solidFill>
                <a:latin typeface="Segoe UI"/>
              </a:rPr>
              <a:t>) </a:t>
            </a:r>
            <a:r>
              <a:rPr lang="en-US" sz="1700" b="0" i="0" dirty="0" err="1">
                <a:solidFill>
                  <a:srgbClr val="FFFFFF"/>
                </a:solidFill>
                <a:latin typeface="Segoe UI"/>
              </a:rPr>
              <a:t>o’zgaruvchi</a:t>
            </a:r>
            <a:r>
              <a:rPr sz="17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Segoe UI"/>
              </a:rPr>
              <a:t>sifatida</a:t>
            </a:r>
            <a:r>
              <a:rPr sz="17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rgbClr val="FFFFFF"/>
                </a:solidFill>
                <a:latin typeface="Segoe UI"/>
              </a:rPr>
              <a:t>yoziladi</a:t>
            </a:r>
            <a:endParaRPr sz="1700" b="0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char.IsDigit faqat int turi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char.IsDigit('5') — xato beradi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char.IsDigit('5') chaqirilsa, natija qanday bo'ladi?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char.IsDigit('5') — true qaytaradi, chunki '5' raqam belgisi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char.IsDigit('5') — false qaytaradi, chunki '5' satr sifatida yoziladi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char.IsDigit faqat int turi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char.IsDigit('5') — xato beradi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'5' bitta tirnoqda yozilgan -- bu char literali, raqam belgisi. char.IsDigit shu belgi 0-9 oralig'ida ekanini tekshiradi va true qaytaradi.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2-BO'LIM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Belgilar massivi va
satrlar ustida amallar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Satr aslida belgilar ketma-ketligi ekanini va u bilan ishlash usullarini ko'ramiz.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Satr (string) va belgilar massivi (char[])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818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(string) —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aslida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BELGILAR KETMA-KETLIGI (char[</a:t>
            </a:r>
            <a:r>
              <a:rPr lang="en-US"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]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ning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maxsus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qulayroq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shakli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Satrning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har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bir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belgisiga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INDEKS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orqali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murojaat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qilish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mumkin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[0]   —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birinchi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belgi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belgilar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massiviga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aylantirish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char[</a:t>
            </a:r>
            <a:r>
              <a:rPr lang="en-US"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]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belgilar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=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satr.ToCharArray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();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MUHIM: C# da string O'ZGARMAS (immutable) —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[0] = 'A';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kabi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YOZISH MUMKIN EMAS,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satrni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faqat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BUTUNLAY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yangilash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mumkin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Satrlar ustida eng ko'p ishlatiladigan amallar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826571"/>
              </p:ext>
            </p:extLst>
          </p:nvPr>
        </p:nvGraphicFramePr>
        <p:xfrm>
          <a:off x="640080" y="150876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Metod / xossa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Length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Satr uzunligini qaytaradi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"Salom".Length  // 5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Substring(i, n)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 indeksdan n ta belgini ajratib oladi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"Salom".Substring(0, 2)  // "Sa"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IndexOf(s)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 qism-satr qaysi indeksda boshlanishini topadi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"Salom".IndexOf("lo")  // 2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Contains(s)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Satr ichida s bor-yo'qligini tekshiradi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"Salom".Contains("al")  // true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Replace(a, b)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a ni b ga almashtiradi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"Salom".Replace("a", "o")  // "Solom"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Split(belgi)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Satrni belgi bo'yicha bo'laklarga ajratadi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"</a:t>
                      </a:r>
                      <a:r>
                        <a:rPr sz="1400" b="0" dirty="0" err="1">
                          <a:solidFill>
                            <a:srgbClr val="23232B"/>
                          </a:solidFill>
                          <a:latin typeface="Segoe UI"/>
                        </a:rPr>
                        <a:t>a,b,c".Split</a:t>
                      </a:r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(',’)</a:t>
                      </a:r>
                      <a:r>
                        <a:rPr lang="en-US"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 // “a”,  “b”,  “c”</a:t>
                      </a:r>
                      <a:endParaRPr sz="1400" b="0" dirty="0">
                        <a:solidFill>
                          <a:srgbClr val="23232B"/>
                        </a:solidFill>
                        <a:latin typeface="Segoe UI"/>
                      </a:endParaRP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Trim()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Boshi/oxiridagi bo'sh joylarni olib tashlaydi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"  </a:t>
                      </a:r>
                      <a:r>
                        <a:rPr sz="1400" b="0" dirty="0" err="1">
                          <a:solidFill>
                            <a:srgbClr val="23232B"/>
                          </a:solidFill>
                          <a:latin typeface="Segoe UI"/>
                        </a:rPr>
                        <a:t>Salom</a:t>
                      </a:r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  ".Trim()  // "</a:t>
                      </a:r>
                      <a:r>
                        <a:rPr sz="1400" b="0" dirty="0" err="1">
                          <a:solidFill>
                            <a:srgbClr val="23232B"/>
                          </a:solidFill>
                          <a:latin typeface="Segoe UI"/>
                        </a:rPr>
                        <a:t>Salom</a:t>
                      </a:r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"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ToUpper() / ToLower()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Katta/kichik harfga o'giradi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"</a:t>
                      </a:r>
                      <a:r>
                        <a:rPr sz="1400" b="0" dirty="0" err="1">
                          <a:solidFill>
                            <a:srgbClr val="23232B"/>
                          </a:solidFill>
                          <a:latin typeface="Segoe UI"/>
                        </a:rPr>
                        <a:t>Salom</a:t>
                      </a:r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".</a:t>
                      </a:r>
                      <a:r>
                        <a:rPr sz="1400" b="0" dirty="0" err="1">
                          <a:solidFill>
                            <a:srgbClr val="23232B"/>
                          </a:solidFill>
                          <a:latin typeface="Segoe UI"/>
                        </a:rPr>
                        <a:t>ToUpper</a:t>
                      </a:r>
                      <a:r>
                        <a:rPr sz="1400" b="0" dirty="0">
                          <a:solidFill>
                            <a:srgbClr val="23232B"/>
                          </a:solidFill>
                          <a:latin typeface="Segoe UI"/>
                        </a:rPr>
                        <a:t>()  // "SALOM"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satr amallarini birgalikda qo'llash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3103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ism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  Aziza Karimova  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toza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ism.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Trim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toza.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Length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toza.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ToUpper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());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[]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qismlar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toza.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Split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' '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qismlar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]);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864864"/>
            <a:ext cx="10881360" cy="5547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8D53A79-8101-3471-1C43-B5953CBAC16B}"/>
              </a:ext>
            </a:extLst>
          </p:cNvPr>
          <p:cNvSpPr/>
          <p:nvPr/>
        </p:nvSpPr>
        <p:spPr>
          <a:xfrm>
            <a:off x="640080" y="4489450"/>
            <a:ext cx="10881360" cy="5547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AZIZA KARIMOVA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70C12A8B-03C9-B755-BB4F-DB86CAD84E73}"/>
              </a:ext>
            </a:extLst>
          </p:cNvPr>
          <p:cNvSpPr/>
          <p:nvPr/>
        </p:nvSpPr>
        <p:spPr>
          <a:xfrm>
            <a:off x="640080" y="5136388"/>
            <a:ext cx="10881360" cy="63754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Aziza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4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da string turi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"Salom"[0] = 'X';  -- satrning birinchi belgisini o'zgartiradi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string turi o'zgarmas (immutable) -- satr[0] = 'X'; kabi yozish MUMKIN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string va char[] bir xil, farqi yo'q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Satrlarni hech qachon indeks bilan o'qib bo'lmaydi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C# da string turi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"Salom"[0] = 'X';  -- satrning birinchi belgisini o'zgartiradi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string turi o'zgarmas (immutable) -- satr[0] = 'X'; kabi yozish MUMKIN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string va char[] bir xil, farqi yo'q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Satrlarni hech qachon indeks bilan o'qib bo'lmaydi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string -- o'zgarmas (immutable) tur: mavjud satrning bitta belgisini to'g'ridan-to'g'ri yozib bo'lmaydi, faqat YANGI satr yaratish mumkin (masalan Replace() orqali).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3-BO'LIM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Satrlarni formatlash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Sonlar, sanalar va o'zgaruvchilarni chiroyli ko'rinishda chiqarishni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String interpolation va formatlash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String interpolation:   $"Ism: {ism}, Yosh: {yosh}"   — o'zgaruvchilarni to'g'ridan-to'g'ri matn ichiga qo'yish usuli (oldingi darsda ko'rgan edik).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Sonni formatlab chiqarish:   narx.ToString("N2")   — 2 xonali kasr bilan (masalan 1234.5 -&gt; "1,234.50").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Format specifierlar: N — son (minglik ajratgich bilan), C — valyuta, P — foiz, D — butun son belgilangan uzunlikda.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Sana formatlash:   DateTime.Now.ToString("dd.MM.yyyy")   — joriy sanani kun.oy.yil ko'rinishida chiqaradi.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son va o'zgaruvchilarni formatlash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double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narx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1234.567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narx.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ToString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"N2"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ism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"Aziza"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yosh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20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$"Ism: {ism}, 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Yosh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: {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yosh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}"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1,234.57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18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E05AC976-F957-A3D0-0A50-3077BE137A06}"/>
              </a:ext>
            </a:extLst>
          </p:cNvPr>
          <p:cNvSpPr/>
          <p:nvPr/>
        </p:nvSpPr>
        <p:spPr>
          <a:xfrm>
            <a:off x="595630" y="4626102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Ism: Aziza, </a:t>
            </a:r>
            <a:r>
              <a:rPr sz="1500" dirty="0" err="1">
                <a:solidFill>
                  <a:srgbClr val="1B5E20"/>
                </a:solidFill>
                <a:latin typeface="Consolas"/>
              </a:rPr>
              <a:t>Yosh</a:t>
            </a:r>
            <a:r>
              <a:rPr sz="1500" dirty="0">
                <a:solidFill>
                  <a:srgbClr val="1B5E20"/>
                </a:solidFill>
                <a:latin typeface="Consolas"/>
              </a:rPr>
              <a:t>: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O'zgaruvchan satrlar: StringBuilder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string o'zgarmas bo'lgani uchun, siklda KO'P marta satrni "qo'shib" borish (masalan natija += so'z;) xotirani SAMARASIZ ishlatadi — har safar YANGI satr yaratiladi.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StringBuilder — maxsus, O'ZGARUVCHAN (mutable) satr klassi; ko'p marta o'zgartirish kerak bo'lganda ancha SAMARALIROQ.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Foydalanish:   StringBuilder sb = new StringBuilder();   so'ng   sb.Append("matn");   deb qo'shib boriladi.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Oxirida   sb.ToString()   orqali oddiy string ga aylantiriladi.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Boshlang'ich bosqichda oddiy string + yetarli; StringBuilder katta hajmli matn bilan ishlaganda foydali bo'ladi.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420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 err="1">
                <a:solidFill>
                  <a:srgbClr val="FFFFFF"/>
                </a:solidFill>
                <a:latin typeface="Segoe UI"/>
              </a:rPr>
              <a:t>narx.ToString</a:t>
            </a:r>
            <a:r>
              <a:rPr sz="2600" b="1" i="0" dirty="0">
                <a:solidFill>
                  <a:srgbClr val="FFFFFF"/>
                </a:solidFill>
                <a:latin typeface="Segoe UI"/>
              </a:rPr>
              <a:t>("N2") format </a:t>
            </a:r>
            <a:r>
              <a:rPr lang="en-US" sz="2600" b="1" i="0" dirty="0" err="1">
                <a:solidFill>
                  <a:srgbClr val="FFFFFF"/>
                </a:solidFill>
                <a:latin typeface="Segoe UI"/>
              </a:rPr>
              <a:t>tur</a:t>
            </a:r>
            <a:r>
              <a:rPr sz="2600" b="1" i="0" dirty="0" err="1">
                <a:solidFill>
                  <a:srgbClr val="FFFFFF"/>
                </a:solidFill>
                <a:latin typeface="Segoe UI"/>
              </a:rPr>
              <a:t>i</a:t>
            </a:r>
            <a:r>
              <a:rPr sz="2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Segoe UI"/>
              </a:rPr>
              <a:t>nima</a:t>
            </a:r>
            <a:r>
              <a:rPr sz="26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Segoe UI"/>
              </a:rPr>
              <a:t>qiladi</a:t>
            </a:r>
            <a:r>
              <a:rPr sz="2600" b="1" i="0" dirty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"N2" -- 2 ta butun son qo'shimcha qo'shadi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"N2" -- sonni 2 xonali kasr qism bilan, minglik ajratgich qo'yib formatlaydi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"N2" -- sonni 2 marta ko'paytiradi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"N2" -- faqat sanalar uchun ishlatiladi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narx.ToString("N2") format specifiri nima qiladi?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"N2" -- 2 ta butun son qo'shimcha qo'shadi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"N2" -- sonni 2 xonali kasr qism bilan, minglik ajratgich qo'yib formatlaydi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"N2" -- sonni 2 marta ko'paytiradi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"N2" -- faqat sanalar uchun ishlatiladi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"N2" -- sonni 2 xonali kasr qismi bilan va minglik xonalarini vergul bilan ajratib formatlaydi (masalan 1234.567 -&gt; "1,234.57").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4-BO'LIM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Metodlar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Kodni qismlarga bo'lib, qayta ishlatish mumkin bo'lgan bloklarga aylantirishni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Metod (method) nega kerak?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bir xil kod BIR NECHA joyda takrorlansa, uni har safar qayta yozish o'rniga, BITTA metodga joylab, kerak bo'lganda CHAQIRISH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Metod — ma'lum bir vazifani bajaruvchi, NOM berilgan kod bo'lagi (aslida Main() ham — bu metod!).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Afzalliklari: kod TAKRORLANMAYDI (DRY — Don't Repeat Yourself), dastur TUZILGAN va TUSHUNARLI bo'ladi, xatoni topish OSONLASHADI.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Metod e'lon qilish sintaksisi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modifikator qaytariladigan_tur MetodNomi(parametrlar) { // kod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  static void Salomla() { Console.WriteLine("Salom!");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static — hozircha barcha metodlarimiz shu kalit so'z bilan yoziladi (Main() singari); buning sababini keyingi darslarda chuqurroq ko'ramiz.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void — metod HECH QANDAY qiymat QAYTARMASLIGINI bildiradi.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Metodni CHAQIRISH uchun uning nomini yozish kifoya:   Salomla();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parametrsiz, qiymat qaytarmaydigan metod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8061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void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Salomla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Salom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!"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6A9955"/>
                </a:solidFill>
                <a:latin typeface="Consolas"/>
              </a:rPr>
              <a:t>// Main()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ichida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chaqiramiz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: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DCDCAA"/>
                </a:solidFill>
                <a:latin typeface="Consolas"/>
              </a:rPr>
              <a:t>Salomla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DCDCAA"/>
                </a:solidFill>
                <a:latin typeface="Consolas"/>
              </a:rPr>
              <a:t>Salomla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360671"/>
            <a:ext cx="10881360" cy="733045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 err="1">
                <a:solidFill>
                  <a:srgbClr val="1B5E20"/>
                </a:solidFill>
                <a:latin typeface="Consolas"/>
              </a:rPr>
              <a:t>Salom</a:t>
            </a:r>
            <a:r>
              <a:rPr sz="1500" dirty="0">
                <a:solidFill>
                  <a:srgbClr val="1B5E20"/>
                </a:solidFill>
                <a:latin typeface="Consola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15811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 err="1">
                <a:solidFill>
                  <a:srgbClr val="606070"/>
                </a:solidFill>
                <a:latin typeface="Segoe UI"/>
              </a:rPr>
              <a:t>Bitta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metodni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xohlagancha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marta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chaqirish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mumkin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--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kodni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qayta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yozishning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hojati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yo'q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25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4C2D9A8C-9615-7BD5-C60F-EB5B3CFD2DBE}"/>
              </a:ext>
            </a:extLst>
          </p:cNvPr>
          <p:cNvSpPr/>
          <p:nvPr/>
        </p:nvSpPr>
        <p:spPr>
          <a:xfrm>
            <a:off x="640080" y="5230876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Salom!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Salom!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Parametrli metodlar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Parametr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—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metodga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TASHQARIDAN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ma'lumot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uzatish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uchun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ishlatiladigan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o'zgaruvchi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Sintaksisi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static void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MetodNomi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(tur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parametrNomi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) { ...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Bir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nechta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parametr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vergul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bilan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ajratiladi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static void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Salomla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(string ism, int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yosh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) { ...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Chaqirishda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parametr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qiymatlari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ARGUMENT deb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ataladi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Salomla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("Aziza", 20);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bitta parametrli metod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5582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void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Salomla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string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ism)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$"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Salom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, {ism}!"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DCDCAA"/>
                </a:solidFill>
                <a:latin typeface="Consolas"/>
              </a:rPr>
              <a:t>Salomla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"Aziza"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DCDCAA"/>
                </a:solidFill>
                <a:latin typeface="Consolas"/>
              </a:rPr>
              <a:t>Salomla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Jasur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112768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 err="1">
                <a:solidFill>
                  <a:srgbClr val="1B5E20"/>
                </a:solidFill>
                <a:latin typeface="Consolas"/>
              </a:rPr>
              <a:t>Salom</a:t>
            </a:r>
            <a:r>
              <a:rPr sz="1500" dirty="0">
                <a:solidFill>
                  <a:srgbClr val="1B5E20"/>
                </a:solidFill>
                <a:latin typeface="Consolas"/>
              </a:rPr>
              <a:t>, Aziza!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27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DC350C85-C00C-12CF-A630-054FB401DD4C}"/>
              </a:ext>
            </a:extLst>
          </p:cNvPr>
          <p:cNvSpPr/>
          <p:nvPr/>
        </p:nvSpPr>
        <p:spPr>
          <a:xfrm>
            <a:off x="640080" y="5154168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 err="1">
                <a:solidFill>
                  <a:srgbClr val="1B5E20"/>
                </a:solidFill>
                <a:latin typeface="Consolas"/>
              </a:rPr>
              <a:t>Salom</a:t>
            </a:r>
            <a:r>
              <a:rPr sz="1500" dirty="0">
                <a:solidFill>
                  <a:srgbClr val="1B5E20"/>
                </a:solidFill>
                <a:latin typeface="Consolas"/>
              </a:rPr>
              <a:t>, Aziza!</a:t>
            </a:r>
          </a:p>
          <a:p>
            <a:r>
              <a:rPr sz="1500" dirty="0" err="1">
                <a:solidFill>
                  <a:srgbClr val="1B5E20"/>
                </a:solidFill>
                <a:latin typeface="Consolas"/>
              </a:rPr>
              <a:t>Salom</a:t>
            </a:r>
            <a:r>
              <a:rPr sz="1500" dirty="0">
                <a:solidFill>
                  <a:srgbClr val="1B5E20"/>
                </a:solidFill>
                <a:latin typeface="Consolas"/>
              </a:rPr>
              <a:t>, </a:t>
            </a:r>
            <a:r>
              <a:rPr sz="1500" dirty="0" err="1">
                <a:solidFill>
                  <a:srgbClr val="1B5E20"/>
                </a:solidFill>
                <a:latin typeface="Consolas"/>
              </a:rPr>
              <a:t>Jasur</a:t>
            </a:r>
            <a:r>
              <a:rPr sz="1500" dirty="0">
                <a:solidFill>
                  <a:srgbClr val="1B5E20"/>
                </a:solidFill>
                <a:latin typeface="Consolas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Metoddan qiymat qaytarish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metod natija QAYTARISHI kerak bo'lsa, void o'rniga QAYTARILADIGAN TUR yoziladi (masalan int, string, bool).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return kalit so'zi — metoddan qiymatni qaytaradi VA metodni shu yerda TUGATADI.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Qaytarilgan qiymatni o'zgaruvchiga saqlash yoki to'g'ridan-to'g'ri ishlatish mumkin.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qiymat qaytaruvchi metod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5582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int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a,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b)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a + b;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natija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5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7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natija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112768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Kelishuv bo'yicha parametrli metodlar (default parameters)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Parametrga STANDART (kelishuv bo'yicha) qiymat berish mumkin — chaqirishda argument berilmasa, shu qiymat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static void Salomla(string ism = "Mehmon") { ...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Chaqirishda argument berish IXTIYORIY bo'ladi:   Salomla();  // "Mehmon" ishlatiladi,   Salomla("Aziza");  // "Aziza"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QOIDA: kelishuv bo'yicha parametrlar har doim parametrlar RO'YXATINING OXIRIDA bo'lishi kerak.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Metod e'lon qilishda void bilan int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void -- metod qiymat qaytarmasligini bildiradi; int/string va h.k. -- metod shu turdagi qiymat qaytarishini bildiradi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void va int bir xil, farqi yo'q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void faqat parametrsiz metodlarda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return kalit so'zi faqat void metodlarda ishlatiladi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Metod e'lon qilishda void bilan int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void -- metod qiymat qaytarmasligini bildiradi; int/string va h.k. -- metod shu turdagi qiymat qaytarishini bildiradi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void va int bir xil, farqi yo'q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void faqat parametrsiz metodlarda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return kalit so'zi faqat void metodlarda ishlatiladi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void -- metod hech qanday qiymat qaytarmaydi. int, string, bool va h.k. -- metod chaqiruvchiga shu turdagi natija qaytarishi SHART (return orqali).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5-BO'LIM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Metodlarning qo'shimcha
imkoniyatlari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Massiv parametrlar, params, qayta yuklash va rekursiya bilan tanishamiz.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Metodlarda massivlardan foydalanish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Massivni metodga PARAMETR sifatida uzatish mumkin — bu butun massiv ustida ishlovchi metod yozishga imkon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static int Yigindi(int[] sonlar) { ...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REFERENCE (havola) turi bo'lgani uchun, metod ichida massiv elementini o'zgartirsa, bu O'ZGARISH chaqirgan joyga ham TA'SIR qiladi!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massivni parametr sifatida qabul qiluvchi metod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305409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int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[]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sonlar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jami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foreach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s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 in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sonlar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jami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+= s;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jami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[]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ballar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{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10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20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30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};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ballar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608576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params kalit so'zi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Ba'zan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metodga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NECHTA argument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berilishi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OLDINDAN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noma'lum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bo'ladi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— params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shuning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uchun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ishlatiladi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Sintaksisi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static int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Yigindi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(params int[]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sonlar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) { ...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Chaqirishda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massivni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QAVSSIZ,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vergul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bilan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ajratib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yuborish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mumkin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Yigindi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(1, 2, 3); 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yoki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Yigindi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(1, 2, 3, 4, 5);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params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faqat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parametrlar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ro'yxatining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ENG OXIRIDA,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BITTAGINA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bo'lishi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mumkin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params bilan ixtiyoriy sondagi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305409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int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params 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[]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sonlar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jami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0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foreach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s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 in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sonlar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jami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+= s;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jami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1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2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Yigindi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1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2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3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4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608576"/>
            <a:ext cx="10881360" cy="585724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17336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>
                <a:solidFill>
                  <a:srgbClr val="606070"/>
                </a:solidFill>
                <a:latin typeface="Segoe UI"/>
              </a:rPr>
              <a:t>Bir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xil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metod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ham 2, ham 4 ta argument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bilan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chaqirildi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-- params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shuni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qulaylashtiradi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37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3FB43218-FB46-F44C-6001-8A3373F9E9FF}"/>
              </a:ext>
            </a:extLst>
          </p:cNvPr>
          <p:cNvSpPr/>
          <p:nvPr/>
        </p:nvSpPr>
        <p:spPr>
          <a:xfrm>
            <a:off x="640080" y="5257800"/>
            <a:ext cx="10881360" cy="78740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 dirty="0">
                <a:solidFill>
                  <a:srgbClr val="606070"/>
                </a:solidFill>
                <a:latin typeface="Segoe UI"/>
              </a:rPr>
              <a:t>► NATIJA (Console </a:t>
            </a:r>
            <a:r>
              <a:rPr sz="1200" b="1" dirty="0" err="1">
                <a:solidFill>
                  <a:srgbClr val="606070"/>
                </a:solidFill>
                <a:latin typeface="Segoe UI"/>
              </a:rPr>
              <a:t>chiqishi</a:t>
            </a:r>
            <a:r>
              <a:rPr sz="1200" b="1" dirty="0">
                <a:solidFill>
                  <a:srgbClr val="606070"/>
                </a:solidFill>
                <a:latin typeface="Segoe UI"/>
              </a:rPr>
              <a:t>):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3</a:t>
            </a:r>
          </a:p>
          <a:p>
            <a:r>
              <a:rPr sz="1500" dirty="0">
                <a:solidFill>
                  <a:srgbClr val="1B5E2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Metodlarni qayta yuklash (overloading)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Qayta yuklash — BIR XIL nomli, lekin PARAMETRLARI (soni yoki turi) boshqacha bo'lgan bir nechta metod yaratish imkoni.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  int Yigindi(int a, int b)   va   double Yigindi(double a, double b)   — ikkalasi ham "Yigindi" deb ataladi.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qaysi metodni chaqirishni argumentlarning TURI va SONIGA qarab avtomatik ANIQLAYDI.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— Console.WriteLine() ning turli argumentlar bilan (son, satr, bool) ishlay olishining aynan shu mexanizm tufayli ekanini bildiradi!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Rekursiv metodlar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Rekursiya — metodning O'Z-O'ZINI chaqirishi.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rekursiv metod ikkita qismga ega bo'lishi SHART: BAZA HOLATI (qachon to'xtash kerakligi) va REKURSIV CHAQIRUV (o'zini kichikroq masala bilan chaqirish).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Baza holati bo'lmasa — CHEKSIZ rekursiya yuzaga keladi (StackOverflowException xatosi bilan tugaydi).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Klassik misol: faktorial hisoblash (5! = 5 * 4 * 3 * 2 *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faktorialni rekursiya bilan hisoblash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8061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int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Faktorial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n)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if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(n &lt;=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1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     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baza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holati</a:t>
            </a:r>
            <a:endParaRPr sz="160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 1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n *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Faktorial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(n -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1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  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rekursiv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chaqiruv</a:t>
            </a:r>
            <a:endParaRPr sz="160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Faktorial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5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360671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2191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 err="1">
                <a:solidFill>
                  <a:srgbClr val="606070"/>
                </a:solidFill>
                <a:latin typeface="Segoe UI"/>
              </a:rPr>
              <a:t>Faktorial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(5) -&gt; 5*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Faktorial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(4) -&gt; 5*4*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Faktorial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(3) -&gt; ... -&gt; 5*4*3*2*1 = 120.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Rekursiya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Rekursiv metod hech qachon to'xtamaydi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Har bir rekursiv metod BAZA HOLATI (to'xtash sharti) ga ega bo'lishi SHART, aks holda cheksiz chaqiruv (StackOverflowException) yuz beradi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Rekursiya faqat massivlar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Rekursiv metod o'zini chaqira olmaydi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Rekursiya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Rekursiv metod hech qachon to'xtamaydi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Har bir rekursiv metod BAZA HOLATI (to'xtash sharti) ga ega bo'lishi SHART, aks holda cheksiz chaqiruv (StackOverflowException) yuz beradi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Rekursiya faqat massivlar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Rekursiv metod o'zini chaqira olmaydi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Rekursiv metod o'zini chaqiradi, lekin BAZA HOLATI bo'lishi SHART -- aks holda chaqiruvlar cheksiz davom etib, StackOverflowException xatosiga olib keladi.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6-BO'LIM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Qiymat/havola turlari,
ref va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Metodga parametr qanday uzatilishini chuqurroq ko'ramiz.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Qiymat turlari va havola turlari (chuqurroq)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Qiymat turlari (int, bool, double va h.k.) metodga uzatilganda — QIYMATNING NUSXASI uzatiladi; metod ichidagi o'zgarish TASHQARIGA ta'sir QILMAYDI.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Havola turlari (massiv, keyingi darslarda o'rganiladigan klasslar) uzatilganda — xotiradagi MANZIL (havola) uzatiladi; metod ichidagi o'zgarish TASHQARIGA ham TA'SIR QILADI (buni V-bo'limda massiv misolida ko'rdik).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Lekin ba'zan oddiy int/double kabi qiymat turini ham metod ICHIDA o'zgartirib, bu o'zgarishni TASHQARIGA chiqarish kerak bo'ladi — shuning uchun ref va out kalit so'zlari bor.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ref kalit so'zi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ref — qiymat turini metodga "NUSXA" emas, balki TO'G'RIDAN-TO'G'RI HAVOLA orqali uzatish imkonini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Metod ICHIDA qilingan o'zgarish — chaqirgan joydagi o'zgaruvchiga ham TA'SIR QILADI.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ref bilan ishlashda, parametr METOD E'LONIDA ham, CHAQIRISHDA ham ref so'zi bilan yozilishi SHART.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MUHIM: ref orqali uzatiladigan o'zgaruvchi chaqirishdan OLDIN biror qiymatga ega bo'lishi kerak.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ref kalit so'zi bilan qiymatni o'zgartirish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8061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void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Ikkilantir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ref 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son)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son = son *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2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x = 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5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DCDCAA"/>
                </a:solidFill>
                <a:latin typeface="Consolas"/>
              </a:rPr>
              <a:t>Ikkilantir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ref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x);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(x);  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// ref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bo'lmasa</a:t>
            </a:r>
            <a:r>
              <a:rPr sz="1600" dirty="0">
                <a:solidFill>
                  <a:srgbClr val="6A9955"/>
                </a:solidFill>
                <a:latin typeface="Consolas"/>
              </a:rPr>
              <a:t> 5 </a:t>
            </a:r>
            <a:r>
              <a:rPr sz="1600" dirty="0" err="1">
                <a:solidFill>
                  <a:srgbClr val="6A9955"/>
                </a:solidFill>
                <a:latin typeface="Consolas"/>
              </a:rPr>
              <a:t>chiqardi</a:t>
            </a:r>
            <a:endParaRPr sz="1600" dirty="0">
              <a:solidFill>
                <a:srgbClr val="6A9955"/>
              </a:solidFill>
              <a:latin typeface="Consolas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360671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2191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>
                <a:solidFill>
                  <a:srgbClr val="606070"/>
                </a:solidFill>
                <a:latin typeface="Segoe UI"/>
              </a:rPr>
              <a:t>ref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bo'lmaganida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x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metodga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NUSXA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sifatida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uzatilib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,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tashqaridagi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x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hali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ham 5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bo'lib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qolardi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out kalit so'zi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out — ref ga o'xshaydi (havola orqali uzatadi), lekin metodga kirishda o'zgaruvchi OLDINDAN qiymatga ega bo'lishi SHART EMAS.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out ishlatilgan parametr metod ICHIDA albatta biror qiymat BILAN TO'LDIRILISHI SHART (metoddan chiqishdan oldin).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Ko'pincha metoddan BIR NECHTA natija qaytarish kerak bo'lganda ishlatiladi (masalan int.TryParse metodida ko'rasiz).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VI-BO'LIM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out bilan BIR NECHTA qiymat qaytarish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8061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>
              <a:lnSpc>
                <a:spcPct val="122000"/>
              </a:lnSpc>
            </a:pPr>
            <a:r>
              <a:rPr sz="1600" dirty="0">
                <a:solidFill>
                  <a:srgbClr val="569CD6"/>
                </a:solidFill>
                <a:latin typeface="Consolas"/>
              </a:rPr>
              <a:t>static void</a:t>
            </a:r>
            <a:r>
              <a:rPr sz="1600" dirty="0">
                <a:solidFill>
                  <a:srgbClr val="DCDCAA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KvadratVaKub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son,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out 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kvadrat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out 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kub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kvadrat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son * son;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kub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= son * son * son;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DCDCAA"/>
                </a:solidFill>
                <a:latin typeface="Consolas"/>
              </a:rPr>
              <a:t>KvadratVaKub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3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out 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kv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, </a:t>
            </a:r>
            <a:r>
              <a:rPr sz="1600" dirty="0">
                <a:solidFill>
                  <a:srgbClr val="569CD6"/>
                </a:solidFill>
                <a:latin typeface="Consolas"/>
              </a:rPr>
              <a:t>out int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 kb);</a:t>
            </a:r>
          </a:p>
          <a:p>
            <a:pPr>
              <a:lnSpc>
                <a:spcPct val="122000"/>
              </a:lnSpc>
            </a:pPr>
            <a:r>
              <a:rPr sz="1600" dirty="0" err="1">
                <a:solidFill>
                  <a:srgbClr val="4EC9B0"/>
                </a:solidFill>
                <a:latin typeface="Consolas"/>
              </a:rPr>
              <a:t>Console</a:t>
            </a:r>
            <a:r>
              <a:rPr sz="1600" dirty="0" err="1">
                <a:solidFill>
                  <a:srgbClr val="D4D4D4"/>
                </a:solidFill>
                <a:latin typeface="Consolas"/>
              </a:rPr>
              <a:t>.</a:t>
            </a:r>
            <a:r>
              <a:rPr sz="1600" dirty="0" err="1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(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$"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Kvadrat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: {</a:t>
            </a:r>
            <a:r>
              <a:rPr sz="1600" dirty="0" err="1">
                <a:solidFill>
                  <a:srgbClr val="CE9178"/>
                </a:solidFill>
                <a:latin typeface="Consolas"/>
              </a:rPr>
              <a:t>kv</a:t>
            </a:r>
            <a:r>
              <a:rPr sz="1600" dirty="0">
                <a:solidFill>
                  <a:srgbClr val="CE9178"/>
                </a:solidFill>
                <a:latin typeface="Consolas"/>
              </a:rPr>
              <a:t>}, Kub: {kb}"</a:t>
            </a:r>
            <a:r>
              <a:rPr sz="1600" dirty="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360671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Kvadrat: 9, Kub: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2191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 err="1">
                <a:solidFill>
                  <a:srgbClr val="606070"/>
                </a:solidFill>
                <a:latin typeface="Segoe UI"/>
              </a:rPr>
              <a:t>Oddiy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return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orqali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metoddan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faqat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BITTA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qiymat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qaytarish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mumkin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-- out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shu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cheklovni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chetlab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606070"/>
                </a:solidFill>
                <a:latin typeface="Segoe UI"/>
              </a:rPr>
              <a:t>o'tadi</a:t>
            </a:r>
            <a:r>
              <a:rPr sz="1300" b="0" i="1" dirty="0">
                <a:solidFill>
                  <a:srgbClr val="606070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ref va out kalit so'zlari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ref va out bir xil, farqi yo'q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ref uzatilayotgan o'zgaruvchi OLDINDAN qiymatga ega bo'lishi kerak; out esa metod ICHIDA qiymat bilan to'ldirilishi shart, oldindan qiymat shart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ref faqat massivlar bilan, out faqat satrlar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Ikkalasi ham faqat qiymat qaytarmaydigan (void) metodlarda ishlatiladi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ref va out kalit so'zlari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ref va out bir xil, farqi yo'q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ref uzatilayotgan o'zgaruvchi OLDINDAN qiymatga ega bo'lishi kerak; out esa metod ICHIDA qiymat bilan to'ldirilishi shart, oldindan qiymat shart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ref faqat massivlar bilan, out faqat satrlar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Ikkalasi ham faqat qiymat qaytarmaydigan (void) metodlarda ishlatiladi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ref bilan uzatiladigan o'zgaruvchi chaqirishdan OLDIN qiymatga ega bo'lishi kerak. out bilan uzatiladigan o'zgaruvchi oldindan qiymatga ega bo'lmasligi mumkin, lekin metod ICHIDA albatta to'ldirilishi SHART.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Yangi boshlovchilar ko'p qiladigan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string[0] = 'X'; kabi satrni to'g'ridan-to'g'ri o'zgartirishga urinish — string o'zgarmas (immutable), bu kompilyatsiya xatosi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Metod nomidan keyin qavs ( ) ni unutish — metodni chaqirish uchun HAR DOIM qavs kerak, hatto parametrsiz bo'lsa ham.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void metoddan qiymat qaytarishga urinish (return qiymat;) — void hech narsa qaytarmasligi kerak.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Rekursiv metodda BAZA HOLATINI yozishni unutish — bu cheksiz chaqiruv va StackOverflowException ga olib keladi.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ref/out parametrlarini chaqirishda kalit so'zni yozishni unutish — ular METOD E'LONIDA ham, CHAQIRISHDA ham yozilishi SHART.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1-topshiriq: Kiritilgan satrda nechta unli harf (a, e, i, o, u va o'zbekcha unlilar) borligini hisoblovchi dastur yozing (char.IsLetter va solishtirishdan foydalaning).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2-topshiriq: Ikkita son qabul qilib, ularning KATTASINI qaytaruvchi oddiy metod (static int Katta(int a, int b)) yozing.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3-topshiriq: params yordamida ixtiyoriy sondagi sonlarning O'RTACHASINI hisoblovchi metod yozing.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4-topshiriq (qo'shimcha): Fibonachchi sonini (0,1,1,2,3,5,8...) rekursiya yordamida hisoblovchi metod yozing.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Har bir metodni avval QOG'OZDA rejalashtiring: nomi, parametrlari, nima qaytaradi -- keyin kodga o'ting.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 xulosasi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char.IsDigit/IsLetter/ToUpper kabi funksiyalar belgi ustida tekshirish va o'zgartirish imkonini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string — belgilar ketma-ketligi, lekin O'ZGARMAS (immutable); Length, Substring, Split, Replace eng ko'p ishlatiladigan amallar.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String interpolation ($"...{o'zgaruvchi}...") va ToString("N2") kabi format specifierlar chiqishni chiroyli qiladi.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Metod — qayta ishlatiladigan kod bo'lagi: parametr qabul qiladi, (ixtiyoriy) qiymat qaytaradi.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params — ixtiyoriy sondagi argument; rekursiya — metodning o'zini chaqirishi (baza holati SHART).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ref — oldindan qiymati bor o'zgaruvchini havola orqali uzatadi; out — metod ichida albatta to'ldirilishi kerak bo'lgan natija uchun.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KEYINGI DARS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Keyingi mavzular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24002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1-semestr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lektsiyalarimiz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shu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bilan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YAKUNLANADI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Keyingi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bosqich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: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amaliy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mashg'ulotlar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—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bugungi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oldingi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barcha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mavzular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bo'yicha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mustahkam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mashq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qilasiz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2-semestrda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esa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Kortejlar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Obyektga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yo'naltirilgan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dasturlash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(OYD),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Sinflar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boshqa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chuqur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mavzularni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ko'ramiz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dirty="0">
                <a:solidFill>
                  <a:srgbClr val="23232B"/>
                </a:solidFill>
                <a:latin typeface="Segoe UI"/>
              </a:rPr>
              <a:t>• 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Yakuniy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nazoratga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tayyorgarlik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ko'rishni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boshlashni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unutmang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—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barcha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6 ta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ma'ruza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materialini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viktorinalarni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qayta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ko'rib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23232B"/>
                </a:solidFill>
                <a:latin typeface="Segoe UI"/>
              </a:rPr>
              <a:t>chiqing</a:t>
            </a:r>
            <a:r>
              <a:rPr sz="1800" dirty="0">
                <a:solidFill>
                  <a:srgbClr val="23232B"/>
                </a:solidFill>
                <a:latin typeface="Segoe U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Foydali adabiyotlar va havolalar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Darsliklar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Adambayev U.E. va b. "Algoritmik tillar va dasturlash. C# tilida dasturlash asoslari" (2023)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Mo'minov B.B. "Dasturlash 1" (2021)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Albahari B. "C# 7.0. Справочник" (2018)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Onlayn manbalar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metanit.com/sharp/tutorial — Satrlar va Metodlar bo'limlari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learn.microsoft.com/dotnet/csharp/programming-guide/classes-and-structs/methods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www.dastur.uz — o'zbek tilida dasturlash sayti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6-Ma'ruza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Rahmat! Butun semestr davomida faol ishtirokingiz uchun!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📧 Aloqa uchun: (o'qituvchi email/telefon — dars vaqtida beriladi)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Amaliy mashg'ulotlar va mustaqil ishlar — TA bilan davom etadi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1-semestr ma'ruzalari yakunlandi — omad tilaymiz!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qatnashganingiz uchun katta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4393</Words>
  <Application>Microsoft Office PowerPoint</Application>
  <PresentationFormat>Widescreen</PresentationFormat>
  <Paragraphs>584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35</cp:revision>
  <dcterms:created xsi:type="dcterms:W3CDTF">2013-01-27T09:14:16Z</dcterms:created>
  <dcterms:modified xsi:type="dcterms:W3CDTF">2026-10-20T05:51:00Z</dcterms:modified>
  <cp:category/>
</cp:coreProperties>
</file>
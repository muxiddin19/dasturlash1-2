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74920"/>
            <a:ext cx="12191695" cy="63500"/>
          </a:xfrm>
          <a:prstGeom prst="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48640" y="548640"/>
            <a:ext cx="1463040" cy="1463040"/>
          </a:xfrm>
          <a:prstGeom prst="ellipse">
            <a:avLst/>
          </a:prstGeom>
          <a:solidFill>
            <a:srgbClr val="683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607040" y="5394960"/>
            <a:ext cx="914400" cy="914400"/>
          </a:xfrm>
          <a:prstGeom prst="ellipse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65760" y="5760720"/>
            <a:ext cx="731520" cy="731520"/>
          </a:xfrm>
          <a:prstGeom prst="ellipse">
            <a:avLst/>
          </a:prstGeom>
          <a:solidFill>
            <a:srgbClr val="683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18872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00BCD4"/>
                </a:solidFill>
                <a:latin typeface="Segoe UI"/>
              </a:rPr>
              <a:t>DASTURLASH 1  •  DAS1110  •  AMALIY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737360"/>
            <a:ext cx="105156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800" b="1" i="0">
                <a:solidFill>
                  <a:srgbClr val="FFFFFF"/>
                </a:solidFill>
                <a:latin typeface="Segoe UI"/>
              </a:rPr>
              <a:t>6-Amaliy: Satrlar va Metodlar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651760"/>
            <a:ext cx="105156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0" i="0">
                <a:solidFill>
                  <a:srgbClr val="D8D8F0"/>
                </a:solidFill>
                <a:latin typeface="Segoe UI"/>
              </a:rPr>
              <a:t>"Parol tekshiruvchi", EKUB hisoblagich va modular kalkulyator
loyihalari — semestrning yakuniy amaliy mashg'uloti!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5321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B8B8E0"/>
                </a:solidFill>
                <a:latin typeface="Segoe UI"/>
              </a:rPr>
              <a:t>O'zbekiston Milliy universiteti Jizzax filiali  |  Amaliy matematika fakulteti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8978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B8B8E0"/>
                </a:solidFill>
                <a:latin typeface="Segoe UI"/>
              </a:rPr>
              <a:t>O'qituvchi: Toshpolatov Muxiddin, PhD, dotsent  |  2025/2026-o'quv yili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0BCD4"/>
                </a:solidFill>
                <a:latin typeface="Segoe UI"/>
              </a:rPr>
              <a:t>REJA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20624"/>
            <a:ext cx="11155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Bugungi mashg'ulot rejasi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088136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1-mashq: "Parol kuchini tekshiruvchi" — char/string (birga)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2-mashq: EKUB (GCD) — rekursiv VA iterativ (mustaqil)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3-mashq (qo'shimcha): "Modular kalkulyator" — params/ref/out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Qisqa viktorina va YAKUNIY uyga vazifa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Dasturlash 1 | 6-Amaliy mashg'ulot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0BCD4"/>
                </a:solidFill>
                <a:latin typeface="Segoe UI"/>
              </a:rPr>
              <a:t>1-MASHQ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20624"/>
            <a:ext cx="11155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"Parol kuchini tekshiruvchi" (birga bajaramiz)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088136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Vazifa: foydalanuvchi kiritgan parolni tahlil qilib, unda katta harf, kichik harf va raqam bor-yo'qligini aniqlaymiz.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Ishlatiladigan narsalar: char.IsUpper, char.IsLower, char.IsDigit, string.Length, foreach.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Natija: agar barcha 3 shart bajarilsa va uzunlik &gt;= 8 bo'lsa — "Kuchli", aks holda "Zaif".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Dasturlash 1 | 6-Amaliy mashg'ulot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0BCD4"/>
                </a:solidFill>
                <a:latin typeface="Segoe UI"/>
              </a:rPr>
              <a:t>1-MASHQ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20624"/>
            <a:ext cx="11155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Kutilgan natija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10881360" cy="1070864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>
            <a:solidFill>
              <a:srgbClr val="3C3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411480" rIns="182880"/>
          <a:lstStyle/>
          <a:p>
            <a:pPr algn="ctr">
              <a:lnSpc>
                <a:spcPct val="122000"/>
              </a:lnSpc>
            </a:pPr>
            <a:r>
              <a:rPr sz="1600">
                <a:solidFill>
                  <a:srgbClr val="D4D4D4"/>
                </a:solidFill>
                <a:latin typeface="Consolas"/>
              </a:rPr>
              <a:t>Parolni kiriting: </a:t>
            </a:r>
            <a:r>
              <a:rPr sz="1600">
                <a:solidFill>
                  <a:srgbClr val="CE9178"/>
                </a:solidFill>
                <a:latin typeface="Consolas"/>
              </a:rPr>
              <a:t>Dastur2026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1554480"/>
            <a:ext cx="146304" cy="146304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78992" y="1554480"/>
            <a:ext cx="146304" cy="146304"/>
          </a:xfrm>
          <a:prstGeom prst="ellipse">
            <a:avLst/>
          </a:prstGeom>
          <a:solidFill>
            <a:srgbClr val="F57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335024" y="1554480"/>
            <a:ext cx="146304" cy="146304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2625344"/>
            <a:ext cx="10881360" cy="1572768"/>
          </a:xfrm>
          <a:prstGeom prst="roundRect">
            <a:avLst/>
          </a:prstGeom>
          <a:solidFill>
            <a:srgbClr val="F0F0F0"/>
          </a:solidFill>
          <a:ln>
            <a:solidFill>
              <a:srgbClr val="C0C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73152"/>
          <a:lstStyle/>
          <a:p>
            <a:pPr algn="ctr"/>
            <a:r>
              <a:rPr b="1" sz="1200">
                <a:solidFill>
                  <a:srgbClr val="606070"/>
                </a:solidFill>
                <a:latin typeface="Segoe UI"/>
              </a:rPr>
              <a:t>► NATIJA (Console chiqishi):</a:t>
            </a:r>
          </a:p>
          <a:p>
            <a:r>
              <a:rPr sz="1500">
                <a:solidFill>
                  <a:srgbClr val="1B5E20"/>
                </a:solidFill>
                <a:latin typeface="Consolas"/>
              </a:rPr>
              <a:t>Uzunlik: 10</a:t>
            </a:r>
          </a:p>
          <a:p>
            <a:r>
              <a:rPr sz="1500">
                <a:solidFill>
                  <a:srgbClr val="1B5E20"/>
                </a:solidFill>
                <a:latin typeface="Consolas"/>
              </a:rPr>
              <a:t>Katta harf bor: True</a:t>
            </a:r>
          </a:p>
          <a:p>
            <a:r>
              <a:rPr sz="1500">
                <a:solidFill>
                  <a:srgbClr val="1B5E20"/>
                </a:solidFill>
                <a:latin typeface="Consolas"/>
              </a:rPr>
              <a:t>Kichik harf bor: True</a:t>
            </a:r>
          </a:p>
          <a:p>
            <a:r>
              <a:rPr sz="1500">
                <a:solidFill>
                  <a:srgbClr val="1B5E20"/>
                </a:solidFill>
                <a:latin typeface="Consolas"/>
              </a:rPr>
              <a:t>Raqam bor: True</a:t>
            </a:r>
          </a:p>
          <a:p>
            <a:r>
              <a:rPr sz="1500">
                <a:solidFill>
                  <a:srgbClr val="1B5E20"/>
                </a:solidFill>
                <a:latin typeface="Consolas"/>
              </a:rPr>
              <a:t>Parol KUCHLI!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Dasturlash 1 | 6-Amaliy mashg'ulot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0BCD4"/>
                </a:solidFill>
                <a:latin typeface="Segoe UI"/>
              </a:rPr>
              <a:t>1-MASHQ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20624"/>
            <a:ext cx="11155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Mantiq — qadamlar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1508760"/>
            <a:ext cx="548640" cy="548640"/>
          </a:xfrm>
          <a:prstGeom prst="ellipse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2000">
                <a:solidFill>
                  <a:srgbClr val="1E1B4B"/>
                </a:solidFill>
              </a:rP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508760" y="1508760"/>
            <a:ext cx="1001268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E0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/>
            <a:r>
              <a:rPr sz="1600">
                <a:solidFill>
                  <a:srgbClr val="23232B"/>
                </a:solidFill>
                <a:latin typeface="Segoe UI"/>
              </a:rPr>
              <a:t>string parol = Console.ReadLine(); bilan parolni o'qing.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2441448"/>
            <a:ext cx="548640" cy="548640"/>
          </a:xfrm>
          <a:prstGeom prst="ellipse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2000">
                <a:solidFill>
                  <a:srgbClr val="1E1B4B"/>
                </a:solidFill>
              </a:rPr>
              <a:t>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508760" y="2441448"/>
            <a:ext cx="1001268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E0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/>
            <a:r>
              <a:rPr sz="1600">
                <a:solidFill>
                  <a:srgbClr val="23232B"/>
                </a:solidFill>
                <a:latin typeface="Segoe UI"/>
              </a:rPr>
              <a:t>bool kattaBor=false, kichikBor=false, raqamBor=false; -- uchta bayroq e'lon qiling.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" y="3374136"/>
            <a:ext cx="548640" cy="548640"/>
          </a:xfrm>
          <a:prstGeom prst="ellipse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2000">
                <a:solidFill>
                  <a:srgbClr val="1E1B4B"/>
                </a:solidFill>
              </a:rPr>
              <a:t>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508760" y="3374136"/>
            <a:ext cx="1001268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E0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/>
            <a:r>
              <a:rPr sz="1600">
                <a:solidFill>
                  <a:srgbClr val="23232B"/>
                </a:solidFill>
                <a:latin typeface="Segoe UI"/>
              </a:rPr>
              <a:t>foreach (char c in parol) bilan har bir belgini tekshiring: IsUpper/IsLower/IsDigit mos bayroqni true qiling.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4306824"/>
            <a:ext cx="548640" cy="548640"/>
          </a:xfrm>
          <a:prstGeom prst="ellipse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2000">
                <a:solidFill>
                  <a:srgbClr val="1E1B4B"/>
                </a:solidFill>
              </a:rPr>
              <a:t>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508760" y="4306824"/>
            <a:ext cx="1001268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E0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/>
            <a:r>
              <a:rPr sz="1600">
                <a:solidFill>
                  <a:srgbClr val="23232B"/>
                </a:solidFill>
                <a:latin typeface="Segoe UI"/>
              </a:rPr>
              <a:t>Barcha shartlar TRUE va parol.Length &gt;= 8 bo'lsa -- "KUCHLI", aks holda "ZAIF" deb chiqaring.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Dasturlash 1 | 6-Amaliy mashg'ulot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0BCD4"/>
                </a:solidFill>
                <a:latin typeface="Segoe UI"/>
              </a:rPr>
              <a:t>2-MASHQ (MUSTAQIL)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20624"/>
            <a:ext cx="11155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EKUB (GCD) — rekursiv VA iterativ usulda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088136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Endi SIZ mustaqil bajarasiz — worksheet'dagi 2-mashqqa o'ting.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EKUB (Eng Katta Umumiy Bo'luvchi) — ikkita sonni ham qoldiqsiz bo'ladigan eng katta son.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Evklid algoritmi: EKUB(a, b) = EKUB(b, a % b), agar b = 0 bo'lsa natija a.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Vazifa: BITTA EKUB metodini rekursiv, BOSHQASINI iterativ (while sikli bilan) yozib, ikkalasining natijasi BIR XIL ekanini tekshiring.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367528"/>
            <a:ext cx="10881360" cy="896112"/>
          </a:xfrm>
          <a:prstGeom prst="roundRect">
            <a:avLst>
              <a:gd name="adj" fmla="val 15000"/>
            </a:avLst>
          </a:prstGeom>
          <a:solidFill>
            <a:srgbClr val="FFF3D6"/>
          </a:solidFill>
          <a:ln w="12700">
            <a:solidFill>
              <a:srgbClr val="F57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36576" bIns="36576"/>
          <a:lstStyle/>
          <a:p>
            <a:pPr algn="ctr">
              <a:lnSpc>
                <a:spcPct val="110000"/>
              </a:lnSpc>
            </a:pPr>
            <a:r>
              <a:rPr sz="1400" i="1">
                <a:solidFill>
                  <a:srgbClr val="7A5400"/>
                </a:solidFill>
                <a:latin typeface="Segoe UI"/>
              </a:rPr>
              <a:t>💡 Rekursiv va iterativ yechimlar HAR DOIM bir xil natija berishi kerak — bu ularni "tekshirish" usuli ham!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Dasturlash 1 | 6-Amaliy mashg'ulot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0BCD4"/>
                </a:solidFill>
                <a:latin typeface="Segoe UI"/>
              </a:rPr>
              <a:t>3-MASHQ (QO'SHIMCHA)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20624"/>
            <a:ext cx="11155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"Modular kalkulyator" — params/ref/out sintezi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088136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Vazifa 1 (params): ixtiyoriy sondagi sonlarning YIG'INDISINI va O'RTACHASINI hisoblovchi metod yozing — params int[] sonlar.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Vazifa 2 (ref): ikkita o'zgaruvchining qiymatini ALMASHTIRUVCHI (swap) metod yozing — void Almashtir(ref int a, ref int b).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Vazifa 3 (out): massivning MIN va MAX qiymatini BIR VAQTDA qaytaruvchi metod yozing — void MinMax(int[] massiv, out int min, out int max).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Dasturlash 1 | 6-Amaliy mashg'ulot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0BCD4"/>
                </a:solidFill>
                <a:latin typeface="Segoe UI"/>
              </a:rPr>
              <a:t>3-MASHQ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20624"/>
            <a:ext cx="11155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"Almashtirish" (swap) uchun ref nega SHART?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10881360" cy="2310384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>
            <a:solidFill>
              <a:srgbClr val="3C3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411480" rIns="182880"/>
          <a:lstStyle/>
          <a:p>
            <a:pPr algn="ctr">
              <a:lnSpc>
                <a:spcPct val="122000"/>
              </a:lnSpc>
            </a:pPr>
            <a:r>
              <a:rPr sz="1600">
                <a:solidFill>
                  <a:srgbClr val="569CD6"/>
                </a:solidFill>
                <a:latin typeface="Consolas"/>
              </a:rPr>
              <a:t>static</a:t>
            </a:r>
            <a:r>
              <a:rPr sz="1600">
                <a:solidFill>
                  <a:srgbClr val="569CD6"/>
                </a:solidFill>
                <a:latin typeface="Consolas"/>
              </a:rPr>
              <a:t> void</a:t>
            </a:r>
            <a:r>
              <a:rPr sz="1600">
                <a:solidFill>
                  <a:srgbClr val="DCDCAA"/>
                </a:solidFill>
                <a:latin typeface="Consolas"/>
              </a:rPr>
              <a:t> Almashtir</a:t>
            </a:r>
            <a:r>
              <a:rPr sz="1600">
                <a:solidFill>
                  <a:srgbClr val="D4D4D4"/>
                </a:solidFill>
                <a:latin typeface="Consolas"/>
              </a:rPr>
              <a:t>(</a:t>
            </a:r>
            <a:r>
              <a:rPr sz="1600">
                <a:solidFill>
                  <a:srgbClr val="569CD6"/>
                </a:solidFill>
                <a:latin typeface="Consolas"/>
              </a:rPr>
              <a:t>ref</a:t>
            </a:r>
            <a:r>
              <a:rPr sz="1600">
                <a:solidFill>
                  <a:srgbClr val="569CD6"/>
                </a:solidFill>
                <a:latin typeface="Consolas"/>
              </a:rPr>
              <a:t> int</a:t>
            </a:r>
            <a:r>
              <a:rPr sz="1600">
                <a:solidFill>
                  <a:srgbClr val="D4D4D4"/>
                </a:solidFill>
                <a:latin typeface="Consolas"/>
              </a:rPr>
              <a:t> a</a:t>
            </a:r>
            <a:r>
              <a:rPr sz="1600">
                <a:solidFill>
                  <a:srgbClr val="D4D4D4"/>
                </a:solidFill>
                <a:latin typeface="Consolas"/>
              </a:rPr>
              <a:t>, </a:t>
            </a:r>
            <a:r>
              <a:rPr sz="1600">
                <a:solidFill>
                  <a:srgbClr val="569CD6"/>
                </a:solidFill>
                <a:latin typeface="Consolas"/>
              </a:rPr>
              <a:t>ref</a:t>
            </a:r>
            <a:r>
              <a:rPr sz="1600">
                <a:solidFill>
                  <a:srgbClr val="569CD6"/>
                </a:solidFill>
                <a:latin typeface="Consolas"/>
              </a:rPr>
              <a:t> int</a:t>
            </a:r>
            <a:r>
              <a:rPr sz="1600">
                <a:solidFill>
                  <a:srgbClr val="D4D4D4"/>
                </a:solidFill>
                <a:latin typeface="Consolas"/>
              </a:rPr>
              <a:t> b</a:t>
            </a:r>
            <a:r>
              <a:rPr sz="160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22000"/>
              </a:lnSpc>
            </a:pPr>
            <a:r>
              <a:rPr sz="1600">
                <a:solidFill>
                  <a:srgbClr val="D4D4D4"/>
                </a:solidFill>
                <a:latin typeface="Consolas"/>
              </a:rPr>
              <a:t>{</a:t>
            </a:r>
          </a:p>
          <a:p>
            <a:pPr>
              <a:lnSpc>
                <a:spcPct val="122000"/>
              </a:lnSpc>
            </a:pPr>
            <a:r>
              <a:rPr sz="1600">
                <a:solidFill>
                  <a:srgbClr val="D4D4D4"/>
                </a:solidFill>
                <a:latin typeface="Consolas"/>
              </a:rPr>
              <a:t>    </a:t>
            </a:r>
            <a:r>
              <a:rPr sz="1600">
                <a:solidFill>
                  <a:srgbClr val="569CD6"/>
                </a:solidFill>
                <a:latin typeface="Consolas"/>
              </a:rPr>
              <a:t>int</a:t>
            </a:r>
            <a:r>
              <a:rPr sz="1600">
                <a:solidFill>
                  <a:srgbClr val="D4D4D4"/>
                </a:solidFill>
                <a:latin typeface="Consolas"/>
              </a:rPr>
              <a:t> vaqtinchalik</a:t>
            </a:r>
            <a:r>
              <a:rPr sz="1600">
                <a:solidFill>
                  <a:srgbClr val="D4D4D4"/>
                </a:solidFill>
                <a:latin typeface="Consolas"/>
              </a:rPr>
              <a:t> = </a:t>
            </a:r>
            <a:r>
              <a:rPr sz="1600">
                <a:solidFill>
                  <a:srgbClr val="D4D4D4"/>
                </a:solidFill>
                <a:latin typeface="Consolas"/>
              </a:rPr>
              <a:t>a</a:t>
            </a:r>
            <a:r>
              <a:rPr sz="1600">
                <a:solidFill>
                  <a:srgbClr val="D4D4D4"/>
                </a:solidFill>
                <a:latin typeface="Consolas"/>
              </a:rPr>
              <a:t>;</a:t>
            </a:r>
          </a:p>
          <a:p>
            <a:pPr>
              <a:lnSpc>
                <a:spcPct val="122000"/>
              </a:lnSpc>
            </a:pPr>
            <a:r>
              <a:rPr sz="1600">
                <a:solidFill>
                  <a:srgbClr val="D4D4D4"/>
                </a:solidFill>
                <a:latin typeface="Consolas"/>
              </a:rPr>
              <a:t>    </a:t>
            </a:r>
            <a:r>
              <a:rPr sz="1600">
                <a:solidFill>
                  <a:srgbClr val="D4D4D4"/>
                </a:solidFill>
                <a:latin typeface="Consolas"/>
              </a:rPr>
              <a:t>a</a:t>
            </a:r>
            <a:r>
              <a:rPr sz="1600">
                <a:solidFill>
                  <a:srgbClr val="D4D4D4"/>
                </a:solidFill>
                <a:latin typeface="Consolas"/>
              </a:rPr>
              <a:t> = </a:t>
            </a:r>
            <a:r>
              <a:rPr sz="1600">
                <a:solidFill>
                  <a:srgbClr val="D4D4D4"/>
                </a:solidFill>
                <a:latin typeface="Consolas"/>
              </a:rPr>
              <a:t>b</a:t>
            </a:r>
            <a:r>
              <a:rPr sz="1600">
                <a:solidFill>
                  <a:srgbClr val="D4D4D4"/>
                </a:solidFill>
                <a:latin typeface="Consolas"/>
              </a:rPr>
              <a:t>;</a:t>
            </a:r>
          </a:p>
          <a:p>
            <a:pPr>
              <a:lnSpc>
                <a:spcPct val="122000"/>
              </a:lnSpc>
            </a:pPr>
            <a:r>
              <a:rPr sz="1600">
                <a:solidFill>
                  <a:srgbClr val="D4D4D4"/>
                </a:solidFill>
                <a:latin typeface="Consolas"/>
              </a:rPr>
              <a:t>    </a:t>
            </a:r>
            <a:r>
              <a:rPr sz="1600">
                <a:solidFill>
                  <a:srgbClr val="D4D4D4"/>
                </a:solidFill>
                <a:latin typeface="Consolas"/>
              </a:rPr>
              <a:t>b</a:t>
            </a:r>
            <a:r>
              <a:rPr sz="1600">
                <a:solidFill>
                  <a:srgbClr val="D4D4D4"/>
                </a:solidFill>
                <a:latin typeface="Consolas"/>
              </a:rPr>
              <a:t> = </a:t>
            </a:r>
            <a:r>
              <a:rPr sz="1600">
                <a:solidFill>
                  <a:srgbClr val="D4D4D4"/>
                </a:solidFill>
                <a:latin typeface="Consolas"/>
              </a:rPr>
              <a:t>vaqtinchalik</a:t>
            </a:r>
            <a:r>
              <a:rPr sz="1600">
                <a:solidFill>
                  <a:srgbClr val="D4D4D4"/>
                </a:solidFill>
                <a:latin typeface="Consolas"/>
              </a:rPr>
              <a:t>;</a:t>
            </a:r>
          </a:p>
          <a:p>
            <a:pPr>
              <a:lnSpc>
                <a:spcPct val="122000"/>
              </a:lnSpc>
            </a:pPr>
            <a:r>
              <a:rPr sz="1600">
                <a:solidFill>
                  <a:srgbClr val="D4D4D4"/>
                </a:solidFill>
                <a:latin typeface="Consolas"/>
              </a:rPr>
              <a:t>}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1554480"/>
            <a:ext cx="146304" cy="146304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78992" y="1554480"/>
            <a:ext cx="146304" cy="146304"/>
          </a:xfrm>
          <a:prstGeom prst="ellipse">
            <a:avLst/>
          </a:prstGeom>
          <a:solidFill>
            <a:srgbClr val="F57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335024" y="1554480"/>
            <a:ext cx="146304" cy="146304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864864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606070"/>
                </a:solidFill>
                <a:latin typeface="Segoe UI"/>
              </a:rPr>
              <a:t>ref bo'lmasa, metod faqat a va b NUSXALARINI almashtirardi -- chaqirgan joydagi asl qiymatlar o'zgarmay qolardi.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Dasturlash 1 | 6-Amaliy mashg'ulot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0BCD4"/>
                </a:solidFill>
                <a:latin typeface="Segoe UI"/>
              </a:rPr>
              <a:t>DIQQAT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20624"/>
            <a:ext cx="11155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Amaliyotda ko'p uchraydigan xatolar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088136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ref/out parametrlarini chaqirishda kalit so'zni yozishni unutish — ular METOD E'LONIDA ham, CHAQIRISHDA ham yozilishi SHART.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Rekursiv metodda BAZA HOLATINI (masalan EKUB da b==0) yozishni unutish — cheksiz chaqiruvga olib keladi.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params parametrini oxirgi o'rinda yozmaslik yoki ikkinchi params qo'shishga urinish — bu mumkin emas.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char.IsUpper/IsLower/IsDigit larni harf bo'lmagan belgilar (bo'sh joy, belgilar) uchun ham tekshirmasdan qolib ketish.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Dasturlash 1 | 6-Amaliy mashg'ulot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0BCD4"/>
                </a:solidFill>
                <a:latin typeface="Segoe UI"/>
              </a:rPr>
              <a:t>YAKUNIY UYGA VAZIFA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20624"/>
            <a:ext cx="11155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Mustaqil bajarish uchun topshiriq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088136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"Parol tekshiruvchi"ga maxsus belgi (!@#$%) borligini tekshirishni ham qo'shing.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Faktorialni HAM rekursiv, HAM iterativ usulda yozib, natijalarini solishtiring (2-mashqdagi EKUB namunasiga o'xshab).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"Modular kalkulyator"ga yana bitta metod qo'shing: params yordamida eng KATTA sonni topuvchi metod.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(Yakuniy, ixtiyoriy) Shu semestrda yozgan eng yoqqan loyihangizni birlashtirib, o'z "portfolio" konsol dasturingizni yarating!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367528"/>
            <a:ext cx="10881360" cy="896112"/>
          </a:xfrm>
          <a:prstGeom prst="roundRect">
            <a:avLst>
              <a:gd name="adj" fmla="val 15000"/>
            </a:avLst>
          </a:prstGeom>
          <a:solidFill>
            <a:srgbClr val="FFF3D6"/>
          </a:solidFill>
          <a:ln w="12700">
            <a:solidFill>
              <a:srgbClr val="F57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36576" bIns="36576"/>
          <a:lstStyle/>
          <a:p>
            <a:pPr algn="ctr">
              <a:lnSpc>
                <a:spcPct val="110000"/>
              </a:lnSpc>
            </a:pPr>
            <a:r>
              <a:rPr sz="1400" i="1">
                <a:solidFill>
                  <a:srgbClr val="7A5400"/>
                </a:solidFill>
                <a:latin typeface="Segoe UI"/>
              </a:rPr>
              <a:t>💡 Tabriklaymiz — bu 1-semestrning OXIRGI amaliy mashg'ulot vazifasi! Barcha 6 ta amaliy va 6 ta ma'ruza mavzusini qayta ko'rib chiqishni unutmang.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Dasturlash 1 | 6-Amaliy mashg'ulot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0BCD4"/>
                </a:solidFill>
                <a:latin typeface="Segoe UI"/>
              </a:rPr>
              <a:t>XULOSA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20624"/>
            <a:ext cx="11155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Bugun va butun semestr davomida nimalarni o'rgandik?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088136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Belgi/satr funksiyalari, StringBuilder bilan matn tahlili va formatlash.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O'z metodlaringizni parametrlar, qaytariladigan qiymat, params, ref va out bilan yoza olasiz.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Rekursiya va iteratsiya orasidagi farqni va ularni qachon tanlashni bilasiz.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Dasturlash, amallar, shartlar, sikllar, massivlar, satrlar va metodlar — C# ning ASOSIY qurilish bloklarini egallab oldingiz!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Dasturlash 1 | 6-Amaliy mashg'ulot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698480" y="457200"/>
            <a:ext cx="1188720" cy="1188720"/>
          </a:xfrm>
          <a:prstGeom prst="ellipse">
            <a:avLst/>
          </a:prstGeom>
          <a:solidFill>
            <a:srgbClr val="683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65760" y="5852160"/>
            <a:ext cx="822960" cy="822960"/>
          </a:xfrm>
          <a:prstGeom prst="ellipse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194560"/>
            <a:ext cx="105156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FFFFFF"/>
                </a:solidFill>
                <a:latin typeface="Segoe UI"/>
              </a:rPr>
              <a:t>Tabriklaymiz! Semestr yakunlandi!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474720"/>
            <a:ext cx="1005840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700">
                <a:solidFill>
                  <a:srgbClr val="D8D8F0"/>
                </a:solidFill>
                <a:latin typeface="Segoe UI"/>
              </a:rPr>
              <a:t>•  📝 Worksheet'dagi barcha mashqlarni va YAKUNIY uyga vazifani bajarib qo'ying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700">
                <a:solidFill>
                  <a:srgbClr val="D8D8F0"/>
                </a:solidFill>
                <a:latin typeface="Segoe UI"/>
              </a:rPr>
              <a:t>•  🧠 So'nggi qisqa viktorina havolasi chatda beriladi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700">
                <a:solidFill>
                  <a:srgbClr val="D8D8F0"/>
                </a:solidFill>
                <a:latin typeface="Segoe UI"/>
              </a:rPr>
              <a:t>•  📅 Keyingi bosqich: 2-semestrda OOP, kolleksiyalar va yangi mavzular kutmoqda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700">
                <a:solidFill>
                  <a:srgbClr val="D8D8F0"/>
                </a:solidFill>
                <a:latin typeface="Segoe UI"/>
              </a:rPr>
              <a:t>•  🎯 Butun semestr davomidagi FAOL ishtirokingiz uchun katta rahmat!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
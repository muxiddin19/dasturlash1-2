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635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548640"/>
            <a:ext cx="1463040" cy="1463040"/>
          </a:xfrm>
          <a:prstGeom prst="ellipse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5394960"/>
            <a:ext cx="914400" cy="914400"/>
          </a:xfrm>
          <a:prstGeom prst="ellipse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5760720"/>
            <a:ext cx="731520" cy="731520"/>
          </a:xfrm>
          <a:prstGeom prst="ellipse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1887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0BCD4"/>
                </a:solidFill>
                <a:latin typeface="Segoe UI"/>
              </a:rPr>
              <a:t>DASTURLASH 1  •  DAS1110  •  AMALIY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FFFFFF"/>
                </a:solidFill>
                <a:latin typeface="Segoe UI"/>
              </a:rPr>
              <a:t>1-Amaliy: Birinchi C# loyihasi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D8D8F0"/>
                </a:solidFill>
                <a:latin typeface="Segoe UI"/>
              </a:rPr>
              <a:t>O'zgaruvchilar, ma'lumotlar turlari, konsolda kiritish-chiqarish.
Bugun ko'proq siz yozasiz -- men kamroq gapiraman!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5321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B8B8E0"/>
                </a:solidFill>
                <a:latin typeface="Segoe UI"/>
              </a:rPr>
              <a:t>O'zbekiston Milliy universiteti Jizzax filiali  |  Amaliy matematika fakulteti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978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B8B8E0"/>
                </a:solidFill>
                <a:latin typeface="Segoe UI"/>
              </a:rPr>
              <a:t>O'qituvchi: Toshpolatov Muxiddin, PhD, dotsent  |  2025/2026-o'quv yili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FORMAT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Amaliy mashg'ulot qanday o'tadi?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Bu — MA'RUZA emas: bugun men ozroq gapiraman, siz esa KO'PROQ KOD YOZASIZ.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Har bir mashqni avval BIRGA (live-coding) ko'rib chiqamiz, so'ng siz MUSTAQIL bajarasiz.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Ekraningizni ulashib turing yoki natijangiz skrinshotini chatga tashlang — men tekshirib, darhol fikr bildiraman.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Worksheet (ish varag'i) sizda alohida fayl sifatida bor — barcha mashqlar, maslahatlar va YECHIMLAR shu yerda.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Xato qilishdan qo'rqmang — bu yerda xato qilish va uni TUZATISH jarayonning eng foydali qismi!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1-Amaliy mashg'ulot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REJA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Bugungi mashg'ulot rejasi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Tezkor eslatma: loyiha yaratish va asosiy turlar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1-mashq: "Raqamli ID karta" generatori (birga)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2-mashq: "Kinoteatr chiptasi" generatori (mustaqil)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3-mashq (qo'shimcha): "O'zing haqingda profil" (ijodiy, ochiq)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Qisqa viktorina va uyga vazifa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1-Amaliy mashg'ulot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ESLATMA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Tezkor eslatma: kerak bo'ladigan bilimlar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1208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5212080" cy="548640"/>
          </a:xfrm>
          <a:prstGeom prst="roundRect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Visual Studio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46634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23232B"/>
                </a:solidFill>
                <a:latin typeface="Segoe UI"/>
              </a:rPr>
              <a:t>•  "Create a new project" -&gt; "Console App"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23232B"/>
                </a:solidFill>
                <a:latin typeface="Segoe UI"/>
              </a:rPr>
              <a:t>•  Loyihaga nom berish -&gt; "Create"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23232B"/>
                </a:solidFill>
                <a:latin typeface="Segoe UI"/>
              </a:rPr>
              <a:t>•  Program.cs avtomatik ochiladi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23232B"/>
                </a:solidFill>
                <a:latin typeface="Segoe UI"/>
              </a:rPr>
              <a:t>•  F5 yoki "Run" -- dasturni ishga tushirish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1208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1417320"/>
            <a:ext cx="5212080" cy="548640"/>
          </a:xfrm>
          <a:prstGeom prst="round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Asosiy turlar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48840"/>
            <a:ext cx="46634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23232B"/>
                </a:solidFill>
                <a:latin typeface="Segoe UI"/>
              </a:rPr>
              <a:t>•  int -- butun son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23232B"/>
                </a:solidFill>
                <a:latin typeface="Segoe UI"/>
              </a:rPr>
              <a:t>•  double -- kasr son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23232B"/>
                </a:solidFill>
                <a:latin typeface="Segoe UI"/>
              </a:rPr>
              <a:t>•  string -- matn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23232B"/>
                </a:solidFill>
                <a:latin typeface="Segoe UI"/>
              </a:rPr>
              <a:t>•  bool -- true/false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23232B"/>
                </a:solidFill>
                <a:latin typeface="Segoe UI"/>
              </a:rPr>
              <a:t>•  char -- bitta belgi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1-Amaliy mashg'ulot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1-MASHQ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"Raqamli ID karta" generatori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Vazifa: foydalanuvchidan ism, guruh va yoshini so'rab, chiroyli formatlangan "shaxsiy ID karta" chiqaruvchi dastur yozamiz.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Bu mashqda ishlatiladigan narsalar: string va int o'zgaruvchilar, Console.ReadLine(), Console.WriteLine(), string interpolation.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Buni BIRGA, qadam-baqadam yozamiz — worksheet'dagi 1-mashqni oching.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1-Amaliy mashg'ulot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1-MASHQ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Kutilgan natija (dastur shunday ishlashi kerak)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1814575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solidFill>
              <a:srgbClr val="3C3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411480" rIns="182880"/>
          <a:lstStyle/>
          <a:p>
            <a:pPr algn="ctr">
              <a:lnSpc>
                <a:spcPct val="122000"/>
              </a:lnSpc>
            </a:pPr>
            <a:r>
              <a:rPr sz="1600">
                <a:solidFill>
                  <a:srgbClr val="6A9955"/>
                </a:solidFill>
                <a:latin typeface="Consolas"/>
              </a:rPr>
              <a:t>// Dastur so'raydi: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Ismingizni kiriting: </a:t>
            </a:r>
            <a:r>
              <a:rPr sz="1600">
                <a:solidFill>
                  <a:srgbClr val="CE9178"/>
                </a:solidFill>
                <a:latin typeface="Consolas"/>
              </a:rPr>
              <a:t>Dilnoza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Guruhingizni kiriting: </a:t>
            </a:r>
            <a:r>
              <a:rPr sz="1600">
                <a:solidFill>
                  <a:srgbClr val="CE9178"/>
                </a:solidFill>
                <a:latin typeface="Consolas"/>
              </a:rPr>
              <a:t>861-26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Yoshingizni kiriting: </a:t>
            </a:r>
            <a:r>
              <a:rPr sz="1600">
                <a:solidFill>
                  <a:srgbClr val="CE9178"/>
                </a:solidFill>
                <a:latin typeface="Consolas"/>
              </a:rPr>
              <a:t>19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1554480"/>
            <a:ext cx="146304" cy="14630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8992" y="1554480"/>
            <a:ext cx="146304" cy="146304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35024" y="1554480"/>
            <a:ext cx="146304" cy="14630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3369055"/>
            <a:ext cx="10881360" cy="2048256"/>
          </a:xfrm>
          <a:prstGeom prst="roundRect">
            <a:avLst/>
          </a:prstGeom>
          <a:solidFill>
            <a:srgbClr val="F0F0F0"/>
          </a:solidFill>
          <a:ln>
            <a:solidFill>
              <a:srgbClr val="C0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73152"/>
          <a:lstStyle/>
          <a:p>
            <a:pPr algn="ctr"/>
            <a:r>
              <a:rPr b="1" sz="1200">
                <a:solidFill>
                  <a:srgbClr val="606070"/>
                </a:solidFill>
                <a:latin typeface="Segoe UI"/>
              </a:rPr>
              <a:t>► NATIJA (Console chiqishi):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================================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   RAQAMLI ID KARTA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================================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Ism:    Dilnoza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Guruh:  861-26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Yosh:   19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================================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527039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06070"/>
                </a:solidFill>
                <a:latin typeface="Segoe UI"/>
              </a:rPr>
              <a:t>Yuqoridagi so'rovlarga javob berilgach, pastdagi 'karta' konsolga chiqishi kerak.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1-Amaliy mashg'ulot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2-MASHQ (MUSTAQIL)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"Kinoteatr chiptasi" generatori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Endi SIZ mustaqil bajarasiz — worksheet'dagi 2-mashqqa o'ting.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Vazifa: kino nomi, tomoshabin yoshi va o'rindiq raqamini so'rab, "chipta" ko'rinishida chiqaring.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Maslahat: 1-mashqdagi kabi bosqichlarni takrorlang — faqat o'zgaruvchi nomlari va matnlar boshqacha bo'ladi.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15 daqiqa vaqtingiz bor — tayyor bo'lsangiz, natijangizni chatga tashlang!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367528"/>
            <a:ext cx="10881360" cy="896112"/>
          </a:xfrm>
          <a:prstGeom prst="roundRect">
            <a:avLst>
              <a:gd name="adj" fmla="val 15000"/>
            </a:avLst>
          </a:prstGeom>
          <a:solidFill>
            <a:srgbClr val="FFF3D6"/>
          </a:solidFill>
          <a:ln w="12700">
            <a:solidFill>
              <a:srgbClr val="F5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ctr">
              <a:lnSpc>
                <a:spcPct val="110000"/>
              </a:lnSpc>
            </a:pPr>
            <a:r>
              <a:rPr sz="1400" i="1">
                <a:solidFill>
                  <a:srgbClr val="7A5400"/>
                </a:solidFill>
                <a:latin typeface="Segoe UI"/>
              </a:rPr>
              <a:t>💡 Qiynalsangiz, worksheet oxiridagi YECHIM bo'limiga qarashdan tortinmang — lekin avval o'zingiz urinib ko'ring!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1-Amaliy mashg'ulot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3-MASHQ (QO'SHIMCHA)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"O'zing haqingda profil" — ijodiy mashq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Bu safar TO'LIQ ERKINSIZ: kamida 5 ta turli turdagi (string, int, double, bool, char) ma'lumotni so'rab, o'zingiz haqingizda ijodiy "profil karta" yarating.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Masalan: sevimli fan, sport bilan shug'ullanasizmi (bool), bo'yingiz (double), ism bosh harfi (char) va h.k.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Bu yerda TO'G'RI yoki NOTO'G'RI javob yo'q — qanchalik ijodiy va chiroyli formatlasangiz, shuncha yaxshi!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1-Amaliy mashg'ulot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DIQQAT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Amaliyotda ko'p uchraydigan xatolar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Console.ReadLine() HAR DOIM string qaytaradi — sonni int sifatida ishlatish uchun int.Parse(...) kerak bo'ladi (buni to'liq keyingi mashg'ulotda ko'ramiz, hozircha string sifatida ishlating).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O'zgaruvchi nomida bo'sh joy yoki raqam bilan boshlash — kompilyatsiya xatosi beradi.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Qo'sh tirnoqni ochib, yopishni unutish — "Salom  -- bu doim e'tiborsizlikdan kelib chiqadigan xato.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Katta-kichik harfni chalkashtirish:  console.readline()  emas,  Console.ReadLine()  (katta C va R, L bilan).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1-Amaliy mashg'ulot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UYGA VAZIFA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Mustaqil bajarish uchun topshiriq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1-mashqdagi "ID karta"ga yana 2 ta maydon qo'shing (masalan: sevimli rang, telefon raqami).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"Uy hayvoni profili" nomli yangi dastur yozing: hayvon nomi, turi, yoshi va "uy hayvoni bormi?" (bool) so'rab, chiroyli chiqaring.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Tayyor loyihalaringizni keyingi mashg'ulotga olib keling — ba'zilaringizni ekranni ulashishga taklif qilaman!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678424"/>
            <a:ext cx="10881360" cy="585216"/>
          </a:xfrm>
          <a:prstGeom prst="roundRect">
            <a:avLst>
              <a:gd name="adj" fmla="val 15000"/>
            </a:avLst>
          </a:prstGeom>
          <a:solidFill>
            <a:srgbClr val="FFF3D6"/>
          </a:solidFill>
          <a:ln w="12700">
            <a:solidFill>
              <a:srgbClr val="F5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ctr">
              <a:lnSpc>
                <a:spcPct val="110000"/>
              </a:lnSpc>
            </a:pPr>
            <a:r>
              <a:rPr sz="1400" i="1">
                <a:solidFill>
                  <a:srgbClr val="7A5400"/>
                </a:solidFill>
                <a:latin typeface="Segoe UI"/>
              </a:rPr>
              <a:t>💡 Worksheet faylidagi to'liq topshiriq va namuna yechimlarni unutmang.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1-Amaliy mashg'ulot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XULOSA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Bugun nimani mustahkamladik?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Yangi Visual Studio konsol loyihasini mustaqil yarata olasiz.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Turli turdagi (string, int, double, bool, char) o'zgaruvchilarni e'lon qila olasiz.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Console.ReadLine() / Console.WriteLine() va string interpolation yordamida foydalanuvchi bilan "muloqot" qiluvchi dastur yoza olasiz.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Keyingi amaliy mashg'ulot: amallar (+, -, *, /, %), Convert/Parse/TryParse va Math sinfi bilan hisoblash dasturlari.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1-Amaliy mashg'ulot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98480" y="457200"/>
            <a:ext cx="1188720" cy="1188720"/>
          </a:xfrm>
          <a:prstGeom prst="ellipse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5852160"/>
            <a:ext cx="822960" cy="822960"/>
          </a:xfrm>
          <a:prstGeom prst="ellipse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Segoe UI"/>
              </a:rPr>
              <a:t>Ajoyib ish! Ko'rishguncha!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74720"/>
            <a:ext cx="100584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>
                <a:solidFill>
                  <a:srgbClr val="D8D8F0"/>
                </a:solidFill>
                <a:latin typeface="Segoe UI"/>
              </a:rPr>
              <a:t>•  📝 Worksheet'dagi barcha mashqlarni va uyga vazifani bajarib qo'ying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>
                <a:solidFill>
                  <a:srgbClr val="D8D8F0"/>
                </a:solidFill>
                <a:latin typeface="Segoe UI"/>
              </a:rPr>
              <a:t>•  🧠 Qisqa viktorina havolasi chatda beriladi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>
                <a:solidFill>
                  <a:srgbClr val="D8D8F0"/>
                </a:solidFill>
                <a:latin typeface="Segoe UI"/>
              </a:rPr>
              <a:t>•  📅 Keyingi amaliy: Amallar, Convert/Parse va Math sinfi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>
                <a:solidFill>
                  <a:srgbClr val="D8D8F0"/>
                </a:solidFill>
                <a:latin typeface="Segoe UI"/>
              </a:rPr>
              <a:t>•  🎯 Faol ishtirokingiz uchun rahmat!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
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635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548640"/>
            <a:ext cx="1463040" cy="146304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5394960"/>
            <a:ext cx="914400" cy="91440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5760720"/>
            <a:ext cx="731520" cy="73152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0BCD4"/>
                </a:solidFill>
                <a:latin typeface="Segoe UI"/>
              </a:rPr>
              <a:t>DASTURLASH 1  •  DAS1110  •  AMALIY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Segoe UI"/>
              </a:rPr>
              <a:t>3-Amaliy: Sikllar va Debugging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D8D8F0"/>
                </a:solidFill>
                <a:latin typeface="Segoe UI"/>
              </a:rPr>
              <a:t>for/while/do-while bilan qiziqarli o'yinlar yozamiz, so'ng Visual
Studio debugger yordamida xatolarni "ushlashni" o'rganamiz.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5321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B8B8E0"/>
                </a:solidFill>
                <a:latin typeface="Segoe UI"/>
              </a:rPr>
              <a:t>O'zbekiston Milliy universiteti Jizzax filiali  |  Amaliy matematika fakulteti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97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B8B8E0"/>
                </a:solidFill>
                <a:latin typeface="Segoe UI"/>
              </a:rPr>
              <a:t>O'qituvchi: Toshpolatov Muxiddin, PhD, dotsent  |  2025/2026-o'quv yili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REJA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Bugungi mashg'ulot rejasi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1-mashq: "Son taxmin qilish o'yini" (birga, while sikli)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2-mashq: "Ko'paytirish jadvali" (mustaqil, ichma-ich for)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3-mashq: Debugging -- buzilgan dasturni TUZATISH (yangi ko'nikma!)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Qisqa viktorina va uyga vazifa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3-Amaliy mashg'ulot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1-MASHQ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"Son taxmin qilish o'yini" (birga bajaramiz)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Dastur 1 dan 100 gacha tasodifiy son o'ylab qo'yadi. Siz taxmin qilasiz, dastur "Katta!" yoki "Kichik!" deb javob beradi, to'g'ri topguncha davom etadi.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Ishlatiladigan narsalar: Random klassi, while sikli, if-else, int.Parse.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Bu klassik "loop until correct" naqshi — ko'plab real dasturlarda ishlatiladi!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3-Amaliy mashg'ulot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1-MASHQ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Kutilgan natija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1814575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411480" rIns="182880"/>
          <a:lstStyle/>
          <a:p>
            <a:pPr algn="ctr">
              <a:lnSpc>
                <a:spcPct val="122000"/>
              </a:lnSpc>
            </a:pPr>
            <a:r>
              <a:rPr sz="1600">
                <a:solidFill>
                  <a:srgbClr val="6A9955"/>
                </a:solidFill>
                <a:latin typeface="Consolas"/>
              </a:rPr>
              <a:t>// Dastur ichida tasodifiy son: masalan 42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Taxminingiz: </a:t>
            </a:r>
            <a:r>
              <a:rPr sz="1600">
                <a:solidFill>
                  <a:srgbClr val="CE9178"/>
                </a:solidFill>
                <a:latin typeface="Consolas"/>
              </a:rPr>
              <a:t>50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Taxminingiz: </a:t>
            </a:r>
            <a:r>
              <a:rPr sz="1600">
                <a:solidFill>
                  <a:srgbClr val="CE9178"/>
                </a:solidFill>
                <a:latin typeface="Consolas"/>
              </a:rPr>
              <a:t>25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Taxminingiz: </a:t>
            </a:r>
            <a:r>
              <a:rPr sz="1600">
                <a:solidFill>
                  <a:srgbClr val="CE9178"/>
                </a:solidFill>
                <a:latin typeface="Consolas"/>
              </a:rPr>
              <a:t>42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554480"/>
            <a:ext cx="146304" cy="14630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" y="1554480"/>
            <a:ext cx="146304" cy="146304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35024" y="1554480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369055"/>
            <a:ext cx="10881360" cy="1097280"/>
          </a:xfrm>
          <a:prstGeom prst="roundRect">
            <a:avLst/>
          </a:prstGeom>
          <a:solidFill>
            <a:srgbClr val="F0F0F0"/>
          </a:solidFill>
          <a:ln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73152"/>
          <a:lstStyle/>
          <a:p>
            <a:pPr algn="ctr"/>
            <a:r>
              <a:rPr b="1" sz="1200">
                <a:solidFill>
                  <a:srgbClr val="606070"/>
                </a:solidFill>
                <a:latin typeface="Segoe UI"/>
              </a:rPr>
              <a:t>► NATIJA (Console chiqishi):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Kichikroq o'ylang!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Kattaroq o'ylang!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TABRIKLAYMIZ! 3 ta urinishda topdingiz!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76063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06070"/>
                </a:solidFill>
                <a:latin typeface="Segoe UI"/>
              </a:rPr>
              <a:t>Har bir noto'g'ri taxmindan keyin "Katta/Kichik" maslahati, to'g'ri topilganda tabrik va urinishlar soni chiqadi.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3-Amaliy mashg'ulot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2-MASHQ (MUSTAQIL)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"Ko'paytirish jadvali" generatori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Vazifa: foydalanuvchidan son so'rab, o'sha sonning 1 dan 10 gacha ko'paytirish jadvalini chiqaring.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Maslahat: bitta tashqi for (yoki shunchaki bitta for, chunki faqat bitta son uchun) yetarli bo'ladi.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QO'SHIMCHA (qiyinroq): 1 dan 10 gacha BARCHA sonlarning to'liq 10x10 jadvalini chiqaring — bu safar ICHMA-ICH (nested) for kerak bo'ladi!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3-Amaliy mashg'ulot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III-BO'LIM: YANGI KO'NIKMA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Visual Studio Debugger bilan tanishuv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Debugging — dasturdagi XATOLARNI (buglarni) TOPISH va TUZATISH jarayoni.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Breakpoint (to'xtash nuqtasi) — kod qatoriga qo'yiladigan "belgi"; dastur shu qatorga yetganda AVTOMATIK to'xtaydi.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F9 — breakpoint qo'yish/olib tashlash. F5 — dasturni debug rejimida ishga tushirish.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F10 (Step Over) — joriy qatorni bajarib, KEYINGI qatorga o'tish (metod ichiga kirmay).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F11 (Step Into) — agar joriy qator metod chaqirsa, O'SHA METOD ICHIGA kirib, qadam-baqadam kuzatish.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Watch oynasi — tanlangan o'zgaruvchi qiymatini HAR QADAMDA kuzatib borish imkonini beradi.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3-Amaliy mashg'ulot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DEBUGGING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Breakpoint qo'yish va kuzatish — qadamlar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508760"/>
            <a:ext cx="548640" cy="54864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1E1B4B"/>
                </a:solidFill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08760" y="1508760"/>
            <a:ext cx="100126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0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600">
                <a:solidFill>
                  <a:srgbClr val="23232B"/>
                </a:solidFill>
                <a:latin typeface="Segoe UI"/>
              </a:rPr>
              <a:t>Shubhali qator chap tomonidagi bo'sh joyga bosing (qizil nuqta paydo bo'ladi) yoki F9 bosing.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441448"/>
            <a:ext cx="548640" cy="54864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1E1B4B"/>
                </a:solidFill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08760" y="2441448"/>
            <a:ext cx="100126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0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600">
                <a:solidFill>
                  <a:srgbClr val="23232B"/>
                </a:solidFill>
                <a:latin typeface="Segoe UI"/>
              </a:rPr>
              <a:t>F5 bosib, dasturni debug rejimida ishga tushiring.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374136"/>
            <a:ext cx="548640" cy="54864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1E1B4B"/>
                </a:solidFill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08760" y="3374136"/>
            <a:ext cx="100126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0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600">
                <a:solidFill>
                  <a:srgbClr val="23232B"/>
                </a:solidFill>
                <a:latin typeface="Segoe UI"/>
              </a:rPr>
              <a:t>Dastur breakpoint'ga yetganda to'xtaydi — "Locals" oynasida barcha o'zgaruvchilar qiymatini ko'rasiz.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306824"/>
            <a:ext cx="548640" cy="54864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1E1B4B"/>
                </a:solidFill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08760" y="4306824"/>
            <a:ext cx="100126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0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600">
                <a:solidFill>
                  <a:srgbClr val="23232B"/>
                </a:solidFill>
                <a:latin typeface="Segoe UI"/>
              </a:rPr>
              <a:t>F10 (Step Over) bilan qatorma-qator oldinga siljing va o'zgaruvchilar qanday o'zgarishini kuzating.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5239512"/>
            <a:ext cx="548640" cy="54864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1E1B4B"/>
                </a:solidFill>
              </a:rP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08760" y="5239512"/>
            <a:ext cx="100126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0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600">
                <a:solidFill>
                  <a:srgbClr val="23232B"/>
                </a:solidFill>
                <a:latin typeface="Segoe UI"/>
              </a:rPr>
              <a:t>Xatoni topgach, F5 (Continue) yoki Shift+F5 (to'xtatish) bosing.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3-Amaliy mashg'ulot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3-MASHQ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Debugging mashqi: buzilgan dasturni toping!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Worksheet'da "buzilgan" kod berilgan — u CHEKSIZ SIKLGA tushib qoladi (hech qachon to'xtamaydi).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Vazifa: breakpoint qo'yib, F10 bilan qadam-baqadam kuzatib, nima uchun sikl shart hech qachon FALSE bo'lmayotganini aniqlang.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Xatoni topgach, BITTA qatorni o'zgartirib, dasturni tuzating.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367528"/>
            <a:ext cx="10881360" cy="896112"/>
          </a:xfrm>
          <a:prstGeom prst="roundRect">
            <a:avLst>
              <a:gd name="adj" fmla="val 15000"/>
            </a:avLst>
          </a:prstGeom>
          <a:solidFill>
            <a:srgbClr val="FFF3D6"/>
          </a:solidFill>
          <a:ln w="1270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ctr">
              <a:lnSpc>
                <a:spcPct val="110000"/>
              </a:lnSpc>
            </a:pPr>
            <a:r>
              <a:rPr sz="1400" i="1">
                <a:solidFill>
                  <a:srgbClr val="7A5400"/>
                </a:solidFill>
                <a:latin typeface="Segoe UI"/>
              </a:rPr>
              <a:t>💡 Agar dastur "qotib qolsa", qizil kvadrat (Stop) tugmasini bosib to'xtating — bu normal holat, debugging shunday o'rganiladi!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3-Amaliy mashg'ulot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DIQQAT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Amaliyotda ko'p uchraydigan xatolar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while sikli ichida hisoblagichni (masalan i++) oshirishni unutish — cheksiz siklga olib keladi.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Random obyektini sikl ICHIDA qayta-qayta yaratish — bir xil "tasodifiy" sonlar chiqishiga sabab bo'ladi (Random'ni siklDAN TASHQARIDA, bir marta yarating).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Ichma-ich for sikllarida ikkala sikl uchun BIR XIL o'zgaruvchi nomini (masalan ikkalasida ham i) ishlatish — chalkashlikka olib keladi, tashqisi uchun i, ichkisi uchun j ishlating.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3-Amaliy mashg'ulot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UYGA VAZIFA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Mustaqil bajarish uchun topshiriq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"Son taxmin qilish o'yini"ga urinishlar sonini cheklang: agar 7 marta ichida topa olmasa, "Ishdan chiqdingiz!" deb dastur tugasin.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for sikli yordamida 1 dan 50 gacha bo'lgan 3 ga BO'LINADIGAN sonlarni chiqaring.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(Qo'shimcha) Oddiy "yulduzcha piramida" chiqaruvchi dastur yozing (ichma-ich for yordamida):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3-Amaliy mashg'ulot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UYGA VAZIFA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Qo'shimcha: "yulduzcha piramida" namunasi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1814575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411480" rIns="182880"/>
          <a:lstStyle/>
          <a:p>
            <a:pPr algn="ctr"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for</a:t>
            </a:r>
            <a:r>
              <a:rPr sz="1600">
                <a:solidFill>
                  <a:srgbClr val="D4D4D4"/>
                </a:solidFill>
                <a:latin typeface="Consolas"/>
              </a:rPr>
              <a:t> (</a:t>
            </a:r>
            <a:r>
              <a:rPr sz="1600">
                <a:solidFill>
                  <a:srgbClr val="569CD6"/>
                </a:solidFill>
                <a:latin typeface="Consolas"/>
              </a:rPr>
              <a:t>int</a:t>
            </a:r>
            <a:r>
              <a:rPr sz="1600">
                <a:solidFill>
                  <a:srgbClr val="D4D4D4"/>
                </a:solidFill>
                <a:latin typeface="Consolas"/>
              </a:rPr>
              <a:t> i</a:t>
            </a:r>
            <a:r>
              <a:rPr sz="1600">
                <a:solidFill>
                  <a:srgbClr val="D4D4D4"/>
                </a:solidFill>
                <a:latin typeface="Consolas"/>
              </a:rPr>
              <a:t> = </a:t>
            </a:r>
            <a:r>
              <a:rPr sz="1600">
                <a:solidFill>
                  <a:srgbClr val="CE9178"/>
                </a:solidFill>
                <a:latin typeface="Consolas"/>
              </a:rPr>
              <a:t>1</a:t>
            </a:r>
            <a:r>
              <a:rPr sz="1600">
                <a:solidFill>
                  <a:srgbClr val="D4D4D4"/>
                </a:solidFill>
                <a:latin typeface="Consolas"/>
              </a:rPr>
              <a:t>; </a:t>
            </a:r>
            <a:r>
              <a:rPr sz="1600">
                <a:solidFill>
                  <a:srgbClr val="D4D4D4"/>
                </a:solidFill>
                <a:latin typeface="Consolas"/>
              </a:rPr>
              <a:t>i</a:t>
            </a:r>
            <a:r>
              <a:rPr sz="1600">
                <a:solidFill>
                  <a:srgbClr val="D4D4D4"/>
                </a:solidFill>
                <a:latin typeface="Consolas"/>
              </a:rPr>
              <a:t> &lt;= </a:t>
            </a:r>
            <a:r>
              <a:rPr sz="1600">
                <a:solidFill>
                  <a:srgbClr val="CE9178"/>
                </a:solidFill>
                <a:latin typeface="Consolas"/>
              </a:rPr>
              <a:t>4</a:t>
            </a:r>
            <a:r>
              <a:rPr sz="1600">
                <a:solidFill>
                  <a:srgbClr val="D4D4D4"/>
                </a:solidFill>
                <a:latin typeface="Consolas"/>
              </a:rPr>
              <a:t>; </a:t>
            </a:r>
            <a:r>
              <a:rPr sz="1600">
                <a:solidFill>
                  <a:srgbClr val="D4D4D4"/>
                </a:solidFill>
                <a:latin typeface="Consolas"/>
              </a:rPr>
              <a:t>i</a:t>
            </a:r>
            <a:r>
              <a:rPr sz="1600">
                <a:solidFill>
                  <a:srgbClr val="D4D4D4"/>
                </a:solidFill>
                <a:latin typeface="Consolas"/>
              </a:rPr>
              <a:t>++)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4EC9B0"/>
                </a:solidFill>
                <a:latin typeface="Consolas"/>
              </a:rPr>
              <a:t>Console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569CD6"/>
                </a:solidFill>
                <a:latin typeface="Consolas"/>
              </a:rPr>
              <a:t>new</a:t>
            </a:r>
            <a:r>
              <a:rPr sz="1600">
                <a:solidFill>
                  <a:srgbClr val="569CD6"/>
                </a:solidFill>
                <a:latin typeface="Consolas"/>
              </a:rPr>
              <a:t> string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'*'</a:t>
            </a:r>
            <a:r>
              <a:rPr sz="1600">
                <a:solidFill>
                  <a:srgbClr val="D4D4D4"/>
                </a:solidFill>
                <a:latin typeface="Consolas"/>
              </a:rPr>
              <a:t>, </a:t>
            </a:r>
            <a:r>
              <a:rPr sz="1600">
                <a:solidFill>
                  <a:srgbClr val="D4D4D4"/>
                </a:solidFill>
                <a:latin typeface="Consolas"/>
              </a:rPr>
              <a:t>i</a:t>
            </a:r>
            <a:r>
              <a:rPr sz="1600">
                <a:solidFill>
                  <a:srgbClr val="D4D4D4"/>
                </a:solidFill>
                <a:latin typeface="Consolas"/>
              </a:rPr>
              <a:t>));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554480"/>
            <a:ext cx="146304" cy="14630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" y="1554480"/>
            <a:ext cx="146304" cy="146304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35024" y="1554480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369055"/>
            <a:ext cx="10881360" cy="1335024"/>
          </a:xfrm>
          <a:prstGeom prst="roundRect">
            <a:avLst/>
          </a:prstGeom>
          <a:solidFill>
            <a:srgbClr val="F0F0F0"/>
          </a:solidFill>
          <a:ln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73152"/>
          <a:lstStyle/>
          <a:p>
            <a:pPr algn="ctr"/>
            <a:r>
              <a:rPr b="1" sz="1200">
                <a:solidFill>
                  <a:srgbClr val="606070"/>
                </a:solidFill>
                <a:latin typeface="Segoe UI"/>
              </a:rPr>
              <a:t>► NATIJA (Console chiqishi):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*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**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***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****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13807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06070"/>
                </a:solidFill>
                <a:latin typeface="Segoe UI"/>
              </a:rPr>
              <a:t>new string('*', i) -- '*' belgisini i marta takrorlab, yangi satr yaratadi.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3-Amaliy mashg'ulot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Bugun nimani mustahkamladik?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while sikli bilan "shart bajarilguncha takrorlash" mantig'ini (o'yin) qo'llay olasiz.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Ichma-ich (nested) for sikllari bilan jadval/piramida kabi 2 o'lchamli naqshlarni chiqara olasiz.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Visual Studio debugger (breakpoint, Step Over/Into, Watch) yordamida dasturdagi xatoni topa olasiz.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Keyingi amaliy mashg'ulot: bir o'lchamli massivlar — qidirish, saralash, statistik hisoblash.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3-Amaliy mashg'ulot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457200"/>
            <a:ext cx="1188720" cy="118872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5852160"/>
            <a:ext cx="822960" cy="82296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Ajoyib ish! Ko'rishguncha!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10058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D8D8F0"/>
                </a:solidFill>
                <a:latin typeface="Segoe UI"/>
              </a:rPr>
              <a:t>•  📝 Worksheet'dagi barcha mashqlarni va uyga vazifani bajarib qo'ying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D8D8F0"/>
                </a:solidFill>
                <a:latin typeface="Segoe UI"/>
              </a:rPr>
              <a:t>•  🧠 Qisqa viktorina havolasi chatda beriladi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D8D8F0"/>
                </a:solidFill>
                <a:latin typeface="Segoe UI"/>
              </a:rPr>
              <a:t>•  📅 Keyingi amaliy: Bir o'lchamli massivlar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D8D8F0"/>
                </a:solidFill>
                <a:latin typeface="Segoe UI"/>
              </a:rPr>
              <a:t>•  🎯 Faol ishtirokingiz uchun rahmat!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